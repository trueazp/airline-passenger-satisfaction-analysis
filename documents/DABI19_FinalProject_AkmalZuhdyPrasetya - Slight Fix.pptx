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30"/>
  </p:notesMasterIdLst>
  <p:sldIdLst>
    <p:sldId id="256" r:id="rId2"/>
    <p:sldId id="330" r:id="rId3"/>
    <p:sldId id="261" r:id="rId4"/>
    <p:sldId id="315" r:id="rId5"/>
    <p:sldId id="316" r:id="rId6"/>
    <p:sldId id="270" r:id="rId7"/>
    <p:sldId id="259" r:id="rId8"/>
    <p:sldId id="268" r:id="rId9"/>
    <p:sldId id="265" r:id="rId10"/>
    <p:sldId id="288" r:id="rId11"/>
    <p:sldId id="267" r:id="rId12"/>
    <p:sldId id="280" r:id="rId13"/>
    <p:sldId id="275" r:id="rId14"/>
    <p:sldId id="269" r:id="rId15"/>
    <p:sldId id="317" r:id="rId16"/>
    <p:sldId id="318" r:id="rId17"/>
    <p:sldId id="319" r:id="rId18"/>
    <p:sldId id="320" r:id="rId19"/>
    <p:sldId id="322" r:id="rId20"/>
    <p:sldId id="281" r:id="rId21"/>
    <p:sldId id="323" r:id="rId22"/>
    <p:sldId id="324" r:id="rId23"/>
    <p:sldId id="286" r:id="rId24"/>
    <p:sldId id="325" r:id="rId25"/>
    <p:sldId id="327" r:id="rId26"/>
    <p:sldId id="328" r:id="rId27"/>
    <p:sldId id="329" r:id="rId28"/>
    <p:sldId id="314" r:id="rId29"/>
  </p:sldIdLst>
  <p:sldSz cx="9144000" cy="5143500" type="screen16x9"/>
  <p:notesSz cx="6858000" cy="9144000"/>
  <p:embeddedFontLst>
    <p:embeddedFont>
      <p:font typeface="Manrope" panose="020B0604020202020204" charset="0"/>
      <p:regular r:id="rId31"/>
      <p:bold r:id="rId32"/>
    </p:embeddedFont>
    <p:embeddedFont>
      <p:font typeface="Source Sans Pro" panose="020B0503030403020204" pitchFamily="34" charset="0"/>
      <p:regular r:id="rId33"/>
      <p:bold r:id="rId34"/>
      <p:italic r:id="rId35"/>
      <p:boldItalic r:id="rId36"/>
    </p:embeddedFont>
    <p:embeddedFont>
      <p:font typeface="Staatliches" pitchFamily="2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304366-09AB-4B72-8AE6-F940AF52B09B}">
  <a:tblStyle styleId="{C0304366-09AB-4B72-8AE6-F940AF52B0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7927" autoAdjust="0"/>
  </p:normalViewPr>
  <p:slideViewPr>
    <p:cSldViewPr snapToGrid="0">
      <p:cViewPr varScale="1">
        <p:scale>
          <a:sx n="154" d="100"/>
          <a:sy n="154" d="100"/>
        </p:scale>
        <p:origin x="28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1b32e5a25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1b32e5a25b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b32e5a25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1b32e5a25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f3ed943d1e_0_27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f3ed943d1e_0_27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f3ed943d1e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f3ed943d1e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f3ed943d1e_0_278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f3ed943d1e_0_278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f3ed943d1e_0_27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f3ed943d1e_0_27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f3ed943d1e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f3ed943d1e_1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3ed943d1e_0_27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f3ed943d1e_0_27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f3ed943d1e_1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f3ed943d1e_1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255640edae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255640edae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f3ed943d1e_1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f3ed943d1e_1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f3ed943d1e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f3ed943d1e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f3ed943d1e_0_27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f3ed943d1e_0_27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f3ed943d1e_0_27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f3ed943d1e_0_27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677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f3ed943d1e_0_27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f3ed943d1e_0_27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98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f3ed943d1e_0_27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f3ed943d1e_0_27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444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f3ed943d1e_0_27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f3ed943d1e_0_27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456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f3ed943d1e_0_27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f3ed943d1e_0_27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1293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f3ed943d1e_1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f3ed943d1e_1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f3ed943d1e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f3ed943d1e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82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f3ed943d1e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f3ed943d1e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6984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f3ed943d1e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f3ed943d1e_1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f3ed943d1e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f3ed943d1e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479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f3ed943d1e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f3ed943d1e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8470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f3ed943d1e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f3ed943d1e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22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f3ed943d1e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f3ed943d1e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055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1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2177150"/>
            <a:ext cx="5728200" cy="197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5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100" y="4218898"/>
            <a:ext cx="4514100" cy="3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100" y="1360800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100" y="543301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100" y="2208500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787791" y="1834025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2"/>
          </p:nvPr>
        </p:nvSpPr>
        <p:spPr>
          <a:xfrm>
            <a:off x="787791" y="2227625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 hasCustomPrompt="1"/>
          </p:nvPr>
        </p:nvSpPr>
        <p:spPr>
          <a:xfrm>
            <a:off x="1357500" y="1404824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4"/>
          </p:nvPr>
        </p:nvSpPr>
        <p:spPr>
          <a:xfrm>
            <a:off x="3394791" y="1834025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3394791" y="2227625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 hasCustomPrompt="1"/>
          </p:nvPr>
        </p:nvSpPr>
        <p:spPr>
          <a:xfrm>
            <a:off x="3964500" y="1404824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7"/>
          </p:nvPr>
        </p:nvSpPr>
        <p:spPr>
          <a:xfrm>
            <a:off x="6001791" y="1834025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6001791" y="2227625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6571500" y="1404824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3"/>
          </p:nvPr>
        </p:nvSpPr>
        <p:spPr>
          <a:xfrm>
            <a:off x="787791" y="3516846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787791" y="3910446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1357500" y="3087688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6"/>
          </p:nvPr>
        </p:nvSpPr>
        <p:spPr>
          <a:xfrm>
            <a:off x="3394791" y="3516846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7"/>
          </p:nvPr>
        </p:nvSpPr>
        <p:spPr>
          <a:xfrm>
            <a:off x="3394791" y="3910446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8" hasCustomPrompt="1"/>
          </p:nvPr>
        </p:nvSpPr>
        <p:spPr>
          <a:xfrm>
            <a:off x="3964500" y="3087688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9"/>
          </p:nvPr>
        </p:nvSpPr>
        <p:spPr>
          <a:xfrm>
            <a:off x="6001791" y="3516846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20"/>
          </p:nvPr>
        </p:nvSpPr>
        <p:spPr>
          <a:xfrm>
            <a:off x="6001791" y="3910446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21" hasCustomPrompt="1"/>
          </p:nvPr>
        </p:nvSpPr>
        <p:spPr>
          <a:xfrm>
            <a:off x="6571500" y="3087688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713100" y="3351688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 idx="2" hasCustomPrompt="1"/>
          </p:nvPr>
        </p:nvSpPr>
        <p:spPr>
          <a:xfrm>
            <a:off x="713100" y="2534189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713100" y="4199388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BLANK_20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1592702" y="1356950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 idx="2" hasCustomPrompt="1"/>
          </p:nvPr>
        </p:nvSpPr>
        <p:spPr>
          <a:xfrm>
            <a:off x="3889202" y="539451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1"/>
          </p:nvPr>
        </p:nvSpPr>
        <p:spPr>
          <a:xfrm>
            <a:off x="2350652" y="2204650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BLANK_19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1592702" y="3355099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title" idx="2" hasCustomPrompt="1"/>
          </p:nvPr>
        </p:nvSpPr>
        <p:spPr>
          <a:xfrm>
            <a:off x="3889202" y="2537600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9" name="Google Shape;79;p18"/>
          <p:cNvSpPr txBox="1">
            <a:spLocks noGrp="1"/>
          </p:cNvSpPr>
          <p:nvPr>
            <p:ph type="subTitle" idx="1"/>
          </p:nvPr>
        </p:nvSpPr>
        <p:spPr>
          <a:xfrm>
            <a:off x="2350652" y="4202799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713100" y="1201112"/>
            <a:ext cx="378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ubTitle" idx="1"/>
          </p:nvPr>
        </p:nvSpPr>
        <p:spPr>
          <a:xfrm>
            <a:off x="713100" y="1841262"/>
            <a:ext cx="3425700" cy="21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2464800" y="3355099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 idx="2" hasCustomPrompt="1"/>
          </p:nvPr>
        </p:nvSpPr>
        <p:spPr>
          <a:xfrm>
            <a:off x="7057800" y="2537600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3980700" y="4202799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921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3578600" y="3299750"/>
            <a:ext cx="4850700" cy="13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508100" y="2521275"/>
            <a:ext cx="3921300" cy="6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600"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882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title" idx="2"/>
          </p:nvPr>
        </p:nvSpPr>
        <p:spPr>
          <a:xfrm>
            <a:off x="774079" y="3071843"/>
            <a:ext cx="1776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ubTitle" idx="1"/>
          </p:nvPr>
        </p:nvSpPr>
        <p:spPr>
          <a:xfrm>
            <a:off x="774079" y="3451163"/>
            <a:ext cx="177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title" idx="3"/>
          </p:nvPr>
        </p:nvSpPr>
        <p:spPr>
          <a:xfrm>
            <a:off x="2714080" y="3071843"/>
            <a:ext cx="1776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subTitle" idx="4"/>
          </p:nvPr>
        </p:nvSpPr>
        <p:spPr>
          <a:xfrm>
            <a:off x="2714080" y="3451163"/>
            <a:ext cx="177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title" idx="5"/>
          </p:nvPr>
        </p:nvSpPr>
        <p:spPr>
          <a:xfrm>
            <a:off x="4654074" y="3071843"/>
            <a:ext cx="1776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subTitle" idx="6"/>
          </p:nvPr>
        </p:nvSpPr>
        <p:spPr>
          <a:xfrm>
            <a:off x="4654074" y="3451163"/>
            <a:ext cx="177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title" idx="7"/>
          </p:nvPr>
        </p:nvSpPr>
        <p:spPr>
          <a:xfrm>
            <a:off x="6594075" y="3071843"/>
            <a:ext cx="1776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8"/>
          </p:nvPr>
        </p:nvSpPr>
        <p:spPr>
          <a:xfrm>
            <a:off x="6594075" y="3451163"/>
            <a:ext cx="177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292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ubTitle" idx="1"/>
          </p:nvPr>
        </p:nvSpPr>
        <p:spPr>
          <a:xfrm>
            <a:off x="1899701" y="1912950"/>
            <a:ext cx="1386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ubTitle" idx="2"/>
          </p:nvPr>
        </p:nvSpPr>
        <p:spPr>
          <a:xfrm>
            <a:off x="1080882" y="2306539"/>
            <a:ext cx="2205600" cy="7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ubTitle" idx="3"/>
          </p:nvPr>
        </p:nvSpPr>
        <p:spPr>
          <a:xfrm>
            <a:off x="5858551" y="3077875"/>
            <a:ext cx="1386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subTitle" idx="4"/>
          </p:nvPr>
        </p:nvSpPr>
        <p:spPr>
          <a:xfrm>
            <a:off x="5858557" y="3471475"/>
            <a:ext cx="2205600" cy="7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795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title" idx="2"/>
          </p:nvPr>
        </p:nvSpPr>
        <p:spPr>
          <a:xfrm>
            <a:off x="2272855" y="1366950"/>
            <a:ext cx="12648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ubTitle" idx="1"/>
          </p:nvPr>
        </p:nvSpPr>
        <p:spPr>
          <a:xfrm>
            <a:off x="2272855" y="1731038"/>
            <a:ext cx="1927800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title" idx="3"/>
          </p:nvPr>
        </p:nvSpPr>
        <p:spPr>
          <a:xfrm>
            <a:off x="5896955" y="3588081"/>
            <a:ext cx="12648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ubTitle" idx="4"/>
          </p:nvPr>
        </p:nvSpPr>
        <p:spPr>
          <a:xfrm>
            <a:off x="5896955" y="3952739"/>
            <a:ext cx="1927800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title" idx="5"/>
          </p:nvPr>
        </p:nvSpPr>
        <p:spPr>
          <a:xfrm>
            <a:off x="5896955" y="1366950"/>
            <a:ext cx="12648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ubTitle" idx="6"/>
          </p:nvPr>
        </p:nvSpPr>
        <p:spPr>
          <a:xfrm>
            <a:off x="5896955" y="1731038"/>
            <a:ext cx="1927800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title" idx="7"/>
          </p:nvPr>
        </p:nvSpPr>
        <p:spPr>
          <a:xfrm>
            <a:off x="2272855" y="2477515"/>
            <a:ext cx="12648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subTitle" idx="8"/>
          </p:nvPr>
        </p:nvSpPr>
        <p:spPr>
          <a:xfrm>
            <a:off x="2272855" y="2841888"/>
            <a:ext cx="1927800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6"/>
          <p:cNvSpPr txBox="1">
            <a:spLocks noGrp="1"/>
          </p:cNvSpPr>
          <p:nvPr>
            <p:ph type="title" idx="9"/>
          </p:nvPr>
        </p:nvSpPr>
        <p:spPr>
          <a:xfrm>
            <a:off x="2272855" y="3588080"/>
            <a:ext cx="12648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subTitle" idx="13"/>
          </p:nvPr>
        </p:nvSpPr>
        <p:spPr>
          <a:xfrm>
            <a:off x="2272855" y="3952739"/>
            <a:ext cx="1927800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title" idx="14"/>
          </p:nvPr>
        </p:nvSpPr>
        <p:spPr>
          <a:xfrm>
            <a:off x="5896955" y="2477515"/>
            <a:ext cx="12648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subTitle" idx="15"/>
          </p:nvPr>
        </p:nvSpPr>
        <p:spPr>
          <a:xfrm>
            <a:off x="5896955" y="2841888"/>
            <a:ext cx="1927800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09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2464800" y="1356899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  <a:highlight>
                  <a:schemeClr val="dk2"/>
                </a:highlight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 idx="2" hasCustomPrompt="1"/>
          </p:nvPr>
        </p:nvSpPr>
        <p:spPr>
          <a:xfrm>
            <a:off x="7057800" y="539400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65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1"/>
          </p:nvPr>
        </p:nvSpPr>
        <p:spPr>
          <a:xfrm>
            <a:off x="3980700" y="2204599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940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908301" y="3026892"/>
            <a:ext cx="220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2"/>
          </p:nvPr>
        </p:nvSpPr>
        <p:spPr>
          <a:xfrm>
            <a:off x="908301" y="3420492"/>
            <a:ext cx="2205600" cy="8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subTitle" idx="3"/>
          </p:nvPr>
        </p:nvSpPr>
        <p:spPr>
          <a:xfrm>
            <a:off x="3469926" y="3026892"/>
            <a:ext cx="220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ubTitle" idx="4"/>
          </p:nvPr>
        </p:nvSpPr>
        <p:spPr>
          <a:xfrm>
            <a:off x="3469926" y="3420492"/>
            <a:ext cx="2205600" cy="8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ubTitle" idx="5"/>
          </p:nvPr>
        </p:nvSpPr>
        <p:spPr>
          <a:xfrm>
            <a:off x="6031551" y="3026892"/>
            <a:ext cx="220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ubTitle" idx="6"/>
          </p:nvPr>
        </p:nvSpPr>
        <p:spPr>
          <a:xfrm>
            <a:off x="6031551" y="3420492"/>
            <a:ext cx="2205600" cy="8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10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4489100" y="1622525"/>
            <a:ext cx="40203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subTitle" idx="1"/>
          </p:nvPr>
        </p:nvSpPr>
        <p:spPr>
          <a:xfrm>
            <a:off x="4489095" y="2691754"/>
            <a:ext cx="3425700" cy="8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313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"/>
              <a:buNone/>
              <a:defRPr sz="3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●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○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Char char="■"/>
              <a:defRPr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8" r:id="rId4"/>
    <p:sldLayoutId id="2147483659" r:id="rId5"/>
    <p:sldLayoutId id="2147483661" r:id="rId6"/>
    <p:sldLayoutId id="2147483663" r:id="rId7"/>
    <p:sldLayoutId id="2147483664" r:id="rId8"/>
    <p:sldLayoutId id="2147483674" r:id="rId9"/>
    <p:sldLayoutId id="2147483678" r:id="rId10"/>
    <p:sldLayoutId id="2147483679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pWvGX6C-7MrX8m2CIscQwU-8bYdv676s/view?usp=drive_link" TargetMode="External"/><Relationship Id="rId5" Type="http://schemas.openxmlformats.org/officeDocument/2006/relationships/hyperlink" Target="https://colab.research.google.com/drive/1KSbCiJCHduz5fPVtRkUlKs5eWVUs1RFa?usp=sharing" TargetMode="External"/><Relationship Id="rId4" Type="http://schemas.openxmlformats.org/officeDocument/2006/relationships/hyperlink" Target="https://drive.google.com/file/d/1Suokkpf8N2FVd9tjWtvZdsnGUje7GmYX/view?usp=drive_lin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>
            <a:spLocks noGrp="1"/>
          </p:cNvSpPr>
          <p:nvPr>
            <p:ph type="ctrTitle"/>
          </p:nvPr>
        </p:nvSpPr>
        <p:spPr>
          <a:xfrm>
            <a:off x="151397" y="1844047"/>
            <a:ext cx="5728200" cy="16829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Passenger Satisfaction Analysis</a:t>
            </a:r>
            <a:endParaRPr sz="4400"/>
          </a:p>
        </p:txBody>
      </p:sp>
      <p:sp>
        <p:nvSpPr>
          <p:cNvPr id="182" name="Google Shape;182;p37"/>
          <p:cNvSpPr txBox="1">
            <a:spLocks noGrp="1"/>
          </p:cNvSpPr>
          <p:nvPr>
            <p:ph type="subTitle" idx="1"/>
          </p:nvPr>
        </p:nvSpPr>
        <p:spPr>
          <a:xfrm>
            <a:off x="151397" y="3526971"/>
            <a:ext cx="6739260" cy="7253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>
                <a:effectLst/>
                <a:latin typeface="Arial" panose="020B0604020202020204" pitchFamily="34" charset="0"/>
              </a:rPr>
              <a:t>Passenger Satisfaction Analysis to Identify Service Improvement Priorities in the Airline Industry</a:t>
            </a:r>
            <a:endParaRPr/>
          </a:p>
        </p:txBody>
      </p:sp>
      <p:pic>
        <p:nvPicPr>
          <p:cNvPr id="183" name="Google Shape;183;p37"/>
          <p:cNvPicPr preferRelativeResize="0"/>
          <p:nvPr/>
        </p:nvPicPr>
        <p:blipFill rotWithShape="1">
          <a:blip r:embed="rId3">
            <a:alphaModFix/>
          </a:blip>
          <a:srcRect l="3175" t="16283" r="2056" b="18216"/>
          <a:stretch/>
        </p:blipFill>
        <p:spPr>
          <a:xfrm rot="379241">
            <a:off x="2257102" y="366365"/>
            <a:ext cx="7105123" cy="259856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Google Shape;182;p37">
            <a:extLst>
              <a:ext uri="{FF2B5EF4-FFF2-40B4-BE49-F238E27FC236}">
                <a16:creationId xmlns:a16="http://schemas.microsoft.com/office/drawing/2014/main" id="{CA0C8D89-B414-6559-E062-4066649ED2F0}"/>
              </a:ext>
            </a:extLst>
          </p:cNvPr>
          <p:cNvSpPr txBox="1">
            <a:spLocks/>
          </p:cNvSpPr>
          <p:nvPr/>
        </p:nvSpPr>
        <p:spPr>
          <a:xfrm>
            <a:off x="151397" y="4586235"/>
            <a:ext cx="4420603" cy="44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r>
              <a:rPr lang="en-US" sz="1000">
                <a:latin typeface="Arial" panose="020B0604020202020204" pitchFamily="34" charset="0"/>
              </a:rPr>
              <a:t>By Akmal Zuhdy Prasetya</a:t>
            </a:r>
          </a:p>
          <a:p>
            <a:pPr marL="0" indent="0"/>
            <a:r>
              <a:rPr lang="en-US" sz="1000">
                <a:latin typeface="Arial" panose="020B0604020202020204" pitchFamily="34" charset="0"/>
              </a:rPr>
              <a:t>Bootcamp Data Analytics &amp; Business Intelligence Batch 19+</a:t>
            </a:r>
            <a:endParaRPr lang="en-US" sz="1000"/>
          </a:p>
        </p:txBody>
      </p:sp>
      <p:sp>
        <p:nvSpPr>
          <p:cNvPr id="3" name="Google Shape;182;p37">
            <a:extLst>
              <a:ext uri="{FF2B5EF4-FFF2-40B4-BE49-F238E27FC236}">
                <a16:creationId xmlns:a16="http://schemas.microsoft.com/office/drawing/2014/main" id="{4B3582C3-0D73-E49F-FBAA-73AD133A3325}"/>
              </a:ext>
            </a:extLst>
          </p:cNvPr>
          <p:cNvSpPr txBox="1">
            <a:spLocks/>
          </p:cNvSpPr>
          <p:nvPr/>
        </p:nvSpPr>
        <p:spPr>
          <a:xfrm>
            <a:off x="4572000" y="4589501"/>
            <a:ext cx="4420603" cy="44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r"/>
            <a:r>
              <a:rPr lang="en-US" sz="1000">
                <a:latin typeface="Arial" panose="020B0604020202020204" pitchFamily="34" charset="0"/>
              </a:rPr>
              <a:t>dibimbing.id</a:t>
            </a:r>
          </a:p>
          <a:p>
            <a:pPr marL="0" indent="0" algn="r"/>
            <a:r>
              <a:rPr lang="en-US" sz="1000">
                <a:latin typeface="Arial" panose="020B0604020202020204" pitchFamily="34" charset="0"/>
              </a:rPr>
              <a:t>April, 2026</a:t>
            </a:r>
            <a:endParaRPr lang="en-US" sz="1000"/>
          </a:p>
        </p:txBody>
      </p:sp>
      <p:sp>
        <p:nvSpPr>
          <p:cNvPr id="4" name="Google Shape;182;p37">
            <a:extLst>
              <a:ext uri="{FF2B5EF4-FFF2-40B4-BE49-F238E27FC236}">
                <a16:creationId xmlns:a16="http://schemas.microsoft.com/office/drawing/2014/main" id="{59D0629F-F0B5-7990-9F8E-264B83CED994}"/>
              </a:ext>
            </a:extLst>
          </p:cNvPr>
          <p:cNvSpPr txBox="1">
            <a:spLocks/>
          </p:cNvSpPr>
          <p:nvPr/>
        </p:nvSpPr>
        <p:spPr>
          <a:xfrm>
            <a:off x="4571999" y="4144663"/>
            <a:ext cx="4420603" cy="44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Pro"/>
              <a:buNone/>
              <a:defRPr sz="2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r"/>
            <a:r>
              <a:rPr lang="en-US" sz="1000">
                <a:latin typeface="Arial" panose="020B0604020202020204" pitchFamily="34" charset="0"/>
                <a:hlinkClick r:id="rId4"/>
              </a:rPr>
              <a:t>DATASET</a:t>
            </a:r>
            <a:r>
              <a:rPr lang="en-US" sz="1000">
                <a:latin typeface="Arial" panose="020B0604020202020204" pitchFamily="34" charset="0"/>
              </a:rPr>
              <a:t> | </a:t>
            </a:r>
            <a:r>
              <a:rPr lang="en-US" sz="1000">
                <a:latin typeface="Arial" panose="020B0604020202020204" pitchFamily="34" charset="0"/>
                <a:hlinkClick r:id="rId5"/>
              </a:rPr>
              <a:t>COLAB NOTEBOOK</a:t>
            </a:r>
            <a:r>
              <a:rPr lang="en-US" sz="1000">
                <a:latin typeface="Arial" panose="020B0604020202020204" pitchFamily="34" charset="0"/>
              </a:rPr>
              <a:t> | </a:t>
            </a:r>
            <a:r>
              <a:rPr lang="en-US" sz="1000">
                <a:latin typeface="Arial" panose="020B0604020202020204" pitchFamily="34" charset="0"/>
                <a:hlinkClick r:id="rId6"/>
              </a:rPr>
              <a:t>PBI FILE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>
                <a:solidFill>
                  <a:schemeClr val="lt1"/>
                </a:solidFill>
                <a:highlight>
                  <a:schemeClr val="dk2"/>
                </a:highlight>
              </a:rPr>
              <a:t>ontents</a:t>
            </a:r>
            <a:endParaRPr>
              <a:solidFill>
                <a:schemeClr val="lt1"/>
              </a:solidFill>
              <a:highlight>
                <a:schemeClr val="dk2"/>
              </a:highlight>
            </a:endParaRPr>
          </a:p>
        </p:txBody>
      </p:sp>
      <p:sp>
        <p:nvSpPr>
          <p:cNvPr id="198" name="Google Shape;198;p39"/>
          <p:cNvSpPr txBox="1">
            <a:spLocks noGrp="1"/>
          </p:cNvSpPr>
          <p:nvPr>
            <p:ph type="subTitle" idx="1"/>
          </p:nvPr>
        </p:nvSpPr>
        <p:spPr>
          <a:xfrm>
            <a:off x="787791" y="1834025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199" name="Google Shape;199;p39"/>
          <p:cNvSpPr txBox="1">
            <a:spLocks noGrp="1"/>
          </p:cNvSpPr>
          <p:nvPr>
            <p:ph type="subTitle" idx="2"/>
          </p:nvPr>
        </p:nvSpPr>
        <p:spPr>
          <a:xfrm>
            <a:off x="787791" y="2227625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Dataset Acquisition &amp; Profiling</a:t>
            </a:r>
          </a:p>
        </p:txBody>
      </p:sp>
      <p:sp>
        <p:nvSpPr>
          <p:cNvPr id="200" name="Google Shape;200;p39"/>
          <p:cNvSpPr txBox="1">
            <a:spLocks noGrp="1"/>
          </p:cNvSpPr>
          <p:nvPr>
            <p:ph type="subTitle" idx="4"/>
          </p:nvPr>
        </p:nvSpPr>
        <p:spPr>
          <a:xfrm>
            <a:off x="3394791" y="1834025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 Method</a:t>
            </a:r>
          </a:p>
        </p:txBody>
      </p:sp>
      <p:sp>
        <p:nvSpPr>
          <p:cNvPr id="201" name="Google Shape;201;p39"/>
          <p:cNvSpPr txBox="1">
            <a:spLocks noGrp="1"/>
          </p:cNvSpPr>
          <p:nvPr>
            <p:ph type="subTitle" idx="5"/>
          </p:nvPr>
        </p:nvSpPr>
        <p:spPr>
          <a:xfrm>
            <a:off x="3394791" y="2227625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Business Problem Identification &amp; Analytical Method</a:t>
            </a:r>
          </a:p>
        </p:txBody>
      </p:sp>
      <p:sp>
        <p:nvSpPr>
          <p:cNvPr id="202" name="Google Shape;202;p39"/>
          <p:cNvSpPr txBox="1">
            <a:spLocks noGrp="1"/>
          </p:cNvSpPr>
          <p:nvPr>
            <p:ph type="title" idx="3"/>
          </p:nvPr>
        </p:nvSpPr>
        <p:spPr>
          <a:xfrm>
            <a:off x="1357500" y="1404824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3" name="Google Shape;203;p39"/>
          <p:cNvSpPr txBox="1">
            <a:spLocks noGrp="1"/>
          </p:cNvSpPr>
          <p:nvPr>
            <p:ph type="title" idx="6"/>
          </p:nvPr>
        </p:nvSpPr>
        <p:spPr>
          <a:xfrm>
            <a:off x="3964500" y="1404824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subTitle" idx="7"/>
          </p:nvPr>
        </p:nvSpPr>
        <p:spPr>
          <a:xfrm>
            <a:off x="6001791" y="1834025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subTitle" idx="8"/>
          </p:nvPr>
        </p:nvSpPr>
        <p:spPr>
          <a:xfrm>
            <a:off x="6001791" y="2227625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Data Cleaning &amp; Feature Engineering</a:t>
            </a:r>
            <a:endParaRPr sz="1200"/>
          </a:p>
        </p:txBody>
      </p:sp>
      <p:sp>
        <p:nvSpPr>
          <p:cNvPr id="206" name="Google Shape;206;p39"/>
          <p:cNvSpPr txBox="1">
            <a:spLocks noGrp="1"/>
          </p:cNvSpPr>
          <p:nvPr>
            <p:ph type="title" idx="9"/>
          </p:nvPr>
        </p:nvSpPr>
        <p:spPr>
          <a:xfrm>
            <a:off x="6571500" y="1404824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7" name="Google Shape;207;p39"/>
          <p:cNvSpPr txBox="1">
            <a:spLocks noGrp="1"/>
          </p:cNvSpPr>
          <p:nvPr>
            <p:ph type="subTitle" idx="13"/>
          </p:nvPr>
        </p:nvSpPr>
        <p:spPr>
          <a:xfrm>
            <a:off x="787791" y="3516846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EDA</a:t>
            </a:r>
          </a:p>
        </p:txBody>
      </p:sp>
      <p:sp>
        <p:nvSpPr>
          <p:cNvPr id="208" name="Google Shape;208;p39"/>
          <p:cNvSpPr txBox="1">
            <a:spLocks noGrp="1"/>
          </p:cNvSpPr>
          <p:nvPr>
            <p:ph type="subTitle" idx="14"/>
          </p:nvPr>
        </p:nvSpPr>
        <p:spPr>
          <a:xfrm>
            <a:off x="787791" y="3910446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Data Analysis &amp; Insights</a:t>
            </a:r>
          </a:p>
        </p:txBody>
      </p:sp>
      <p:sp>
        <p:nvSpPr>
          <p:cNvPr id="209" name="Google Shape;209;p39"/>
          <p:cNvSpPr txBox="1">
            <a:spLocks noGrp="1"/>
          </p:cNvSpPr>
          <p:nvPr>
            <p:ph type="title" idx="15"/>
          </p:nvPr>
        </p:nvSpPr>
        <p:spPr>
          <a:xfrm>
            <a:off x="1357500" y="3087688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10" name="Google Shape;210;p39"/>
          <p:cNvSpPr txBox="1">
            <a:spLocks noGrp="1"/>
          </p:cNvSpPr>
          <p:nvPr>
            <p:ph type="subTitle" idx="16"/>
          </p:nvPr>
        </p:nvSpPr>
        <p:spPr>
          <a:xfrm>
            <a:off x="3394791" y="3607551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Insight Summary</a:t>
            </a:r>
          </a:p>
        </p:txBody>
      </p:sp>
      <p:sp>
        <p:nvSpPr>
          <p:cNvPr id="211" name="Google Shape;211;p39"/>
          <p:cNvSpPr txBox="1">
            <a:spLocks noGrp="1"/>
          </p:cNvSpPr>
          <p:nvPr>
            <p:ph type="subTitle" idx="17"/>
          </p:nvPr>
        </p:nvSpPr>
        <p:spPr>
          <a:xfrm>
            <a:off x="3394791" y="4122105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Key Business Insights</a:t>
            </a:r>
          </a:p>
        </p:txBody>
      </p:sp>
      <p:sp>
        <p:nvSpPr>
          <p:cNvPr id="212" name="Google Shape;212;p39"/>
          <p:cNvSpPr txBox="1">
            <a:spLocks noGrp="1"/>
          </p:cNvSpPr>
          <p:nvPr>
            <p:ph type="title" idx="18"/>
          </p:nvPr>
        </p:nvSpPr>
        <p:spPr>
          <a:xfrm>
            <a:off x="3964500" y="3087688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subTitle" idx="19"/>
          </p:nvPr>
        </p:nvSpPr>
        <p:spPr>
          <a:xfrm>
            <a:off x="6001791" y="3580868"/>
            <a:ext cx="23544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Recommendation</a:t>
            </a:r>
          </a:p>
        </p:txBody>
      </p:sp>
      <p:sp>
        <p:nvSpPr>
          <p:cNvPr id="214" name="Google Shape;214;p39"/>
          <p:cNvSpPr txBox="1">
            <a:spLocks noGrp="1"/>
          </p:cNvSpPr>
          <p:nvPr>
            <p:ph type="subTitle" idx="20"/>
          </p:nvPr>
        </p:nvSpPr>
        <p:spPr>
          <a:xfrm>
            <a:off x="6001791" y="4095422"/>
            <a:ext cx="235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Data-driven Recommendations</a:t>
            </a:r>
          </a:p>
        </p:txBody>
      </p:sp>
      <p:sp>
        <p:nvSpPr>
          <p:cNvPr id="215" name="Google Shape;215;p39"/>
          <p:cNvSpPr txBox="1">
            <a:spLocks noGrp="1"/>
          </p:cNvSpPr>
          <p:nvPr>
            <p:ph type="title" idx="21"/>
          </p:nvPr>
        </p:nvSpPr>
        <p:spPr>
          <a:xfrm>
            <a:off x="6571500" y="3087688"/>
            <a:ext cx="1215000" cy="4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pic>
        <p:nvPicPr>
          <p:cNvPr id="216" name="Google Shape;21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1898" flipH="1">
            <a:off x="6748649" y="198177"/>
            <a:ext cx="2158978" cy="12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>
            <a:spLocks noGrp="1"/>
          </p:cNvSpPr>
          <p:nvPr>
            <p:ph type="title"/>
          </p:nvPr>
        </p:nvSpPr>
        <p:spPr>
          <a:xfrm>
            <a:off x="713100" y="1360800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Overview</a:t>
            </a:r>
            <a:endParaRPr/>
          </a:p>
        </p:txBody>
      </p:sp>
      <p:sp>
        <p:nvSpPr>
          <p:cNvPr id="236" name="Google Shape;236;p42"/>
          <p:cNvSpPr txBox="1">
            <a:spLocks noGrp="1"/>
          </p:cNvSpPr>
          <p:nvPr>
            <p:ph type="title" idx="2"/>
          </p:nvPr>
        </p:nvSpPr>
        <p:spPr>
          <a:xfrm>
            <a:off x="713100" y="543301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37" name="Google Shape;237;p42"/>
          <p:cNvSpPr txBox="1">
            <a:spLocks noGrp="1"/>
          </p:cNvSpPr>
          <p:nvPr>
            <p:ph type="subTitle" idx="1"/>
          </p:nvPr>
        </p:nvSpPr>
        <p:spPr>
          <a:xfrm>
            <a:off x="713100" y="2208500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Dataset Acquisition &amp; Profiling</a:t>
            </a:r>
            <a:endParaRPr sz="1400"/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3">
            <a:alphaModFix/>
          </a:blip>
          <a:srcRect l="5953" b="21365"/>
          <a:stretch/>
        </p:blipFill>
        <p:spPr>
          <a:xfrm rot="285205">
            <a:off x="2624975" y="2675701"/>
            <a:ext cx="6563700" cy="239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1"/>
          <p:cNvSpPr txBox="1">
            <a:spLocks noGrp="1"/>
          </p:cNvSpPr>
          <p:nvPr>
            <p:ph type="subTitle" idx="1"/>
          </p:nvPr>
        </p:nvSpPr>
        <p:spPr>
          <a:xfrm>
            <a:off x="713100" y="1841261"/>
            <a:ext cx="3787500" cy="26980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 Airline Passenger Satisfaction Dataset</a:t>
            </a:r>
          </a:p>
          <a:p>
            <a:pPr marL="0" indent="0">
              <a:buNone/>
            </a:pPr>
            <a:endParaRPr lang="en-US"/>
          </a:p>
          <a:p>
            <a:pPr marL="3429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Source: Kaggle</a:t>
            </a:r>
          </a:p>
          <a:p>
            <a:pPr marL="3429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Industry: Airline</a:t>
            </a:r>
          </a:p>
          <a:p>
            <a:pPr marL="342900" lvl="0" indent="-203200"/>
            <a:r>
              <a:rPr lang="en-US"/>
              <a:t>Total records: 100.000+</a:t>
            </a:r>
          </a:p>
          <a:p>
            <a:pPr marL="342900" lvl="0" indent="-2032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Focus: Customer Satisfaction Analysis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err="1"/>
              <a:t>Memiliki</a:t>
            </a:r>
            <a:r>
              <a:rPr lang="en-US"/>
              <a:t> </a:t>
            </a:r>
            <a:r>
              <a:rPr lang="en-US" err="1"/>
              <a:t>konteks</a:t>
            </a:r>
            <a:r>
              <a:rPr lang="en-US"/>
              <a:t> </a:t>
            </a:r>
            <a:r>
              <a:rPr lang="en-US" err="1"/>
              <a:t>bisnis</a:t>
            </a:r>
            <a:r>
              <a:rPr lang="en-US"/>
              <a:t> yang </a:t>
            </a:r>
            <a:r>
              <a:rPr lang="en-US" err="1"/>
              <a:t>relevan</a:t>
            </a:r>
            <a:r>
              <a:rPr lang="en-US"/>
              <a:t> </a:t>
            </a:r>
            <a:r>
              <a:rPr lang="en-US" err="1"/>
              <a:t>dalam</a:t>
            </a:r>
            <a:r>
              <a:rPr lang="en-US"/>
              <a:t> </a:t>
            </a:r>
            <a:r>
              <a:rPr lang="en-US" err="1"/>
              <a:t>industri</a:t>
            </a:r>
            <a:r>
              <a:rPr lang="en-US"/>
              <a:t> penerbangan.</a:t>
            </a:r>
          </a:p>
          <a:p>
            <a:pPr marL="13970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/>
          </a:p>
        </p:txBody>
      </p:sp>
      <p:sp>
        <p:nvSpPr>
          <p:cNvPr id="229" name="Google Shape;229;p41"/>
          <p:cNvSpPr txBox="1">
            <a:spLocks noGrp="1"/>
          </p:cNvSpPr>
          <p:nvPr>
            <p:ph type="title"/>
          </p:nvPr>
        </p:nvSpPr>
        <p:spPr>
          <a:xfrm>
            <a:off x="713100" y="1201112"/>
            <a:ext cx="378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Dataset Acquisition</a:t>
            </a:r>
            <a:endParaRPr sz="3000"/>
          </a:p>
        </p:txBody>
      </p:sp>
      <p:pic>
        <p:nvPicPr>
          <p:cNvPr id="230" name="Google Shape;230;p41"/>
          <p:cNvPicPr preferRelativeResize="0"/>
          <p:nvPr/>
        </p:nvPicPr>
        <p:blipFill rotWithShape="1">
          <a:blip r:embed="rId3">
            <a:alphaModFix/>
          </a:blip>
          <a:srcRect t="3113" b="3113"/>
          <a:stretch/>
        </p:blipFill>
        <p:spPr>
          <a:xfrm>
            <a:off x="5030450" y="981328"/>
            <a:ext cx="3182700" cy="3181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Profiling</a:t>
            </a:r>
            <a:endParaRPr/>
          </a:p>
        </p:txBody>
      </p:sp>
      <p:graphicFrame>
        <p:nvGraphicFramePr>
          <p:cNvPr id="584" name="Google Shape;584;p55"/>
          <p:cNvGraphicFramePr/>
          <p:nvPr/>
        </p:nvGraphicFramePr>
        <p:xfrm>
          <a:off x="713106" y="1780310"/>
          <a:ext cx="7418523" cy="3032730"/>
        </p:xfrm>
        <a:graphic>
          <a:graphicData uri="http://schemas.openxmlformats.org/drawingml/2006/table">
            <a:tbl>
              <a:tblPr>
                <a:noFill/>
                <a:tableStyleId>{C0304366-09AB-4B72-8AE6-F940AF52B09B}</a:tableStyleId>
              </a:tblPr>
              <a:tblGrid>
                <a:gridCol w="2689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8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Komponen</a:t>
                      </a:r>
                      <a:endParaRPr sz="2200">
                        <a:solidFill>
                          <a:schemeClr val="dk1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bg1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Hasil</a:t>
                      </a:r>
                      <a:endParaRPr sz="2200">
                        <a:solidFill>
                          <a:schemeClr val="bg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Rows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/>
                        <a:t>103.904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Columns (Variables)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Source Sans Pro"/>
                          <a:cs typeface="Arial" panose="020B0604020202020204" pitchFamily="34" charset="0"/>
                          <a:sym typeface="Source Sans Pro"/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Source Sans Pro"/>
                        <a:cs typeface="Arial" panose="020B0604020202020204" pitchFamily="34" charset="0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Missing Values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310   (Arrival Delay)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Duplicates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0487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Data Types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Numerical &amp; Categorical</a:t>
                      </a:r>
                      <a:endParaRPr>
                        <a:solidFill>
                          <a:schemeClr val="dk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271198"/>
                  </a:ext>
                </a:extLst>
              </a:tr>
            </a:tbl>
          </a:graphicData>
        </a:graphic>
      </p:graphicFrame>
      <p:pic>
        <p:nvPicPr>
          <p:cNvPr id="646" name="Google Shape;646;p55"/>
          <p:cNvPicPr preferRelativeResize="0"/>
          <p:nvPr/>
        </p:nvPicPr>
        <p:blipFill rotWithShape="1">
          <a:blip r:embed="rId3">
            <a:alphaModFix/>
          </a:blip>
          <a:srcRect l="5315" t="11257" r="3202" b="6513"/>
          <a:stretch/>
        </p:blipFill>
        <p:spPr>
          <a:xfrm rot="-303210">
            <a:off x="6055060" y="220209"/>
            <a:ext cx="2578678" cy="121108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>
            <a:spLocks noGrp="1"/>
          </p:cNvSpPr>
          <p:nvPr>
            <p:ph type="title"/>
          </p:nvPr>
        </p:nvSpPr>
        <p:spPr>
          <a:xfrm>
            <a:off x="2464800" y="3355099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Analysis Method</a:t>
            </a:r>
            <a:endParaRPr/>
          </a:p>
        </p:txBody>
      </p:sp>
      <p:sp>
        <p:nvSpPr>
          <p:cNvPr id="424" name="Google Shape;424;p51"/>
          <p:cNvSpPr txBox="1">
            <a:spLocks noGrp="1"/>
          </p:cNvSpPr>
          <p:nvPr>
            <p:ph type="title" idx="2"/>
          </p:nvPr>
        </p:nvSpPr>
        <p:spPr>
          <a:xfrm>
            <a:off x="7057800" y="2537600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5" name="Google Shape;425;p51"/>
          <p:cNvSpPr txBox="1">
            <a:spLocks noGrp="1"/>
          </p:cNvSpPr>
          <p:nvPr>
            <p:ph type="subTitle" idx="1"/>
          </p:nvPr>
        </p:nvSpPr>
        <p:spPr>
          <a:xfrm>
            <a:off x="3980700" y="4202799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Business Problem Identification &amp; Analytical Approach</a:t>
            </a:r>
            <a:endParaRPr sz="1400"/>
          </a:p>
        </p:txBody>
      </p:sp>
      <p:pic>
        <p:nvPicPr>
          <p:cNvPr id="426" name="Google Shape;426;p51"/>
          <p:cNvPicPr preferRelativeResize="0"/>
          <p:nvPr/>
        </p:nvPicPr>
        <p:blipFill rotWithShape="1">
          <a:blip r:embed="rId3">
            <a:alphaModFix/>
          </a:blip>
          <a:srcRect l="5315" t="11257" r="3202" b="6513"/>
          <a:stretch/>
        </p:blipFill>
        <p:spPr>
          <a:xfrm rot="214505">
            <a:off x="197971" y="386999"/>
            <a:ext cx="6087854" cy="285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4508100" y="2521275"/>
            <a:ext cx="3921300" cy="6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Business Problem</a:t>
            </a:r>
            <a:endParaRPr sz="3400"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1"/>
          </p:nvPr>
        </p:nvSpPr>
        <p:spPr>
          <a:xfrm>
            <a:off x="3578600" y="3299750"/>
            <a:ext cx="4850700" cy="13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can airlines identify the service attributes that most influence satisfaction across different passenger segments to improve service investment decisions?</a:t>
            </a:r>
            <a:endParaRPr/>
          </a:p>
        </p:txBody>
      </p:sp>
      <p:pic>
        <p:nvPicPr>
          <p:cNvPr id="223" name="Google Shape;2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8013">
            <a:off x="299612" y="35004"/>
            <a:ext cx="4380727" cy="388881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Objectives</a:t>
            </a:r>
            <a:endParaRPr/>
          </a:p>
        </p:txBody>
      </p:sp>
      <p:sp>
        <p:nvSpPr>
          <p:cNvPr id="370" name="Google Shape;370;p49"/>
          <p:cNvSpPr txBox="1">
            <a:spLocks noGrp="1"/>
          </p:cNvSpPr>
          <p:nvPr>
            <p:ph type="title" idx="2"/>
          </p:nvPr>
        </p:nvSpPr>
        <p:spPr>
          <a:xfrm>
            <a:off x="1743849" y="3091436"/>
            <a:ext cx="1776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1" name="Google Shape;371;p49"/>
          <p:cNvSpPr txBox="1">
            <a:spLocks noGrp="1"/>
          </p:cNvSpPr>
          <p:nvPr>
            <p:ph type="subTitle" idx="1"/>
          </p:nvPr>
        </p:nvSpPr>
        <p:spPr>
          <a:xfrm>
            <a:off x="1743849" y="3470756"/>
            <a:ext cx="177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key satisfaction drivers</a:t>
            </a:r>
            <a:endParaRPr/>
          </a:p>
        </p:txBody>
      </p:sp>
      <p:sp>
        <p:nvSpPr>
          <p:cNvPr id="372" name="Google Shape;372;p49"/>
          <p:cNvSpPr txBox="1">
            <a:spLocks noGrp="1"/>
          </p:cNvSpPr>
          <p:nvPr>
            <p:ph type="title" idx="3"/>
          </p:nvPr>
        </p:nvSpPr>
        <p:spPr>
          <a:xfrm>
            <a:off x="3683850" y="3091436"/>
            <a:ext cx="1776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73" name="Google Shape;373;p49"/>
          <p:cNvSpPr txBox="1">
            <a:spLocks noGrp="1"/>
          </p:cNvSpPr>
          <p:nvPr>
            <p:ph type="subTitle" idx="4"/>
          </p:nvPr>
        </p:nvSpPr>
        <p:spPr>
          <a:xfrm>
            <a:off x="3683847" y="3470756"/>
            <a:ext cx="177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passenger segments</a:t>
            </a:r>
            <a:endParaRPr/>
          </a:p>
        </p:txBody>
      </p:sp>
      <p:sp>
        <p:nvSpPr>
          <p:cNvPr id="374" name="Google Shape;374;p49"/>
          <p:cNvSpPr txBox="1">
            <a:spLocks noGrp="1"/>
          </p:cNvSpPr>
          <p:nvPr>
            <p:ph type="title" idx="5"/>
          </p:nvPr>
        </p:nvSpPr>
        <p:spPr>
          <a:xfrm>
            <a:off x="5623844" y="3091436"/>
            <a:ext cx="1776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75" name="Google Shape;375;p49"/>
          <p:cNvSpPr txBox="1">
            <a:spLocks noGrp="1"/>
          </p:cNvSpPr>
          <p:nvPr>
            <p:ph type="subTitle" idx="6"/>
          </p:nvPr>
        </p:nvSpPr>
        <p:spPr>
          <a:xfrm>
            <a:off x="5623846" y="3470756"/>
            <a:ext cx="1776300" cy="7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Prioritize service improvements</a:t>
            </a:r>
            <a:endParaRPr/>
          </a:p>
        </p:txBody>
      </p:sp>
      <p:sp>
        <p:nvSpPr>
          <p:cNvPr id="378" name="Google Shape;378;p49"/>
          <p:cNvSpPr/>
          <p:nvPr/>
        </p:nvSpPr>
        <p:spPr>
          <a:xfrm>
            <a:off x="2220549" y="2071611"/>
            <a:ext cx="822900" cy="82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49"/>
          <p:cNvSpPr/>
          <p:nvPr/>
        </p:nvSpPr>
        <p:spPr>
          <a:xfrm>
            <a:off x="4160550" y="2071611"/>
            <a:ext cx="822900" cy="82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9"/>
          <p:cNvSpPr/>
          <p:nvPr/>
        </p:nvSpPr>
        <p:spPr>
          <a:xfrm>
            <a:off x="6100544" y="2071611"/>
            <a:ext cx="822900" cy="82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520;p74">
            <a:extLst>
              <a:ext uri="{FF2B5EF4-FFF2-40B4-BE49-F238E27FC236}">
                <a16:creationId xmlns:a16="http://schemas.microsoft.com/office/drawing/2014/main" id="{4F36D592-213C-AA1B-00DF-B65D350AB510}"/>
              </a:ext>
            </a:extLst>
          </p:cNvPr>
          <p:cNvGrpSpPr/>
          <p:nvPr/>
        </p:nvGrpSpPr>
        <p:grpSpPr>
          <a:xfrm>
            <a:off x="2433337" y="2258062"/>
            <a:ext cx="404982" cy="428994"/>
            <a:chOff x="6761953" y="2720487"/>
            <a:chExt cx="404982" cy="428994"/>
          </a:xfrm>
          <a:solidFill>
            <a:schemeClr val="accent2"/>
          </a:solidFill>
        </p:grpSpPr>
        <p:sp>
          <p:nvSpPr>
            <p:cNvPr id="7" name="Google Shape;1521;p74">
              <a:extLst>
                <a:ext uri="{FF2B5EF4-FFF2-40B4-BE49-F238E27FC236}">
                  <a16:creationId xmlns:a16="http://schemas.microsoft.com/office/drawing/2014/main" id="{D1EF8995-D4FD-2846-A379-DBC5AEFE032F}"/>
                </a:ext>
              </a:extLst>
            </p:cNvPr>
            <p:cNvSpPr/>
            <p:nvPr/>
          </p:nvSpPr>
          <p:spPr>
            <a:xfrm>
              <a:off x="7002490" y="2756901"/>
              <a:ext cx="98179" cy="76778"/>
            </a:xfrm>
            <a:custGeom>
              <a:avLst/>
              <a:gdLst/>
              <a:ahLst/>
              <a:cxnLst/>
              <a:rect l="l" t="t" r="r" b="b"/>
              <a:pathLst>
                <a:path w="2858" h="2235" extrusionOk="0">
                  <a:moveTo>
                    <a:pt x="1845" y="1"/>
                  </a:moveTo>
                  <a:cubicBezTo>
                    <a:pt x="1807" y="1"/>
                    <a:pt x="1768" y="14"/>
                    <a:pt x="1739" y="44"/>
                  </a:cubicBezTo>
                  <a:lnTo>
                    <a:pt x="834" y="758"/>
                  </a:lnTo>
                  <a:lnTo>
                    <a:pt x="238" y="639"/>
                  </a:lnTo>
                  <a:cubicBezTo>
                    <a:pt x="143" y="639"/>
                    <a:pt x="48" y="687"/>
                    <a:pt x="24" y="806"/>
                  </a:cubicBezTo>
                  <a:cubicBezTo>
                    <a:pt x="0" y="901"/>
                    <a:pt x="72" y="996"/>
                    <a:pt x="167" y="1020"/>
                  </a:cubicBezTo>
                  <a:lnTo>
                    <a:pt x="762" y="1116"/>
                  </a:lnTo>
                  <a:lnTo>
                    <a:pt x="1334" y="2140"/>
                  </a:lnTo>
                  <a:cubicBezTo>
                    <a:pt x="1358" y="2187"/>
                    <a:pt x="1429" y="2235"/>
                    <a:pt x="1477" y="2235"/>
                  </a:cubicBezTo>
                  <a:cubicBezTo>
                    <a:pt x="1524" y="2235"/>
                    <a:pt x="1548" y="2211"/>
                    <a:pt x="1572" y="2211"/>
                  </a:cubicBezTo>
                  <a:cubicBezTo>
                    <a:pt x="1667" y="2163"/>
                    <a:pt x="1691" y="2044"/>
                    <a:pt x="1643" y="1949"/>
                  </a:cubicBezTo>
                  <a:lnTo>
                    <a:pt x="1238" y="1211"/>
                  </a:lnTo>
                  <a:lnTo>
                    <a:pt x="2001" y="1378"/>
                  </a:lnTo>
                  <a:lnTo>
                    <a:pt x="2334" y="1806"/>
                  </a:lnTo>
                  <a:cubicBezTo>
                    <a:pt x="2358" y="1878"/>
                    <a:pt x="2405" y="1901"/>
                    <a:pt x="2477" y="1901"/>
                  </a:cubicBezTo>
                  <a:cubicBezTo>
                    <a:pt x="2501" y="1901"/>
                    <a:pt x="2548" y="1878"/>
                    <a:pt x="2572" y="1854"/>
                  </a:cubicBezTo>
                  <a:cubicBezTo>
                    <a:pt x="2667" y="1806"/>
                    <a:pt x="2691" y="1687"/>
                    <a:pt x="2620" y="1616"/>
                  </a:cubicBezTo>
                  <a:lnTo>
                    <a:pt x="2382" y="1258"/>
                  </a:lnTo>
                  <a:lnTo>
                    <a:pt x="2739" y="1020"/>
                  </a:lnTo>
                  <a:cubicBezTo>
                    <a:pt x="2834" y="973"/>
                    <a:pt x="2858" y="854"/>
                    <a:pt x="2786" y="758"/>
                  </a:cubicBezTo>
                  <a:cubicBezTo>
                    <a:pt x="2756" y="712"/>
                    <a:pt x="2695" y="686"/>
                    <a:pt x="2637" y="686"/>
                  </a:cubicBezTo>
                  <a:cubicBezTo>
                    <a:pt x="2605" y="686"/>
                    <a:pt x="2574" y="694"/>
                    <a:pt x="2548" y="711"/>
                  </a:cubicBezTo>
                  <a:lnTo>
                    <a:pt x="2072" y="1020"/>
                  </a:lnTo>
                  <a:lnTo>
                    <a:pt x="1310" y="854"/>
                  </a:lnTo>
                  <a:lnTo>
                    <a:pt x="1953" y="330"/>
                  </a:lnTo>
                  <a:cubicBezTo>
                    <a:pt x="2048" y="258"/>
                    <a:pt x="2048" y="139"/>
                    <a:pt x="1977" y="68"/>
                  </a:cubicBezTo>
                  <a:cubicBezTo>
                    <a:pt x="1949" y="26"/>
                    <a:pt x="1897" y="1"/>
                    <a:pt x="18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22;p74">
              <a:extLst>
                <a:ext uri="{FF2B5EF4-FFF2-40B4-BE49-F238E27FC236}">
                  <a16:creationId xmlns:a16="http://schemas.microsoft.com/office/drawing/2014/main" id="{52FAC344-98A8-20E7-D28E-93D26629E762}"/>
                </a:ext>
              </a:extLst>
            </p:cNvPr>
            <p:cNvSpPr/>
            <p:nvPr/>
          </p:nvSpPr>
          <p:spPr>
            <a:xfrm>
              <a:off x="7049930" y="2850821"/>
              <a:ext cx="20474" cy="46685"/>
            </a:xfrm>
            <a:custGeom>
              <a:avLst/>
              <a:gdLst/>
              <a:ahLst/>
              <a:cxnLst/>
              <a:rect l="l" t="t" r="r" b="b"/>
              <a:pathLst>
                <a:path w="596" h="1359" extrusionOk="0">
                  <a:moveTo>
                    <a:pt x="429" y="1"/>
                  </a:moveTo>
                  <a:cubicBezTo>
                    <a:pt x="334" y="1"/>
                    <a:pt x="239" y="49"/>
                    <a:pt x="215" y="144"/>
                  </a:cubicBezTo>
                  <a:lnTo>
                    <a:pt x="24" y="1144"/>
                  </a:lnTo>
                  <a:cubicBezTo>
                    <a:pt x="0" y="1239"/>
                    <a:pt x="72" y="1335"/>
                    <a:pt x="167" y="1358"/>
                  </a:cubicBezTo>
                  <a:lnTo>
                    <a:pt x="215" y="1358"/>
                  </a:lnTo>
                  <a:cubicBezTo>
                    <a:pt x="286" y="1358"/>
                    <a:pt x="381" y="1287"/>
                    <a:pt x="381" y="1215"/>
                  </a:cubicBezTo>
                  <a:lnTo>
                    <a:pt x="572" y="215"/>
                  </a:lnTo>
                  <a:cubicBezTo>
                    <a:pt x="596" y="120"/>
                    <a:pt x="548" y="25"/>
                    <a:pt x="4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23;p74">
              <a:extLst>
                <a:ext uri="{FF2B5EF4-FFF2-40B4-BE49-F238E27FC236}">
                  <a16:creationId xmlns:a16="http://schemas.microsoft.com/office/drawing/2014/main" id="{0088AA10-C673-8F7A-BE99-F8C31CEC0FBD}"/>
                </a:ext>
              </a:extLst>
            </p:cNvPr>
            <p:cNvSpPr/>
            <p:nvPr/>
          </p:nvSpPr>
          <p:spPr>
            <a:xfrm>
              <a:off x="7072844" y="2855596"/>
              <a:ext cx="20474" cy="45998"/>
            </a:xfrm>
            <a:custGeom>
              <a:avLst/>
              <a:gdLst/>
              <a:ahLst/>
              <a:cxnLst/>
              <a:rect l="l" t="t" r="r" b="b"/>
              <a:pathLst>
                <a:path w="596" h="1339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24"/>
                  </a:lnTo>
                  <a:cubicBezTo>
                    <a:pt x="0" y="1219"/>
                    <a:pt x="72" y="1315"/>
                    <a:pt x="167" y="1338"/>
                  </a:cubicBezTo>
                  <a:lnTo>
                    <a:pt x="191" y="1338"/>
                  </a:lnTo>
                  <a:cubicBezTo>
                    <a:pt x="286" y="1338"/>
                    <a:pt x="357" y="1291"/>
                    <a:pt x="381" y="1196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24;p74">
              <a:extLst>
                <a:ext uri="{FF2B5EF4-FFF2-40B4-BE49-F238E27FC236}">
                  <a16:creationId xmlns:a16="http://schemas.microsoft.com/office/drawing/2014/main" id="{3904C77E-E373-C32B-8C12-DEDD18B85C0E}"/>
                </a:ext>
              </a:extLst>
            </p:cNvPr>
            <p:cNvSpPr/>
            <p:nvPr/>
          </p:nvSpPr>
          <p:spPr>
            <a:xfrm>
              <a:off x="7094932" y="2859684"/>
              <a:ext cx="20474" cy="46822"/>
            </a:xfrm>
            <a:custGeom>
              <a:avLst/>
              <a:gdLst/>
              <a:ahLst/>
              <a:cxnLst/>
              <a:rect l="l" t="t" r="r" b="b"/>
              <a:pathLst>
                <a:path w="596" h="1363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48"/>
                  </a:lnTo>
                  <a:cubicBezTo>
                    <a:pt x="0" y="1243"/>
                    <a:pt x="72" y="1338"/>
                    <a:pt x="167" y="1362"/>
                  </a:cubicBezTo>
                  <a:lnTo>
                    <a:pt x="214" y="1362"/>
                  </a:lnTo>
                  <a:cubicBezTo>
                    <a:pt x="286" y="1362"/>
                    <a:pt x="381" y="1291"/>
                    <a:pt x="381" y="1219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25;p74">
              <a:extLst>
                <a:ext uri="{FF2B5EF4-FFF2-40B4-BE49-F238E27FC236}">
                  <a16:creationId xmlns:a16="http://schemas.microsoft.com/office/drawing/2014/main" id="{C7127343-0FC1-B6EE-783F-B057D9853E97}"/>
                </a:ext>
              </a:extLst>
            </p:cNvPr>
            <p:cNvSpPr/>
            <p:nvPr/>
          </p:nvSpPr>
          <p:spPr>
            <a:xfrm>
              <a:off x="7049106" y="2958653"/>
              <a:ext cx="34387" cy="117176"/>
            </a:xfrm>
            <a:custGeom>
              <a:avLst/>
              <a:gdLst/>
              <a:ahLst/>
              <a:cxnLst/>
              <a:rect l="l" t="t" r="r" b="b"/>
              <a:pathLst>
                <a:path w="1001" h="3411" extrusionOk="0">
                  <a:moveTo>
                    <a:pt x="797" y="1"/>
                  </a:moveTo>
                  <a:cubicBezTo>
                    <a:pt x="715" y="1"/>
                    <a:pt x="640" y="66"/>
                    <a:pt x="620" y="148"/>
                  </a:cubicBezTo>
                  <a:lnTo>
                    <a:pt x="24" y="3197"/>
                  </a:lnTo>
                  <a:cubicBezTo>
                    <a:pt x="1" y="3292"/>
                    <a:pt x="72" y="3387"/>
                    <a:pt x="167" y="3411"/>
                  </a:cubicBezTo>
                  <a:lnTo>
                    <a:pt x="215" y="3411"/>
                  </a:lnTo>
                  <a:cubicBezTo>
                    <a:pt x="286" y="3411"/>
                    <a:pt x="358" y="3363"/>
                    <a:pt x="382" y="3268"/>
                  </a:cubicBezTo>
                  <a:lnTo>
                    <a:pt x="977" y="220"/>
                  </a:lnTo>
                  <a:cubicBezTo>
                    <a:pt x="1001" y="124"/>
                    <a:pt x="929" y="29"/>
                    <a:pt x="834" y="5"/>
                  </a:cubicBezTo>
                  <a:cubicBezTo>
                    <a:pt x="822" y="2"/>
                    <a:pt x="809" y="1"/>
                    <a:pt x="7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26;p74">
              <a:extLst>
                <a:ext uri="{FF2B5EF4-FFF2-40B4-BE49-F238E27FC236}">
                  <a16:creationId xmlns:a16="http://schemas.microsoft.com/office/drawing/2014/main" id="{22694AE1-DF00-99F2-CA32-603B1EE52181}"/>
                </a:ext>
              </a:extLst>
            </p:cNvPr>
            <p:cNvSpPr/>
            <p:nvPr/>
          </p:nvSpPr>
          <p:spPr>
            <a:xfrm>
              <a:off x="6818395" y="2871295"/>
              <a:ext cx="137479" cy="137479"/>
            </a:xfrm>
            <a:custGeom>
              <a:avLst/>
              <a:gdLst/>
              <a:ahLst/>
              <a:cxnLst/>
              <a:rect l="l" t="t" r="r" b="b"/>
              <a:pathLst>
                <a:path w="4002" h="4002" extrusionOk="0">
                  <a:moveTo>
                    <a:pt x="2001" y="357"/>
                  </a:moveTo>
                  <a:cubicBezTo>
                    <a:pt x="2049" y="357"/>
                    <a:pt x="2168" y="477"/>
                    <a:pt x="2287" y="762"/>
                  </a:cubicBezTo>
                  <a:cubicBezTo>
                    <a:pt x="2335" y="929"/>
                    <a:pt x="2382" y="1096"/>
                    <a:pt x="2406" y="1310"/>
                  </a:cubicBezTo>
                  <a:cubicBezTo>
                    <a:pt x="2263" y="1286"/>
                    <a:pt x="2144" y="1286"/>
                    <a:pt x="2001" y="1286"/>
                  </a:cubicBezTo>
                  <a:cubicBezTo>
                    <a:pt x="1858" y="1286"/>
                    <a:pt x="1715" y="1286"/>
                    <a:pt x="1573" y="1310"/>
                  </a:cubicBezTo>
                  <a:cubicBezTo>
                    <a:pt x="1620" y="1096"/>
                    <a:pt x="1668" y="929"/>
                    <a:pt x="1715" y="762"/>
                  </a:cubicBezTo>
                  <a:cubicBezTo>
                    <a:pt x="1811" y="477"/>
                    <a:pt x="1930" y="357"/>
                    <a:pt x="2001" y="357"/>
                  </a:cubicBezTo>
                  <a:close/>
                  <a:moveTo>
                    <a:pt x="1454" y="453"/>
                  </a:moveTo>
                  <a:lnTo>
                    <a:pt x="1454" y="453"/>
                  </a:lnTo>
                  <a:cubicBezTo>
                    <a:pt x="1334" y="691"/>
                    <a:pt x="1263" y="1000"/>
                    <a:pt x="1215" y="1334"/>
                  </a:cubicBezTo>
                  <a:cubicBezTo>
                    <a:pt x="1001" y="1358"/>
                    <a:pt x="811" y="1405"/>
                    <a:pt x="668" y="1453"/>
                  </a:cubicBezTo>
                  <a:cubicBezTo>
                    <a:pt x="572" y="1477"/>
                    <a:pt x="501" y="1501"/>
                    <a:pt x="430" y="1524"/>
                  </a:cubicBezTo>
                  <a:cubicBezTo>
                    <a:pt x="572" y="1024"/>
                    <a:pt x="953" y="619"/>
                    <a:pt x="1454" y="453"/>
                  </a:cubicBezTo>
                  <a:close/>
                  <a:moveTo>
                    <a:pt x="2549" y="453"/>
                  </a:moveTo>
                  <a:cubicBezTo>
                    <a:pt x="3025" y="619"/>
                    <a:pt x="3406" y="1024"/>
                    <a:pt x="3573" y="1524"/>
                  </a:cubicBezTo>
                  <a:cubicBezTo>
                    <a:pt x="3502" y="1501"/>
                    <a:pt x="3406" y="1477"/>
                    <a:pt x="3335" y="1453"/>
                  </a:cubicBezTo>
                  <a:cubicBezTo>
                    <a:pt x="3168" y="1405"/>
                    <a:pt x="2978" y="1358"/>
                    <a:pt x="2787" y="1334"/>
                  </a:cubicBezTo>
                  <a:cubicBezTo>
                    <a:pt x="2740" y="1000"/>
                    <a:pt x="2668" y="691"/>
                    <a:pt x="2549" y="453"/>
                  </a:cubicBezTo>
                  <a:close/>
                  <a:moveTo>
                    <a:pt x="1168" y="1715"/>
                  </a:moveTo>
                  <a:cubicBezTo>
                    <a:pt x="1168" y="1810"/>
                    <a:pt x="1168" y="1905"/>
                    <a:pt x="1168" y="2001"/>
                  </a:cubicBezTo>
                  <a:cubicBezTo>
                    <a:pt x="1168" y="2096"/>
                    <a:pt x="1168" y="2191"/>
                    <a:pt x="1168" y="2263"/>
                  </a:cubicBezTo>
                  <a:cubicBezTo>
                    <a:pt x="1049" y="2263"/>
                    <a:pt x="930" y="2239"/>
                    <a:pt x="834" y="2191"/>
                  </a:cubicBezTo>
                  <a:cubicBezTo>
                    <a:pt x="501" y="2120"/>
                    <a:pt x="382" y="2025"/>
                    <a:pt x="358" y="2001"/>
                  </a:cubicBezTo>
                  <a:cubicBezTo>
                    <a:pt x="382" y="1953"/>
                    <a:pt x="501" y="1858"/>
                    <a:pt x="834" y="1786"/>
                  </a:cubicBezTo>
                  <a:cubicBezTo>
                    <a:pt x="930" y="1763"/>
                    <a:pt x="1049" y="1739"/>
                    <a:pt x="1168" y="1715"/>
                  </a:cubicBezTo>
                  <a:close/>
                  <a:moveTo>
                    <a:pt x="2811" y="1715"/>
                  </a:moveTo>
                  <a:lnTo>
                    <a:pt x="2811" y="1715"/>
                  </a:lnTo>
                  <a:cubicBezTo>
                    <a:pt x="2930" y="1739"/>
                    <a:pt x="3049" y="1763"/>
                    <a:pt x="3168" y="1786"/>
                  </a:cubicBezTo>
                  <a:cubicBezTo>
                    <a:pt x="3478" y="1858"/>
                    <a:pt x="3597" y="1953"/>
                    <a:pt x="3621" y="2001"/>
                  </a:cubicBezTo>
                  <a:cubicBezTo>
                    <a:pt x="3597" y="2025"/>
                    <a:pt x="3478" y="2120"/>
                    <a:pt x="3168" y="2191"/>
                  </a:cubicBezTo>
                  <a:cubicBezTo>
                    <a:pt x="3049" y="2239"/>
                    <a:pt x="2930" y="2263"/>
                    <a:pt x="2811" y="2263"/>
                  </a:cubicBezTo>
                  <a:cubicBezTo>
                    <a:pt x="2811" y="2191"/>
                    <a:pt x="2835" y="2096"/>
                    <a:pt x="2835" y="2001"/>
                  </a:cubicBezTo>
                  <a:cubicBezTo>
                    <a:pt x="2835" y="1905"/>
                    <a:pt x="2811" y="1810"/>
                    <a:pt x="2811" y="1715"/>
                  </a:cubicBezTo>
                  <a:close/>
                  <a:moveTo>
                    <a:pt x="2001" y="1643"/>
                  </a:moveTo>
                  <a:cubicBezTo>
                    <a:pt x="2144" y="1643"/>
                    <a:pt x="2311" y="1667"/>
                    <a:pt x="2454" y="1667"/>
                  </a:cubicBezTo>
                  <a:cubicBezTo>
                    <a:pt x="2454" y="1786"/>
                    <a:pt x="2454" y="1882"/>
                    <a:pt x="2454" y="2001"/>
                  </a:cubicBezTo>
                  <a:cubicBezTo>
                    <a:pt x="2454" y="2096"/>
                    <a:pt x="2454" y="2215"/>
                    <a:pt x="2454" y="2310"/>
                  </a:cubicBezTo>
                  <a:cubicBezTo>
                    <a:pt x="2311" y="2334"/>
                    <a:pt x="2144" y="2334"/>
                    <a:pt x="2001" y="2334"/>
                  </a:cubicBezTo>
                  <a:cubicBezTo>
                    <a:pt x="1835" y="2334"/>
                    <a:pt x="1692" y="2334"/>
                    <a:pt x="1549" y="2310"/>
                  </a:cubicBezTo>
                  <a:cubicBezTo>
                    <a:pt x="1549" y="2215"/>
                    <a:pt x="1525" y="2096"/>
                    <a:pt x="1525" y="2001"/>
                  </a:cubicBezTo>
                  <a:cubicBezTo>
                    <a:pt x="1525" y="1882"/>
                    <a:pt x="1549" y="1786"/>
                    <a:pt x="1549" y="1667"/>
                  </a:cubicBezTo>
                  <a:cubicBezTo>
                    <a:pt x="1692" y="1667"/>
                    <a:pt x="1835" y="1643"/>
                    <a:pt x="2001" y="1643"/>
                  </a:cubicBezTo>
                  <a:close/>
                  <a:moveTo>
                    <a:pt x="430" y="2453"/>
                  </a:moveTo>
                  <a:lnTo>
                    <a:pt x="430" y="2453"/>
                  </a:lnTo>
                  <a:cubicBezTo>
                    <a:pt x="501" y="2477"/>
                    <a:pt x="572" y="2525"/>
                    <a:pt x="668" y="2548"/>
                  </a:cubicBezTo>
                  <a:cubicBezTo>
                    <a:pt x="834" y="2572"/>
                    <a:pt x="1001" y="2620"/>
                    <a:pt x="1215" y="2644"/>
                  </a:cubicBezTo>
                  <a:cubicBezTo>
                    <a:pt x="1263" y="2977"/>
                    <a:pt x="1334" y="3287"/>
                    <a:pt x="1454" y="3525"/>
                  </a:cubicBezTo>
                  <a:cubicBezTo>
                    <a:pt x="953" y="3358"/>
                    <a:pt x="572" y="2953"/>
                    <a:pt x="430" y="2453"/>
                  </a:cubicBezTo>
                  <a:close/>
                  <a:moveTo>
                    <a:pt x="3573" y="2453"/>
                  </a:moveTo>
                  <a:cubicBezTo>
                    <a:pt x="3406" y="2953"/>
                    <a:pt x="3025" y="3358"/>
                    <a:pt x="2549" y="3525"/>
                  </a:cubicBezTo>
                  <a:cubicBezTo>
                    <a:pt x="2668" y="3287"/>
                    <a:pt x="2740" y="2977"/>
                    <a:pt x="2787" y="2644"/>
                  </a:cubicBezTo>
                  <a:cubicBezTo>
                    <a:pt x="2978" y="2620"/>
                    <a:pt x="3168" y="2572"/>
                    <a:pt x="3335" y="2548"/>
                  </a:cubicBezTo>
                  <a:cubicBezTo>
                    <a:pt x="3406" y="2501"/>
                    <a:pt x="3502" y="2477"/>
                    <a:pt x="3573" y="2453"/>
                  </a:cubicBezTo>
                  <a:close/>
                  <a:moveTo>
                    <a:pt x="2406" y="2691"/>
                  </a:moveTo>
                  <a:cubicBezTo>
                    <a:pt x="2382" y="2882"/>
                    <a:pt x="2335" y="3072"/>
                    <a:pt x="2287" y="3215"/>
                  </a:cubicBezTo>
                  <a:cubicBezTo>
                    <a:pt x="2168" y="3525"/>
                    <a:pt x="2049" y="3620"/>
                    <a:pt x="2001" y="3620"/>
                  </a:cubicBezTo>
                  <a:cubicBezTo>
                    <a:pt x="1930" y="3620"/>
                    <a:pt x="1811" y="3525"/>
                    <a:pt x="1715" y="3215"/>
                  </a:cubicBezTo>
                  <a:cubicBezTo>
                    <a:pt x="1668" y="3072"/>
                    <a:pt x="1620" y="2882"/>
                    <a:pt x="1573" y="2691"/>
                  </a:cubicBezTo>
                  <a:close/>
                  <a:moveTo>
                    <a:pt x="2001" y="0"/>
                  </a:moveTo>
                  <a:cubicBezTo>
                    <a:pt x="882" y="0"/>
                    <a:pt x="1" y="881"/>
                    <a:pt x="1" y="2001"/>
                  </a:cubicBezTo>
                  <a:cubicBezTo>
                    <a:pt x="1" y="3096"/>
                    <a:pt x="882" y="4001"/>
                    <a:pt x="2001" y="4001"/>
                  </a:cubicBezTo>
                  <a:cubicBezTo>
                    <a:pt x="3097" y="4001"/>
                    <a:pt x="4002" y="3096"/>
                    <a:pt x="4002" y="2001"/>
                  </a:cubicBezTo>
                  <a:cubicBezTo>
                    <a:pt x="4002" y="881"/>
                    <a:pt x="3097" y="0"/>
                    <a:pt x="2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27;p74">
              <a:extLst>
                <a:ext uri="{FF2B5EF4-FFF2-40B4-BE49-F238E27FC236}">
                  <a16:creationId xmlns:a16="http://schemas.microsoft.com/office/drawing/2014/main" id="{8A5C058F-E74D-B132-AC6F-BA3DB4331C99}"/>
                </a:ext>
              </a:extLst>
            </p:cNvPr>
            <p:cNvSpPr/>
            <p:nvPr/>
          </p:nvSpPr>
          <p:spPr>
            <a:xfrm>
              <a:off x="6820044" y="3018530"/>
              <a:ext cx="133391" cy="48403"/>
            </a:xfrm>
            <a:custGeom>
              <a:avLst/>
              <a:gdLst/>
              <a:ahLst/>
              <a:cxnLst/>
              <a:rect l="l" t="t" r="r" b="b"/>
              <a:pathLst>
                <a:path w="3883" h="1409" extrusionOk="0">
                  <a:moveTo>
                    <a:pt x="3525" y="382"/>
                  </a:moveTo>
                  <a:lnTo>
                    <a:pt x="3525" y="1049"/>
                  </a:lnTo>
                  <a:lnTo>
                    <a:pt x="382" y="1049"/>
                  </a:lnTo>
                  <a:lnTo>
                    <a:pt x="382" y="382"/>
                  </a:lnTo>
                  <a:close/>
                  <a:moveTo>
                    <a:pt x="382" y="1"/>
                  </a:moveTo>
                  <a:cubicBezTo>
                    <a:pt x="167" y="1"/>
                    <a:pt x="0" y="168"/>
                    <a:pt x="0" y="382"/>
                  </a:cubicBezTo>
                  <a:lnTo>
                    <a:pt x="0" y="1049"/>
                  </a:lnTo>
                  <a:cubicBezTo>
                    <a:pt x="0" y="1263"/>
                    <a:pt x="167" y="1406"/>
                    <a:pt x="382" y="1406"/>
                  </a:cubicBezTo>
                  <a:lnTo>
                    <a:pt x="3525" y="1406"/>
                  </a:lnTo>
                  <a:cubicBezTo>
                    <a:pt x="3537" y="1407"/>
                    <a:pt x="3549" y="1408"/>
                    <a:pt x="3561" y="1408"/>
                  </a:cubicBezTo>
                  <a:cubicBezTo>
                    <a:pt x="3736" y="1408"/>
                    <a:pt x="3882" y="1249"/>
                    <a:pt x="3882" y="1049"/>
                  </a:cubicBezTo>
                  <a:lnTo>
                    <a:pt x="3882" y="382"/>
                  </a:lnTo>
                  <a:cubicBezTo>
                    <a:pt x="3882" y="168"/>
                    <a:pt x="3716" y="1"/>
                    <a:pt x="3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28;p74">
              <a:extLst>
                <a:ext uri="{FF2B5EF4-FFF2-40B4-BE49-F238E27FC236}">
                  <a16:creationId xmlns:a16="http://schemas.microsoft.com/office/drawing/2014/main" id="{0EBFFEA2-A060-DC64-4A3D-CA8E304FA7B5}"/>
                </a:ext>
              </a:extLst>
            </p:cNvPr>
            <p:cNvSpPr/>
            <p:nvPr/>
          </p:nvSpPr>
          <p:spPr>
            <a:xfrm>
              <a:off x="6836395" y="3081532"/>
              <a:ext cx="101477" cy="12298"/>
            </a:xfrm>
            <a:custGeom>
              <a:avLst/>
              <a:gdLst/>
              <a:ahLst/>
              <a:cxnLst/>
              <a:rect l="l" t="t" r="r" b="b"/>
              <a:pathLst>
                <a:path w="2954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2763" y="358"/>
                  </a:lnTo>
                  <a:cubicBezTo>
                    <a:pt x="2859" y="358"/>
                    <a:pt x="2954" y="286"/>
                    <a:pt x="2954" y="191"/>
                  </a:cubicBezTo>
                  <a:cubicBezTo>
                    <a:pt x="2954" y="72"/>
                    <a:pt x="2859" y="1"/>
                    <a:pt x="2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29;p74">
              <a:extLst>
                <a:ext uri="{FF2B5EF4-FFF2-40B4-BE49-F238E27FC236}">
                  <a16:creationId xmlns:a16="http://schemas.microsoft.com/office/drawing/2014/main" id="{FA114BBA-1364-99EB-43E9-5FF54CBD7E9A}"/>
                </a:ext>
              </a:extLst>
            </p:cNvPr>
            <p:cNvSpPr/>
            <p:nvPr/>
          </p:nvSpPr>
          <p:spPr>
            <a:xfrm>
              <a:off x="6861782" y="3108533"/>
              <a:ext cx="50739" cy="12298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91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62"/>
                    <a:pt x="71" y="358"/>
                    <a:pt x="191" y="358"/>
                  </a:cubicBezTo>
                  <a:lnTo>
                    <a:pt x="1286" y="358"/>
                  </a:lnTo>
                  <a:cubicBezTo>
                    <a:pt x="1381" y="358"/>
                    <a:pt x="1477" y="262"/>
                    <a:pt x="1477" y="167"/>
                  </a:cubicBezTo>
                  <a:cubicBezTo>
                    <a:pt x="1477" y="72"/>
                    <a:pt x="1381" y="0"/>
                    <a:pt x="1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30;p74">
              <a:extLst>
                <a:ext uri="{FF2B5EF4-FFF2-40B4-BE49-F238E27FC236}">
                  <a16:creationId xmlns:a16="http://schemas.microsoft.com/office/drawing/2014/main" id="{E8503B28-EC21-EAF0-C3DD-CE6B3ABE1AAC}"/>
                </a:ext>
              </a:extLst>
            </p:cNvPr>
            <p:cNvSpPr/>
            <p:nvPr/>
          </p:nvSpPr>
          <p:spPr>
            <a:xfrm>
              <a:off x="6761953" y="2720487"/>
              <a:ext cx="404982" cy="428994"/>
            </a:xfrm>
            <a:custGeom>
              <a:avLst/>
              <a:gdLst/>
              <a:ahLst/>
              <a:cxnLst/>
              <a:rect l="l" t="t" r="r" b="b"/>
              <a:pathLst>
                <a:path w="11789" h="12488" extrusionOk="0">
                  <a:moveTo>
                    <a:pt x="6818" y="0"/>
                  </a:moveTo>
                  <a:cubicBezTo>
                    <a:pt x="6588" y="0"/>
                    <a:pt x="6375" y="160"/>
                    <a:pt x="6311" y="413"/>
                  </a:cubicBezTo>
                  <a:lnTo>
                    <a:pt x="5716" y="3438"/>
                  </a:lnTo>
                  <a:lnTo>
                    <a:pt x="834" y="3438"/>
                  </a:lnTo>
                  <a:cubicBezTo>
                    <a:pt x="382" y="3438"/>
                    <a:pt x="1" y="3819"/>
                    <a:pt x="1" y="4271"/>
                  </a:cubicBezTo>
                  <a:lnTo>
                    <a:pt x="1" y="10320"/>
                  </a:lnTo>
                  <a:cubicBezTo>
                    <a:pt x="1" y="10415"/>
                    <a:pt x="72" y="10511"/>
                    <a:pt x="191" y="10511"/>
                  </a:cubicBezTo>
                  <a:cubicBezTo>
                    <a:pt x="286" y="10511"/>
                    <a:pt x="358" y="10415"/>
                    <a:pt x="358" y="10320"/>
                  </a:cubicBezTo>
                  <a:lnTo>
                    <a:pt x="358" y="4271"/>
                  </a:lnTo>
                  <a:cubicBezTo>
                    <a:pt x="358" y="4009"/>
                    <a:pt x="572" y="3819"/>
                    <a:pt x="834" y="3819"/>
                  </a:cubicBezTo>
                  <a:lnTo>
                    <a:pt x="6907" y="3819"/>
                  </a:lnTo>
                  <a:lnTo>
                    <a:pt x="6907" y="12130"/>
                  </a:lnTo>
                  <a:lnTo>
                    <a:pt x="834" y="12130"/>
                  </a:lnTo>
                  <a:cubicBezTo>
                    <a:pt x="572" y="12130"/>
                    <a:pt x="358" y="11916"/>
                    <a:pt x="358" y="11677"/>
                  </a:cubicBezTo>
                  <a:lnTo>
                    <a:pt x="358" y="11058"/>
                  </a:lnTo>
                  <a:cubicBezTo>
                    <a:pt x="358" y="10963"/>
                    <a:pt x="286" y="10868"/>
                    <a:pt x="191" y="10868"/>
                  </a:cubicBezTo>
                  <a:cubicBezTo>
                    <a:pt x="72" y="10868"/>
                    <a:pt x="1" y="10963"/>
                    <a:pt x="1" y="11058"/>
                  </a:cubicBezTo>
                  <a:lnTo>
                    <a:pt x="1" y="11677"/>
                  </a:lnTo>
                  <a:cubicBezTo>
                    <a:pt x="1" y="12130"/>
                    <a:pt x="382" y="12487"/>
                    <a:pt x="834" y="12487"/>
                  </a:cubicBezTo>
                  <a:lnTo>
                    <a:pt x="7097" y="12487"/>
                  </a:lnTo>
                  <a:cubicBezTo>
                    <a:pt x="7193" y="12487"/>
                    <a:pt x="7288" y="12416"/>
                    <a:pt x="7288" y="12320"/>
                  </a:cubicBezTo>
                  <a:lnTo>
                    <a:pt x="7288" y="12130"/>
                  </a:lnTo>
                  <a:lnTo>
                    <a:pt x="9074" y="12487"/>
                  </a:lnTo>
                  <a:lnTo>
                    <a:pt x="9169" y="12487"/>
                  </a:lnTo>
                  <a:cubicBezTo>
                    <a:pt x="9407" y="12487"/>
                    <a:pt x="9622" y="12320"/>
                    <a:pt x="9669" y="12082"/>
                  </a:cubicBezTo>
                  <a:lnTo>
                    <a:pt x="11741" y="1461"/>
                  </a:lnTo>
                  <a:cubicBezTo>
                    <a:pt x="11789" y="1199"/>
                    <a:pt x="11598" y="913"/>
                    <a:pt x="11336" y="866"/>
                  </a:cubicBezTo>
                  <a:lnTo>
                    <a:pt x="10836" y="770"/>
                  </a:lnTo>
                  <a:cubicBezTo>
                    <a:pt x="10824" y="767"/>
                    <a:pt x="10811" y="766"/>
                    <a:pt x="10799" y="766"/>
                  </a:cubicBezTo>
                  <a:cubicBezTo>
                    <a:pt x="10717" y="766"/>
                    <a:pt x="10643" y="831"/>
                    <a:pt x="10622" y="913"/>
                  </a:cubicBezTo>
                  <a:cubicBezTo>
                    <a:pt x="10598" y="1009"/>
                    <a:pt x="10670" y="1104"/>
                    <a:pt x="10765" y="1128"/>
                  </a:cubicBezTo>
                  <a:lnTo>
                    <a:pt x="11265" y="1223"/>
                  </a:lnTo>
                  <a:cubicBezTo>
                    <a:pt x="11336" y="1247"/>
                    <a:pt x="11384" y="1318"/>
                    <a:pt x="11384" y="1390"/>
                  </a:cubicBezTo>
                  <a:lnTo>
                    <a:pt x="9312" y="12011"/>
                  </a:lnTo>
                  <a:cubicBezTo>
                    <a:pt x="9293" y="12070"/>
                    <a:pt x="9241" y="12112"/>
                    <a:pt x="9183" y="12112"/>
                  </a:cubicBezTo>
                  <a:cubicBezTo>
                    <a:pt x="9171" y="12112"/>
                    <a:pt x="9158" y="12110"/>
                    <a:pt x="9145" y="12106"/>
                  </a:cubicBezTo>
                  <a:lnTo>
                    <a:pt x="7288" y="11749"/>
                  </a:lnTo>
                  <a:lnTo>
                    <a:pt x="7288" y="11130"/>
                  </a:lnTo>
                  <a:lnTo>
                    <a:pt x="7717" y="11225"/>
                  </a:lnTo>
                  <a:cubicBezTo>
                    <a:pt x="7764" y="11225"/>
                    <a:pt x="7812" y="11225"/>
                    <a:pt x="7859" y="11177"/>
                  </a:cubicBezTo>
                  <a:cubicBezTo>
                    <a:pt x="7883" y="11154"/>
                    <a:pt x="7907" y="11106"/>
                    <a:pt x="7931" y="11058"/>
                  </a:cubicBezTo>
                  <a:lnTo>
                    <a:pt x="8645" y="7319"/>
                  </a:lnTo>
                  <a:cubicBezTo>
                    <a:pt x="8669" y="7224"/>
                    <a:pt x="8622" y="7129"/>
                    <a:pt x="8502" y="7105"/>
                  </a:cubicBezTo>
                  <a:cubicBezTo>
                    <a:pt x="8490" y="7102"/>
                    <a:pt x="8477" y="7101"/>
                    <a:pt x="8465" y="7101"/>
                  </a:cubicBezTo>
                  <a:cubicBezTo>
                    <a:pt x="8383" y="7101"/>
                    <a:pt x="8309" y="7165"/>
                    <a:pt x="8288" y="7248"/>
                  </a:cubicBezTo>
                  <a:lnTo>
                    <a:pt x="7597" y="10820"/>
                  </a:lnTo>
                  <a:lnTo>
                    <a:pt x="7288" y="10749"/>
                  </a:lnTo>
                  <a:lnTo>
                    <a:pt x="7288" y="5914"/>
                  </a:lnTo>
                  <a:lnTo>
                    <a:pt x="8502" y="6153"/>
                  </a:lnTo>
                  <a:lnTo>
                    <a:pt x="8431" y="6534"/>
                  </a:lnTo>
                  <a:cubicBezTo>
                    <a:pt x="8407" y="6629"/>
                    <a:pt x="8479" y="6724"/>
                    <a:pt x="8574" y="6748"/>
                  </a:cubicBezTo>
                  <a:lnTo>
                    <a:pt x="8622" y="6748"/>
                  </a:lnTo>
                  <a:cubicBezTo>
                    <a:pt x="8693" y="6748"/>
                    <a:pt x="8788" y="6700"/>
                    <a:pt x="8788" y="6605"/>
                  </a:cubicBezTo>
                  <a:lnTo>
                    <a:pt x="8907" y="6057"/>
                  </a:lnTo>
                  <a:cubicBezTo>
                    <a:pt x="8931" y="5938"/>
                    <a:pt x="8860" y="5843"/>
                    <a:pt x="8764" y="5843"/>
                  </a:cubicBezTo>
                  <a:lnTo>
                    <a:pt x="7288" y="5557"/>
                  </a:lnTo>
                  <a:lnTo>
                    <a:pt x="7288" y="3628"/>
                  </a:lnTo>
                  <a:cubicBezTo>
                    <a:pt x="7288" y="3533"/>
                    <a:pt x="7193" y="3438"/>
                    <a:pt x="7097" y="3438"/>
                  </a:cubicBezTo>
                  <a:lnTo>
                    <a:pt x="6097" y="3438"/>
                  </a:lnTo>
                  <a:lnTo>
                    <a:pt x="6669" y="485"/>
                  </a:lnTo>
                  <a:cubicBezTo>
                    <a:pt x="6688" y="406"/>
                    <a:pt x="6741" y="360"/>
                    <a:pt x="6799" y="360"/>
                  </a:cubicBezTo>
                  <a:cubicBezTo>
                    <a:pt x="6811" y="360"/>
                    <a:pt x="6823" y="362"/>
                    <a:pt x="6835" y="366"/>
                  </a:cubicBezTo>
                  <a:lnTo>
                    <a:pt x="10050" y="985"/>
                  </a:lnTo>
                  <a:cubicBezTo>
                    <a:pt x="10063" y="988"/>
                    <a:pt x="10075" y="989"/>
                    <a:pt x="10088" y="989"/>
                  </a:cubicBezTo>
                  <a:cubicBezTo>
                    <a:pt x="10169" y="989"/>
                    <a:pt x="10244" y="925"/>
                    <a:pt x="10265" y="842"/>
                  </a:cubicBezTo>
                  <a:cubicBezTo>
                    <a:pt x="10289" y="747"/>
                    <a:pt x="10217" y="651"/>
                    <a:pt x="10122" y="628"/>
                  </a:cubicBezTo>
                  <a:lnTo>
                    <a:pt x="6907" y="8"/>
                  </a:lnTo>
                  <a:cubicBezTo>
                    <a:pt x="6877" y="3"/>
                    <a:pt x="6847" y="0"/>
                    <a:pt x="68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274;p74">
            <a:extLst>
              <a:ext uri="{FF2B5EF4-FFF2-40B4-BE49-F238E27FC236}">
                <a16:creationId xmlns:a16="http://schemas.microsoft.com/office/drawing/2014/main" id="{93271CBF-11C8-657B-477D-DB0FA8BAB863}"/>
              </a:ext>
            </a:extLst>
          </p:cNvPr>
          <p:cNvGrpSpPr/>
          <p:nvPr/>
        </p:nvGrpSpPr>
        <p:grpSpPr>
          <a:xfrm>
            <a:off x="4473388" y="2268546"/>
            <a:ext cx="197218" cy="429028"/>
            <a:chOff x="4124437" y="2720453"/>
            <a:chExt cx="197218" cy="429028"/>
          </a:xfrm>
          <a:solidFill>
            <a:schemeClr val="accent2"/>
          </a:solidFill>
        </p:grpSpPr>
        <p:sp>
          <p:nvSpPr>
            <p:cNvPr id="18" name="Google Shape;1275;p74">
              <a:extLst>
                <a:ext uri="{FF2B5EF4-FFF2-40B4-BE49-F238E27FC236}">
                  <a16:creationId xmlns:a16="http://schemas.microsoft.com/office/drawing/2014/main" id="{C77CD170-5BF7-3EC4-AE63-12328027F476}"/>
                </a:ext>
              </a:extLst>
            </p:cNvPr>
            <p:cNvSpPr/>
            <p:nvPr/>
          </p:nvSpPr>
          <p:spPr>
            <a:xfrm>
              <a:off x="4124437" y="2720453"/>
              <a:ext cx="197218" cy="429028"/>
            </a:xfrm>
            <a:custGeom>
              <a:avLst/>
              <a:gdLst/>
              <a:ahLst/>
              <a:cxnLst/>
              <a:rect l="l" t="t" r="r" b="b"/>
              <a:pathLst>
                <a:path w="5741" h="12489" extrusionOk="0">
                  <a:moveTo>
                    <a:pt x="1930" y="2439"/>
                  </a:moveTo>
                  <a:cubicBezTo>
                    <a:pt x="2430" y="2439"/>
                    <a:pt x="2811" y="2558"/>
                    <a:pt x="3073" y="2772"/>
                  </a:cubicBezTo>
                  <a:cubicBezTo>
                    <a:pt x="3180" y="2864"/>
                    <a:pt x="3296" y="2906"/>
                    <a:pt x="3417" y="2906"/>
                  </a:cubicBezTo>
                  <a:cubicBezTo>
                    <a:pt x="3484" y="2906"/>
                    <a:pt x="3552" y="2893"/>
                    <a:pt x="3621" y="2867"/>
                  </a:cubicBezTo>
                  <a:lnTo>
                    <a:pt x="4097" y="2677"/>
                  </a:lnTo>
                  <a:cubicBezTo>
                    <a:pt x="4117" y="2667"/>
                    <a:pt x="4140" y="2661"/>
                    <a:pt x="4165" y="2661"/>
                  </a:cubicBezTo>
                  <a:cubicBezTo>
                    <a:pt x="4200" y="2661"/>
                    <a:pt x="4236" y="2673"/>
                    <a:pt x="4264" y="2700"/>
                  </a:cubicBezTo>
                  <a:cubicBezTo>
                    <a:pt x="4311" y="2724"/>
                    <a:pt x="4335" y="2772"/>
                    <a:pt x="4335" y="2843"/>
                  </a:cubicBezTo>
                  <a:lnTo>
                    <a:pt x="4335" y="4463"/>
                  </a:lnTo>
                  <a:cubicBezTo>
                    <a:pt x="4335" y="5272"/>
                    <a:pt x="3668" y="5915"/>
                    <a:pt x="2882" y="5915"/>
                  </a:cubicBezTo>
                  <a:cubicBezTo>
                    <a:pt x="2073" y="5915"/>
                    <a:pt x="1406" y="5272"/>
                    <a:pt x="1406" y="4463"/>
                  </a:cubicBezTo>
                  <a:lnTo>
                    <a:pt x="1406" y="2629"/>
                  </a:lnTo>
                  <a:cubicBezTo>
                    <a:pt x="1406" y="2534"/>
                    <a:pt x="1477" y="2462"/>
                    <a:pt x="1573" y="2462"/>
                  </a:cubicBezTo>
                  <a:cubicBezTo>
                    <a:pt x="1692" y="2439"/>
                    <a:pt x="1811" y="2439"/>
                    <a:pt x="1930" y="2439"/>
                  </a:cubicBezTo>
                  <a:close/>
                  <a:moveTo>
                    <a:pt x="3454" y="6201"/>
                  </a:moveTo>
                  <a:lnTo>
                    <a:pt x="3454" y="6677"/>
                  </a:lnTo>
                  <a:cubicBezTo>
                    <a:pt x="3454" y="6844"/>
                    <a:pt x="3478" y="6987"/>
                    <a:pt x="3525" y="7130"/>
                  </a:cubicBezTo>
                  <a:lnTo>
                    <a:pt x="2882" y="7535"/>
                  </a:lnTo>
                  <a:lnTo>
                    <a:pt x="2216" y="7130"/>
                  </a:lnTo>
                  <a:cubicBezTo>
                    <a:pt x="2263" y="6987"/>
                    <a:pt x="2287" y="6844"/>
                    <a:pt x="2287" y="6677"/>
                  </a:cubicBezTo>
                  <a:lnTo>
                    <a:pt x="2287" y="6201"/>
                  </a:lnTo>
                  <a:cubicBezTo>
                    <a:pt x="2477" y="6249"/>
                    <a:pt x="2668" y="6296"/>
                    <a:pt x="2882" y="6296"/>
                  </a:cubicBezTo>
                  <a:cubicBezTo>
                    <a:pt x="3073" y="6296"/>
                    <a:pt x="3263" y="6249"/>
                    <a:pt x="3454" y="6201"/>
                  </a:cubicBezTo>
                  <a:close/>
                  <a:moveTo>
                    <a:pt x="2025" y="7463"/>
                  </a:moveTo>
                  <a:lnTo>
                    <a:pt x="2597" y="7797"/>
                  </a:lnTo>
                  <a:cubicBezTo>
                    <a:pt x="2573" y="7821"/>
                    <a:pt x="2287" y="8154"/>
                    <a:pt x="2263" y="8154"/>
                  </a:cubicBezTo>
                  <a:lnTo>
                    <a:pt x="1763" y="7725"/>
                  </a:lnTo>
                  <a:cubicBezTo>
                    <a:pt x="1858" y="7654"/>
                    <a:pt x="1954" y="7559"/>
                    <a:pt x="2025" y="7463"/>
                  </a:cubicBezTo>
                  <a:close/>
                  <a:moveTo>
                    <a:pt x="3716" y="7463"/>
                  </a:moveTo>
                  <a:cubicBezTo>
                    <a:pt x="3787" y="7559"/>
                    <a:pt x="3883" y="7654"/>
                    <a:pt x="3978" y="7725"/>
                  </a:cubicBezTo>
                  <a:lnTo>
                    <a:pt x="3478" y="8154"/>
                  </a:lnTo>
                  <a:cubicBezTo>
                    <a:pt x="3430" y="8130"/>
                    <a:pt x="3192" y="7844"/>
                    <a:pt x="3144" y="7797"/>
                  </a:cubicBezTo>
                  <a:lnTo>
                    <a:pt x="3716" y="7463"/>
                  </a:lnTo>
                  <a:close/>
                  <a:moveTo>
                    <a:pt x="1430" y="7916"/>
                  </a:moveTo>
                  <a:lnTo>
                    <a:pt x="2168" y="8559"/>
                  </a:lnTo>
                  <a:cubicBezTo>
                    <a:pt x="2216" y="8583"/>
                    <a:pt x="2239" y="8606"/>
                    <a:pt x="2287" y="8606"/>
                  </a:cubicBezTo>
                  <a:lnTo>
                    <a:pt x="2311" y="8606"/>
                  </a:lnTo>
                  <a:lnTo>
                    <a:pt x="2239" y="9226"/>
                  </a:lnTo>
                  <a:lnTo>
                    <a:pt x="1096" y="8130"/>
                  </a:lnTo>
                  <a:lnTo>
                    <a:pt x="1430" y="7916"/>
                  </a:lnTo>
                  <a:close/>
                  <a:moveTo>
                    <a:pt x="4311" y="7916"/>
                  </a:moveTo>
                  <a:lnTo>
                    <a:pt x="4645" y="8130"/>
                  </a:lnTo>
                  <a:lnTo>
                    <a:pt x="3478" y="9249"/>
                  </a:lnTo>
                  <a:lnTo>
                    <a:pt x="3430" y="8606"/>
                  </a:lnTo>
                  <a:lnTo>
                    <a:pt x="3454" y="8606"/>
                  </a:lnTo>
                  <a:cubicBezTo>
                    <a:pt x="3501" y="8606"/>
                    <a:pt x="3525" y="8583"/>
                    <a:pt x="3573" y="8559"/>
                  </a:cubicBezTo>
                  <a:lnTo>
                    <a:pt x="4311" y="7916"/>
                  </a:lnTo>
                  <a:close/>
                  <a:moveTo>
                    <a:pt x="2882" y="8035"/>
                  </a:moveTo>
                  <a:lnTo>
                    <a:pt x="3025" y="8202"/>
                  </a:lnTo>
                  <a:lnTo>
                    <a:pt x="3144" y="9559"/>
                  </a:lnTo>
                  <a:lnTo>
                    <a:pt x="2882" y="9821"/>
                  </a:lnTo>
                  <a:lnTo>
                    <a:pt x="2597" y="9559"/>
                  </a:lnTo>
                  <a:lnTo>
                    <a:pt x="2692" y="8225"/>
                  </a:lnTo>
                  <a:lnTo>
                    <a:pt x="2882" y="8035"/>
                  </a:lnTo>
                  <a:close/>
                  <a:moveTo>
                    <a:pt x="358" y="10369"/>
                  </a:moveTo>
                  <a:cubicBezTo>
                    <a:pt x="596" y="10774"/>
                    <a:pt x="882" y="11393"/>
                    <a:pt x="882" y="12131"/>
                  </a:cubicBezTo>
                  <a:lnTo>
                    <a:pt x="715" y="12131"/>
                  </a:lnTo>
                  <a:cubicBezTo>
                    <a:pt x="525" y="12131"/>
                    <a:pt x="358" y="11988"/>
                    <a:pt x="358" y="11774"/>
                  </a:cubicBezTo>
                  <a:lnTo>
                    <a:pt x="358" y="10369"/>
                  </a:lnTo>
                  <a:close/>
                  <a:moveTo>
                    <a:pt x="5383" y="10369"/>
                  </a:moveTo>
                  <a:lnTo>
                    <a:pt x="5383" y="11774"/>
                  </a:lnTo>
                  <a:cubicBezTo>
                    <a:pt x="5383" y="11988"/>
                    <a:pt x="5216" y="12131"/>
                    <a:pt x="5026" y="12131"/>
                  </a:cubicBezTo>
                  <a:lnTo>
                    <a:pt x="4859" y="12131"/>
                  </a:lnTo>
                  <a:cubicBezTo>
                    <a:pt x="4859" y="11393"/>
                    <a:pt x="5145" y="10774"/>
                    <a:pt x="5383" y="10369"/>
                  </a:cubicBezTo>
                  <a:close/>
                  <a:moveTo>
                    <a:pt x="1885" y="0"/>
                  </a:moveTo>
                  <a:cubicBezTo>
                    <a:pt x="1508" y="0"/>
                    <a:pt x="1128" y="141"/>
                    <a:pt x="858" y="390"/>
                  </a:cubicBezTo>
                  <a:cubicBezTo>
                    <a:pt x="763" y="462"/>
                    <a:pt x="763" y="581"/>
                    <a:pt x="834" y="652"/>
                  </a:cubicBezTo>
                  <a:cubicBezTo>
                    <a:pt x="870" y="688"/>
                    <a:pt x="918" y="706"/>
                    <a:pt x="965" y="706"/>
                  </a:cubicBezTo>
                  <a:cubicBezTo>
                    <a:pt x="1013" y="706"/>
                    <a:pt x="1060" y="688"/>
                    <a:pt x="1096" y="652"/>
                  </a:cubicBezTo>
                  <a:cubicBezTo>
                    <a:pt x="1311" y="460"/>
                    <a:pt x="1621" y="363"/>
                    <a:pt x="1924" y="363"/>
                  </a:cubicBezTo>
                  <a:cubicBezTo>
                    <a:pt x="1958" y="363"/>
                    <a:pt x="1992" y="364"/>
                    <a:pt x="2025" y="367"/>
                  </a:cubicBezTo>
                  <a:cubicBezTo>
                    <a:pt x="2597" y="438"/>
                    <a:pt x="3001" y="605"/>
                    <a:pt x="3216" y="843"/>
                  </a:cubicBezTo>
                  <a:cubicBezTo>
                    <a:pt x="3263" y="914"/>
                    <a:pt x="3359" y="962"/>
                    <a:pt x="3478" y="962"/>
                  </a:cubicBezTo>
                  <a:cubicBezTo>
                    <a:pt x="3573" y="962"/>
                    <a:pt x="3668" y="914"/>
                    <a:pt x="3716" y="819"/>
                  </a:cubicBezTo>
                  <a:lnTo>
                    <a:pt x="3740" y="819"/>
                  </a:lnTo>
                  <a:cubicBezTo>
                    <a:pt x="3900" y="610"/>
                    <a:pt x="4104" y="532"/>
                    <a:pt x="4293" y="532"/>
                  </a:cubicBezTo>
                  <a:cubicBezTo>
                    <a:pt x="4384" y="532"/>
                    <a:pt x="4472" y="550"/>
                    <a:pt x="4549" y="581"/>
                  </a:cubicBezTo>
                  <a:cubicBezTo>
                    <a:pt x="4787" y="652"/>
                    <a:pt x="5049" y="891"/>
                    <a:pt x="5049" y="1272"/>
                  </a:cubicBezTo>
                  <a:lnTo>
                    <a:pt x="5049" y="2867"/>
                  </a:lnTo>
                  <a:cubicBezTo>
                    <a:pt x="5049" y="3058"/>
                    <a:pt x="4883" y="3201"/>
                    <a:pt x="4716" y="3201"/>
                  </a:cubicBezTo>
                  <a:lnTo>
                    <a:pt x="4692" y="3201"/>
                  </a:lnTo>
                  <a:lnTo>
                    <a:pt x="4692" y="2843"/>
                  </a:lnTo>
                  <a:cubicBezTo>
                    <a:pt x="4692" y="2653"/>
                    <a:pt x="4621" y="2486"/>
                    <a:pt x="4454" y="2391"/>
                  </a:cubicBezTo>
                  <a:cubicBezTo>
                    <a:pt x="4368" y="2333"/>
                    <a:pt x="4264" y="2302"/>
                    <a:pt x="4158" y="2302"/>
                  </a:cubicBezTo>
                  <a:cubicBezTo>
                    <a:pt x="4089" y="2302"/>
                    <a:pt x="4020" y="2315"/>
                    <a:pt x="3954" y="2343"/>
                  </a:cubicBezTo>
                  <a:lnTo>
                    <a:pt x="3478" y="2534"/>
                  </a:lnTo>
                  <a:cubicBezTo>
                    <a:pt x="3464" y="2541"/>
                    <a:pt x="3448" y="2544"/>
                    <a:pt x="3431" y="2544"/>
                  </a:cubicBezTo>
                  <a:cubicBezTo>
                    <a:pt x="3390" y="2544"/>
                    <a:pt x="3345" y="2527"/>
                    <a:pt x="3311" y="2510"/>
                  </a:cubicBezTo>
                  <a:cubicBezTo>
                    <a:pt x="2974" y="2212"/>
                    <a:pt x="2504" y="2063"/>
                    <a:pt x="1902" y="2063"/>
                  </a:cubicBezTo>
                  <a:cubicBezTo>
                    <a:pt x="1782" y="2063"/>
                    <a:pt x="1656" y="2069"/>
                    <a:pt x="1525" y="2081"/>
                  </a:cubicBezTo>
                  <a:cubicBezTo>
                    <a:pt x="1239" y="2105"/>
                    <a:pt x="1049" y="2343"/>
                    <a:pt x="1049" y="2629"/>
                  </a:cubicBezTo>
                  <a:lnTo>
                    <a:pt x="1049" y="3201"/>
                  </a:lnTo>
                  <a:lnTo>
                    <a:pt x="1025" y="3201"/>
                  </a:lnTo>
                  <a:cubicBezTo>
                    <a:pt x="858" y="3201"/>
                    <a:pt x="691" y="3058"/>
                    <a:pt x="691" y="2867"/>
                  </a:cubicBezTo>
                  <a:lnTo>
                    <a:pt x="691" y="1534"/>
                  </a:lnTo>
                  <a:cubicBezTo>
                    <a:pt x="691" y="1414"/>
                    <a:pt x="715" y="1319"/>
                    <a:pt x="739" y="1200"/>
                  </a:cubicBezTo>
                  <a:cubicBezTo>
                    <a:pt x="787" y="1105"/>
                    <a:pt x="715" y="1010"/>
                    <a:pt x="620" y="962"/>
                  </a:cubicBezTo>
                  <a:cubicBezTo>
                    <a:pt x="604" y="958"/>
                    <a:pt x="587" y="956"/>
                    <a:pt x="571" y="956"/>
                  </a:cubicBezTo>
                  <a:cubicBezTo>
                    <a:pt x="494" y="956"/>
                    <a:pt x="425" y="1002"/>
                    <a:pt x="406" y="1081"/>
                  </a:cubicBezTo>
                  <a:cubicBezTo>
                    <a:pt x="358" y="1248"/>
                    <a:pt x="334" y="1391"/>
                    <a:pt x="334" y="1534"/>
                  </a:cubicBezTo>
                  <a:lnTo>
                    <a:pt x="334" y="2867"/>
                  </a:lnTo>
                  <a:cubicBezTo>
                    <a:pt x="334" y="3248"/>
                    <a:pt x="644" y="3558"/>
                    <a:pt x="1025" y="3558"/>
                  </a:cubicBezTo>
                  <a:lnTo>
                    <a:pt x="1049" y="3558"/>
                  </a:lnTo>
                  <a:lnTo>
                    <a:pt x="1049" y="4463"/>
                  </a:lnTo>
                  <a:cubicBezTo>
                    <a:pt x="1049" y="5130"/>
                    <a:pt x="1406" y="5701"/>
                    <a:pt x="1930" y="6034"/>
                  </a:cubicBezTo>
                  <a:lnTo>
                    <a:pt x="1930" y="6677"/>
                  </a:lnTo>
                  <a:cubicBezTo>
                    <a:pt x="1930" y="6939"/>
                    <a:pt x="1834" y="7178"/>
                    <a:pt x="1644" y="7344"/>
                  </a:cubicBezTo>
                  <a:cubicBezTo>
                    <a:pt x="1549" y="7416"/>
                    <a:pt x="1525" y="7440"/>
                    <a:pt x="858" y="7844"/>
                  </a:cubicBezTo>
                  <a:cubicBezTo>
                    <a:pt x="334" y="8154"/>
                    <a:pt x="1" y="8725"/>
                    <a:pt x="1" y="9368"/>
                  </a:cubicBezTo>
                  <a:lnTo>
                    <a:pt x="1" y="11774"/>
                  </a:lnTo>
                  <a:cubicBezTo>
                    <a:pt x="1" y="12179"/>
                    <a:pt x="310" y="12488"/>
                    <a:pt x="715" y="12488"/>
                  </a:cubicBezTo>
                  <a:lnTo>
                    <a:pt x="1620" y="12488"/>
                  </a:lnTo>
                  <a:cubicBezTo>
                    <a:pt x="1715" y="12488"/>
                    <a:pt x="1811" y="12417"/>
                    <a:pt x="1811" y="12321"/>
                  </a:cubicBezTo>
                  <a:cubicBezTo>
                    <a:pt x="1811" y="12226"/>
                    <a:pt x="1715" y="12131"/>
                    <a:pt x="1620" y="12131"/>
                  </a:cubicBezTo>
                  <a:lnTo>
                    <a:pt x="1239" y="12131"/>
                  </a:lnTo>
                  <a:cubicBezTo>
                    <a:pt x="1263" y="10893"/>
                    <a:pt x="548" y="9964"/>
                    <a:pt x="358" y="9726"/>
                  </a:cubicBezTo>
                  <a:lnTo>
                    <a:pt x="358" y="9368"/>
                  </a:lnTo>
                  <a:cubicBezTo>
                    <a:pt x="358" y="8964"/>
                    <a:pt x="525" y="8606"/>
                    <a:pt x="787" y="8344"/>
                  </a:cubicBezTo>
                  <a:lnTo>
                    <a:pt x="2739" y="10202"/>
                  </a:lnTo>
                  <a:cubicBezTo>
                    <a:pt x="2787" y="10250"/>
                    <a:pt x="2835" y="10250"/>
                    <a:pt x="2858" y="10250"/>
                  </a:cubicBezTo>
                  <a:cubicBezTo>
                    <a:pt x="2906" y="10250"/>
                    <a:pt x="2954" y="10250"/>
                    <a:pt x="3001" y="10202"/>
                  </a:cubicBezTo>
                  <a:lnTo>
                    <a:pt x="4954" y="8344"/>
                  </a:lnTo>
                  <a:cubicBezTo>
                    <a:pt x="5216" y="8606"/>
                    <a:pt x="5383" y="8964"/>
                    <a:pt x="5383" y="9368"/>
                  </a:cubicBezTo>
                  <a:lnTo>
                    <a:pt x="5383" y="9726"/>
                  </a:lnTo>
                  <a:cubicBezTo>
                    <a:pt x="5192" y="9964"/>
                    <a:pt x="4478" y="10893"/>
                    <a:pt x="4502" y="12131"/>
                  </a:cubicBezTo>
                  <a:lnTo>
                    <a:pt x="2358" y="12131"/>
                  </a:lnTo>
                  <a:cubicBezTo>
                    <a:pt x="2263" y="12131"/>
                    <a:pt x="2168" y="12226"/>
                    <a:pt x="2168" y="12321"/>
                  </a:cubicBezTo>
                  <a:cubicBezTo>
                    <a:pt x="2168" y="12417"/>
                    <a:pt x="2263" y="12488"/>
                    <a:pt x="2358" y="12488"/>
                  </a:cubicBezTo>
                  <a:lnTo>
                    <a:pt x="5026" y="12488"/>
                  </a:lnTo>
                  <a:cubicBezTo>
                    <a:pt x="5430" y="12488"/>
                    <a:pt x="5740" y="12179"/>
                    <a:pt x="5740" y="11774"/>
                  </a:cubicBezTo>
                  <a:lnTo>
                    <a:pt x="5740" y="9368"/>
                  </a:lnTo>
                  <a:cubicBezTo>
                    <a:pt x="5740" y="8725"/>
                    <a:pt x="5407" y="8154"/>
                    <a:pt x="4883" y="7844"/>
                  </a:cubicBezTo>
                  <a:cubicBezTo>
                    <a:pt x="4216" y="7440"/>
                    <a:pt x="4192" y="7416"/>
                    <a:pt x="4097" y="7344"/>
                  </a:cubicBezTo>
                  <a:cubicBezTo>
                    <a:pt x="3906" y="7178"/>
                    <a:pt x="3811" y="6939"/>
                    <a:pt x="3811" y="6677"/>
                  </a:cubicBezTo>
                  <a:lnTo>
                    <a:pt x="3811" y="6034"/>
                  </a:lnTo>
                  <a:cubicBezTo>
                    <a:pt x="4335" y="5701"/>
                    <a:pt x="4692" y="5130"/>
                    <a:pt x="4692" y="4463"/>
                  </a:cubicBezTo>
                  <a:lnTo>
                    <a:pt x="4692" y="3558"/>
                  </a:lnTo>
                  <a:lnTo>
                    <a:pt x="4716" y="3558"/>
                  </a:lnTo>
                  <a:cubicBezTo>
                    <a:pt x="5097" y="3558"/>
                    <a:pt x="5407" y="3248"/>
                    <a:pt x="5407" y="2867"/>
                  </a:cubicBezTo>
                  <a:lnTo>
                    <a:pt x="5407" y="1272"/>
                  </a:lnTo>
                  <a:cubicBezTo>
                    <a:pt x="5407" y="795"/>
                    <a:pt x="5121" y="390"/>
                    <a:pt x="4668" y="224"/>
                  </a:cubicBezTo>
                  <a:cubicBezTo>
                    <a:pt x="4552" y="187"/>
                    <a:pt x="4433" y="169"/>
                    <a:pt x="4317" y="169"/>
                  </a:cubicBezTo>
                  <a:cubicBezTo>
                    <a:pt x="3983" y="169"/>
                    <a:pt x="3666" y="316"/>
                    <a:pt x="3454" y="581"/>
                  </a:cubicBezTo>
                  <a:cubicBezTo>
                    <a:pt x="3192" y="271"/>
                    <a:pt x="2739" y="81"/>
                    <a:pt x="2049" y="9"/>
                  </a:cubicBezTo>
                  <a:cubicBezTo>
                    <a:pt x="1994" y="3"/>
                    <a:pt x="1940" y="0"/>
                    <a:pt x="18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76;p74">
              <a:extLst>
                <a:ext uri="{FF2B5EF4-FFF2-40B4-BE49-F238E27FC236}">
                  <a16:creationId xmlns:a16="http://schemas.microsoft.com/office/drawing/2014/main" id="{5FE11277-A0F1-A923-67E9-61CCDB1FBAA7}"/>
                </a:ext>
              </a:extLst>
            </p:cNvPr>
            <p:cNvSpPr/>
            <p:nvPr/>
          </p:nvSpPr>
          <p:spPr>
            <a:xfrm>
              <a:off x="4203791" y="2884349"/>
              <a:ext cx="38509" cy="16420"/>
            </a:xfrm>
            <a:custGeom>
              <a:avLst/>
              <a:gdLst/>
              <a:ahLst/>
              <a:cxnLst/>
              <a:rect l="l" t="t" r="r" b="b"/>
              <a:pathLst>
                <a:path w="1121" h="478" extrusionOk="0">
                  <a:moveTo>
                    <a:pt x="198" y="0"/>
                  </a:moveTo>
                  <a:cubicBezTo>
                    <a:pt x="140" y="0"/>
                    <a:pt x="79" y="27"/>
                    <a:pt x="48" y="73"/>
                  </a:cubicBezTo>
                  <a:cubicBezTo>
                    <a:pt x="1" y="168"/>
                    <a:pt x="25" y="287"/>
                    <a:pt x="96" y="335"/>
                  </a:cubicBezTo>
                  <a:cubicBezTo>
                    <a:pt x="263" y="430"/>
                    <a:pt x="406" y="478"/>
                    <a:pt x="572" y="478"/>
                  </a:cubicBezTo>
                  <a:cubicBezTo>
                    <a:pt x="715" y="478"/>
                    <a:pt x="858" y="430"/>
                    <a:pt x="1025" y="335"/>
                  </a:cubicBezTo>
                  <a:cubicBezTo>
                    <a:pt x="1096" y="287"/>
                    <a:pt x="1120" y="168"/>
                    <a:pt x="1072" y="73"/>
                  </a:cubicBezTo>
                  <a:cubicBezTo>
                    <a:pt x="1042" y="27"/>
                    <a:pt x="981" y="0"/>
                    <a:pt x="923" y="0"/>
                  </a:cubicBezTo>
                  <a:cubicBezTo>
                    <a:pt x="891" y="0"/>
                    <a:pt x="860" y="8"/>
                    <a:pt x="834" y="25"/>
                  </a:cubicBezTo>
                  <a:cubicBezTo>
                    <a:pt x="739" y="85"/>
                    <a:pt x="650" y="114"/>
                    <a:pt x="560" y="114"/>
                  </a:cubicBezTo>
                  <a:cubicBezTo>
                    <a:pt x="471" y="114"/>
                    <a:pt x="382" y="85"/>
                    <a:pt x="287" y="25"/>
                  </a:cubicBezTo>
                  <a:cubicBezTo>
                    <a:pt x="261" y="8"/>
                    <a:pt x="230" y="0"/>
                    <a:pt x="1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77;p74">
              <a:extLst>
                <a:ext uri="{FF2B5EF4-FFF2-40B4-BE49-F238E27FC236}">
                  <a16:creationId xmlns:a16="http://schemas.microsoft.com/office/drawing/2014/main" id="{413920E5-734B-F39E-9AF7-B53CD3EC4781}"/>
                </a:ext>
              </a:extLst>
            </p:cNvPr>
            <p:cNvSpPr/>
            <p:nvPr/>
          </p:nvSpPr>
          <p:spPr>
            <a:xfrm>
              <a:off x="4191528" y="2846733"/>
              <a:ext cx="12298" cy="18860"/>
            </a:xfrm>
            <a:custGeom>
              <a:avLst/>
              <a:gdLst/>
              <a:ahLst/>
              <a:cxnLst/>
              <a:rect l="l" t="t" r="r" b="b"/>
              <a:pathLst>
                <a:path w="358" h="549" extrusionOk="0">
                  <a:moveTo>
                    <a:pt x="191" y="1"/>
                  </a:moveTo>
                  <a:cubicBezTo>
                    <a:pt x="72" y="1"/>
                    <a:pt x="1" y="72"/>
                    <a:pt x="1" y="191"/>
                  </a:cubicBezTo>
                  <a:lnTo>
                    <a:pt x="1" y="358"/>
                  </a:lnTo>
                  <a:cubicBezTo>
                    <a:pt x="1" y="453"/>
                    <a:pt x="72" y="549"/>
                    <a:pt x="191" y="549"/>
                  </a:cubicBezTo>
                  <a:cubicBezTo>
                    <a:pt x="286" y="549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72"/>
                    <a:pt x="286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78;p74">
              <a:extLst>
                <a:ext uri="{FF2B5EF4-FFF2-40B4-BE49-F238E27FC236}">
                  <a16:creationId xmlns:a16="http://schemas.microsoft.com/office/drawing/2014/main" id="{0F4155D9-8950-1138-93F4-F6D787CB5348}"/>
                </a:ext>
              </a:extLst>
            </p:cNvPr>
            <p:cNvSpPr/>
            <p:nvPr/>
          </p:nvSpPr>
          <p:spPr>
            <a:xfrm>
              <a:off x="4242266" y="2846733"/>
              <a:ext cx="12298" cy="18860"/>
            </a:xfrm>
            <a:custGeom>
              <a:avLst/>
              <a:gdLst/>
              <a:ahLst/>
              <a:cxnLst/>
              <a:rect l="l" t="t" r="r" b="b"/>
              <a:pathLst>
                <a:path w="358" h="549" extrusionOk="0">
                  <a:moveTo>
                    <a:pt x="167" y="1"/>
                  </a:moveTo>
                  <a:cubicBezTo>
                    <a:pt x="71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71" y="549"/>
                    <a:pt x="167" y="549"/>
                  </a:cubicBezTo>
                  <a:cubicBezTo>
                    <a:pt x="286" y="549"/>
                    <a:pt x="357" y="453"/>
                    <a:pt x="357" y="358"/>
                  </a:cubicBezTo>
                  <a:lnTo>
                    <a:pt x="357" y="191"/>
                  </a:lnTo>
                  <a:cubicBezTo>
                    <a:pt x="357" y="72"/>
                    <a:pt x="28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79;p74">
              <a:extLst>
                <a:ext uri="{FF2B5EF4-FFF2-40B4-BE49-F238E27FC236}">
                  <a16:creationId xmlns:a16="http://schemas.microsoft.com/office/drawing/2014/main" id="{9255126F-95B0-A76C-5E92-1543B911DF97}"/>
                </a:ext>
              </a:extLst>
            </p:cNvPr>
            <p:cNvSpPr/>
            <p:nvPr/>
          </p:nvSpPr>
          <p:spPr>
            <a:xfrm>
              <a:off x="4252057" y="3082357"/>
              <a:ext cx="26211" cy="12298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86"/>
                    <a:pt x="72" y="358"/>
                    <a:pt x="168" y="358"/>
                  </a:cubicBezTo>
                  <a:lnTo>
                    <a:pt x="572" y="358"/>
                  </a:lnTo>
                  <a:cubicBezTo>
                    <a:pt x="691" y="358"/>
                    <a:pt x="763" y="286"/>
                    <a:pt x="763" y="167"/>
                  </a:cubicBezTo>
                  <a:cubicBezTo>
                    <a:pt x="763" y="72"/>
                    <a:pt x="691" y="0"/>
                    <a:pt x="5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1420;p74">
            <a:extLst>
              <a:ext uri="{FF2B5EF4-FFF2-40B4-BE49-F238E27FC236}">
                <a16:creationId xmlns:a16="http://schemas.microsoft.com/office/drawing/2014/main" id="{41A2D18F-77C6-7D0E-A627-59DFE8D9749C}"/>
              </a:ext>
            </a:extLst>
          </p:cNvPr>
          <p:cNvGrpSpPr/>
          <p:nvPr/>
        </p:nvGrpSpPr>
        <p:grpSpPr>
          <a:xfrm>
            <a:off x="6352031" y="2268065"/>
            <a:ext cx="319925" cy="429509"/>
            <a:chOff x="4063084" y="3364597"/>
            <a:chExt cx="319925" cy="429509"/>
          </a:xfrm>
          <a:solidFill>
            <a:schemeClr val="accent2"/>
          </a:solidFill>
        </p:grpSpPr>
        <p:sp>
          <p:nvSpPr>
            <p:cNvPr id="24" name="Google Shape;1421;p74">
              <a:extLst>
                <a:ext uri="{FF2B5EF4-FFF2-40B4-BE49-F238E27FC236}">
                  <a16:creationId xmlns:a16="http://schemas.microsoft.com/office/drawing/2014/main" id="{984358D8-62BC-5CBC-C5B2-E31AAF4CA981}"/>
                </a:ext>
              </a:extLst>
            </p:cNvPr>
            <p:cNvSpPr/>
            <p:nvPr/>
          </p:nvSpPr>
          <p:spPr>
            <a:xfrm>
              <a:off x="4121998" y="3525092"/>
              <a:ext cx="73652" cy="61251"/>
            </a:xfrm>
            <a:custGeom>
              <a:avLst/>
              <a:gdLst/>
              <a:ahLst/>
              <a:cxnLst/>
              <a:rect l="l" t="t" r="r" b="b"/>
              <a:pathLst>
                <a:path w="2144" h="1783" extrusionOk="0">
                  <a:moveTo>
                    <a:pt x="1072" y="663"/>
                  </a:moveTo>
                  <a:lnTo>
                    <a:pt x="786" y="925"/>
                  </a:lnTo>
                  <a:cubicBezTo>
                    <a:pt x="739" y="861"/>
                    <a:pt x="680" y="829"/>
                    <a:pt x="619" y="829"/>
                  </a:cubicBezTo>
                  <a:cubicBezTo>
                    <a:pt x="588" y="829"/>
                    <a:pt x="556" y="837"/>
                    <a:pt x="524" y="853"/>
                  </a:cubicBezTo>
                  <a:cubicBezTo>
                    <a:pt x="429" y="901"/>
                    <a:pt x="405" y="1020"/>
                    <a:pt x="453" y="1115"/>
                  </a:cubicBezTo>
                  <a:lnTo>
                    <a:pt x="572" y="1282"/>
                  </a:lnTo>
                  <a:cubicBezTo>
                    <a:pt x="596" y="1330"/>
                    <a:pt x="643" y="1353"/>
                    <a:pt x="691" y="1377"/>
                  </a:cubicBezTo>
                  <a:lnTo>
                    <a:pt x="739" y="1377"/>
                  </a:lnTo>
                  <a:cubicBezTo>
                    <a:pt x="762" y="1377"/>
                    <a:pt x="810" y="1353"/>
                    <a:pt x="858" y="1330"/>
                  </a:cubicBezTo>
                  <a:lnTo>
                    <a:pt x="1096" y="1115"/>
                  </a:lnTo>
                  <a:lnTo>
                    <a:pt x="1096" y="1425"/>
                  </a:lnTo>
                  <a:lnTo>
                    <a:pt x="358" y="1425"/>
                  </a:lnTo>
                  <a:lnTo>
                    <a:pt x="358" y="663"/>
                  </a:lnTo>
                  <a:close/>
                  <a:moveTo>
                    <a:pt x="1940" y="0"/>
                  </a:moveTo>
                  <a:cubicBezTo>
                    <a:pt x="1902" y="0"/>
                    <a:pt x="1864" y="14"/>
                    <a:pt x="1834" y="44"/>
                  </a:cubicBezTo>
                  <a:lnTo>
                    <a:pt x="1429" y="377"/>
                  </a:lnTo>
                  <a:cubicBezTo>
                    <a:pt x="1405" y="329"/>
                    <a:pt x="1334" y="306"/>
                    <a:pt x="1286" y="306"/>
                  </a:cubicBezTo>
                  <a:lnTo>
                    <a:pt x="167" y="306"/>
                  </a:lnTo>
                  <a:cubicBezTo>
                    <a:pt x="72" y="306"/>
                    <a:pt x="0" y="377"/>
                    <a:pt x="0" y="496"/>
                  </a:cubicBezTo>
                  <a:lnTo>
                    <a:pt x="0" y="1592"/>
                  </a:lnTo>
                  <a:cubicBezTo>
                    <a:pt x="0" y="1711"/>
                    <a:pt x="72" y="1782"/>
                    <a:pt x="167" y="1782"/>
                  </a:cubicBezTo>
                  <a:lnTo>
                    <a:pt x="1286" y="1782"/>
                  </a:lnTo>
                  <a:cubicBezTo>
                    <a:pt x="1382" y="1782"/>
                    <a:pt x="1477" y="1711"/>
                    <a:pt x="1477" y="1592"/>
                  </a:cubicBezTo>
                  <a:lnTo>
                    <a:pt x="1477" y="806"/>
                  </a:lnTo>
                  <a:lnTo>
                    <a:pt x="2048" y="329"/>
                  </a:lnTo>
                  <a:cubicBezTo>
                    <a:pt x="2144" y="258"/>
                    <a:pt x="2144" y="139"/>
                    <a:pt x="2072" y="67"/>
                  </a:cubicBezTo>
                  <a:cubicBezTo>
                    <a:pt x="2044" y="26"/>
                    <a:pt x="1993" y="0"/>
                    <a:pt x="19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22;p74">
              <a:extLst>
                <a:ext uri="{FF2B5EF4-FFF2-40B4-BE49-F238E27FC236}">
                  <a16:creationId xmlns:a16="http://schemas.microsoft.com/office/drawing/2014/main" id="{BA5B03D7-E1B2-8BF8-998C-A0447ADCCD99}"/>
                </a:ext>
              </a:extLst>
            </p:cNvPr>
            <p:cNvSpPr/>
            <p:nvPr/>
          </p:nvSpPr>
          <p:spPr>
            <a:xfrm>
              <a:off x="4191528" y="3542921"/>
              <a:ext cx="37685" cy="13123"/>
            </a:xfrm>
            <a:custGeom>
              <a:avLst/>
              <a:gdLst/>
              <a:ahLst/>
              <a:cxnLst/>
              <a:rect l="l" t="t" r="r" b="b"/>
              <a:pathLst>
                <a:path w="1097" h="38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7"/>
                    <a:pt x="96" y="382"/>
                    <a:pt x="191" y="382"/>
                  </a:cubicBezTo>
                  <a:lnTo>
                    <a:pt x="905" y="382"/>
                  </a:lnTo>
                  <a:cubicBezTo>
                    <a:pt x="1001" y="382"/>
                    <a:pt x="1096" y="287"/>
                    <a:pt x="1096" y="191"/>
                  </a:cubicBezTo>
                  <a:cubicBezTo>
                    <a:pt x="1096" y="96"/>
                    <a:pt x="1001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23;p74">
              <a:extLst>
                <a:ext uri="{FF2B5EF4-FFF2-40B4-BE49-F238E27FC236}">
                  <a16:creationId xmlns:a16="http://schemas.microsoft.com/office/drawing/2014/main" id="{4FA395B8-4F16-2C02-98EE-7C126A08C15C}"/>
                </a:ext>
              </a:extLst>
            </p:cNvPr>
            <p:cNvSpPr/>
            <p:nvPr/>
          </p:nvSpPr>
          <p:spPr>
            <a:xfrm>
              <a:off x="4191528" y="3565834"/>
              <a:ext cx="131742" cy="13123"/>
            </a:xfrm>
            <a:custGeom>
              <a:avLst/>
              <a:gdLst/>
              <a:ahLst/>
              <a:cxnLst/>
              <a:rect l="l" t="t" r="r" b="b"/>
              <a:pathLst>
                <a:path w="3835" h="38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2"/>
                    <a:pt x="191" y="382"/>
                  </a:cubicBezTo>
                  <a:lnTo>
                    <a:pt x="3644" y="382"/>
                  </a:lnTo>
                  <a:cubicBezTo>
                    <a:pt x="3763" y="382"/>
                    <a:pt x="3835" y="286"/>
                    <a:pt x="3835" y="191"/>
                  </a:cubicBezTo>
                  <a:cubicBezTo>
                    <a:pt x="3835" y="96"/>
                    <a:pt x="3763" y="1"/>
                    <a:pt x="36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24;p74">
              <a:extLst>
                <a:ext uri="{FF2B5EF4-FFF2-40B4-BE49-F238E27FC236}">
                  <a16:creationId xmlns:a16="http://schemas.microsoft.com/office/drawing/2014/main" id="{82F0D3D3-AE64-24A2-3756-F0D25ED6743F}"/>
                </a:ext>
              </a:extLst>
            </p:cNvPr>
            <p:cNvSpPr/>
            <p:nvPr/>
          </p:nvSpPr>
          <p:spPr>
            <a:xfrm>
              <a:off x="4121998" y="3598228"/>
              <a:ext cx="73652" cy="60907"/>
            </a:xfrm>
            <a:custGeom>
              <a:avLst/>
              <a:gdLst/>
              <a:ahLst/>
              <a:cxnLst/>
              <a:rect l="l" t="t" r="r" b="b"/>
              <a:pathLst>
                <a:path w="2144" h="1773" extrusionOk="0">
                  <a:moveTo>
                    <a:pt x="1072" y="677"/>
                  </a:moveTo>
                  <a:lnTo>
                    <a:pt x="786" y="915"/>
                  </a:lnTo>
                  <a:cubicBezTo>
                    <a:pt x="739" y="852"/>
                    <a:pt x="680" y="820"/>
                    <a:pt x="619" y="820"/>
                  </a:cubicBezTo>
                  <a:cubicBezTo>
                    <a:pt x="588" y="820"/>
                    <a:pt x="556" y="828"/>
                    <a:pt x="524" y="844"/>
                  </a:cubicBezTo>
                  <a:cubicBezTo>
                    <a:pt x="429" y="891"/>
                    <a:pt x="405" y="1010"/>
                    <a:pt x="453" y="1106"/>
                  </a:cubicBezTo>
                  <a:lnTo>
                    <a:pt x="572" y="1272"/>
                  </a:lnTo>
                  <a:cubicBezTo>
                    <a:pt x="596" y="1320"/>
                    <a:pt x="643" y="1368"/>
                    <a:pt x="691" y="1368"/>
                  </a:cubicBezTo>
                  <a:lnTo>
                    <a:pt x="739" y="1368"/>
                  </a:lnTo>
                  <a:cubicBezTo>
                    <a:pt x="762" y="1368"/>
                    <a:pt x="810" y="1344"/>
                    <a:pt x="858" y="1320"/>
                  </a:cubicBezTo>
                  <a:lnTo>
                    <a:pt x="1096" y="1106"/>
                  </a:lnTo>
                  <a:lnTo>
                    <a:pt x="1096" y="1415"/>
                  </a:lnTo>
                  <a:lnTo>
                    <a:pt x="358" y="1415"/>
                  </a:lnTo>
                  <a:lnTo>
                    <a:pt x="358" y="677"/>
                  </a:lnTo>
                  <a:close/>
                  <a:moveTo>
                    <a:pt x="1948" y="1"/>
                  </a:moveTo>
                  <a:cubicBezTo>
                    <a:pt x="1908" y="1"/>
                    <a:pt x="1866" y="13"/>
                    <a:pt x="1834" y="34"/>
                  </a:cubicBezTo>
                  <a:lnTo>
                    <a:pt x="1429" y="367"/>
                  </a:lnTo>
                  <a:cubicBezTo>
                    <a:pt x="1405" y="320"/>
                    <a:pt x="1334" y="296"/>
                    <a:pt x="1286" y="296"/>
                  </a:cubicBezTo>
                  <a:lnTo>
                    <a:pt x="167" y="296"/>
                  </a:lnTo>
                  <a:cubicBezTo>
                    <a:pt x="72" y="296"/>
                    <a:pt x="0" y="391"/>
                    <a:pt x="0" y="487"/>
                  </a:cubicBezTo>
                  <a:lnTo>
                    <a:pt x="0" y="1606"/>
                  </a:lnTo>
                  <a:cubicBezTo>
                    <a:pt x="0" y="1701"/>
                    <a:pt x="72" y="1773"/>
                    <a:pt x="167" y="1773"/>
                  </a:cubicBezTo>
                  <a:lnTo>
                    <a:pt x="1286" y="1773"/>
                  </a:lnTo>
                  <a:cubicBezTo>
                    <a:pt x="1382" y="1773"/>
                    <a:pt x="1477" y="1701"/>
                    <a:pt x="1477" y="1606"/>
                  </a:cubicBezTo>
                  <a:lnTo>
                    <a:pt x="1477" y="820"/>
                  </a:lnTo>
                  <a:lnTo>
                    <a:pt x="2048" y="320"/>
                  </a:lnTo>
                  <a:cubicBezTo>
                    <a:pt x="2144" y="272"/>
                    <a:pt x="2144" y="153"/>
                    <a:pt x="2072" y="58"/>
                  </a:cubicBezTo>
                  <a:cubicBezTo>
                    <a:pt x="2046" y="19"/>
                    <a:pt x="1998" y="1"/>
                    <a:pt x="19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25;p74">
              <a:extLst>
                <a:ext uri="{FF2B5EF4-FFF2-40B4-BE49-F238E27FC236}">
                  <a16:creationId xmlns:a16="http://schemas.microsoft.com/office/drawing/2014/main" id="{EC3C23E1-A28D-1F32-9E1E-A55786AEF239}"/>
                </a:ext>
              </a:extLst>
            </p:cNvPr>
            <p:cNvSpPr/>
            <p:nvPr/>
          </p:nvSpPr>
          <p:spPr>
            <a:xfrm>
              <a:off x="4191528" y="3616572"/>
              <a:ext cx="37685" cy="12298"/>
            </a:xfrm>
            <a:custGeom>
              <a:avLst/>
              <a:gdLst/>
              <a:ahLst/>
              <a:cxnLst/>
              <a:rect l="l" t="t" r="r" b="b"/>
              <a:pathLst>
                <a:path w="1097" h="358" extrusionOk="0"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cubicBezTo>
                    <a:pt x="1" y="286"/>
                    <a:pt x="96" y="357"/>
                    <a:pt x="191" y="357"/>
                  </a:cubicBezTo>
                  <a:lnTo>
                    <a:pt x="905" y="357"/>
                  </a:lnTo>
                  <a:cubicBezTo>
                    <a:pt x="1001" y="357"/>
                    <a:pt x="1096" y="286"/>
                    <a:pt x="1096" y="167"/>
                  </a:cubicBezTo>
                  <a:cubicBezTo>
                    <a:pt x="1096" y="72"/>
                    <a:pt x="1001" y="0"/>
                    <a:pt x="9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26;p74">
              <a:extLst>
                <a:ext uri="{FF2B5EF4-FFF2-40B4-BE49-F238E27FC236}">
                  <a16:creationId xmlns:a16="http://schemas.microsoft.com/office/drawing/2014/main" id="{95B02335-A162-1605-0796-0AAAA96E6761}"/>
                </a:ext>
              </a:extLst>
            </p:cNvPr>
            <p:cNvSpPr/>
            <p:nvPr/>
          </p:nvSpPr>
          <p:spPr>
            <a:xfrm>
              <a:off x="4191528" y="3638661"/>
              <a:ext cx="131742" cy="13123"/>
            </a:xfrm>
            <a:custGeom>
              <a:avLst/>
              <a:gdLst/>
              <a:ahLst/>
              <a:cxnLst/>
              <a:rect l="l" t="t" r="r" b="b"/>
              <a:pathLst>
                <a:path w="3835" h="382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3644" y="381"/>
                  </a:lnTo>
                  <a:cubicBezTo>
                    <a:pt x="3763" y="381"/>
                    <a:pt x="3835" y="286"/>
                    <a:pt x="3835" y="191"/>
                  </a:cubicBezTo>
                  <a:cubicBezTo>
                    <a:pt x="3835" y="95"/>
                    <a:pt x="3763" y="0"/>
                    <a:pt x="3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27;p74">
              <a:extLst>
                <a:ext uri="{FF2B5EF4-FFF2-40B4-BE49-F238E27FC236}">
                  <a16:creationId xmlns:a16="http://schemas.microsoft.com/office/drawing/2014/main" id="{C394399E-F07C-7F12-578F-CF960E70AD49}"/>
                </a:ext>
              </a:extLst>
            </p:cNvPr>
            <p:cNvSpPr/>
            <p:nvPr/>
          </p:nvSpPr>
          <p:spPr>
            <a:xfrm>
              <a:off x="4121998" y="3671262"/>
              <a:ext cx="73652" cy="60667"/>
            </a:xfrm>
            <a:custGeom>
              <a:avLst/>
              <a:gdLst/>
              <a:ahLst/>
              <a:cxnLst/>
              <a:rect l="l" t="t" r="r" b="b"/>
              <a:pathLst>
                <a:path w="2144" h="1766" extrusionOk="0">
                  <a:moveTo>
                    <a:pt x="1072" y="671"/>
                  </a:moveTo>
                  <a:lnTo>
                    <a:pt x="786" y="909"/>
                  </a:lnTo>
                  <a:cubicBezTo>
                    <a:pt x="739" y="845"/>
                    <a:pt x="680" y="813"/>
                    <a:pt x="619" y="813"/>
                  </a:cubicBezTo>
                  <a:cubicBezTo>
                    <a:pt x="588" y="813"/>
                    <a:pt x="556" y="821"/>
                    <a:pt x="524" y="837"/>
                  </a:cubicBezTo>
                  <a:cubicBezTo>
                    <a:pt x="429" y="909"/>
                    <a:pt x="405" y="1004"/>
                    <a:pt x="453" y="1099"/>
                  </a:cubicBezTo>
                  <a:lnTo>
                    <a:pt x="572" y="1290"/>
                  </a:lnTo>
                  <a:cubicBezTo>
                    <a:pt x="596" y="1314"/>
                    <a:pt x="643" y="1361"/>
                    <a:pt x="691" y="1361"/>
                  </a:cubicBezTo>
                  <a:lnTo>
                    <a:pt x="739" y="1361"/>
                  </a:lnTo>
                  <a:cubicBezTo>
                    <a:pt x="762" y="1361"/>
                    <a:pt x="810" y="1361"/>
                    <a:pt x="858" y="1337"/>
                  </a:cubicBezTo>
                  <a:lnTo>
                    <a:pt x="1096" y="1123"/>
                  </a:lnTo>
                  <a:lnTo>
                    <a:pt x="1096" y="1409"/>
                  </a:lnTo>
                  <a:lnTo>
                    <a:pt x="358" y="1409"/>
                  </a:lnTo>
                  <a:lnTo>
                    <a:pt x="358" y="671"/>
                  </a:lnTo>
                  <a:close/>
                  <a:moveTo>
                    <a:pt x="1952" y="0"/>
                  </a:moveTo>
                  <a:cubicBezTo>
                    <a:pt x="1911" y="0"/>
                    <a:pt x="1867" y="18"/>
                    <a:pt x="1834" y="51"/>
                  </a:cubicBezTo>
                  <a:lnTo>
                    <a:pt x="1429" y="361"/>
                  </a:lnTo>
                  <a:cubicBezTo>
                    <a:pt x="1405" y="337"/>
                    <a:pt x="1334" y="290"/>
                    <a:pt x="1286" y="290"/>
                  </a:cubicBezTo>
                  <a:lnTo>
                    <a:pt x="167" y="290"/>
                  </a:lnTo>
                  <a:cubicBezTo>
                    <a:pt x="72" y="290"/>
                    <a:pt x="0" y="385"/>
                    <a:pt x="0" y="480"/>
                  </a:cubicBezTo>
                  <a:lnTo>
                    <a:pt x="0" y="1599"/>
                  </a:lnTo>
                  <a:cubicBezTo>
                    <a:pt x="0" y="1695"/>
                    <a:pt x="72" y="1766"/>
                    <a:pt x="167" y="1766"/>
                  </a:cubicBezTo>
                  <a:lnTo>
                    <a:pt x="1286" y="1766"/>
                  </a:lnTo>
                  <a:cubicBezTo>
                    <a:pt x="1382" y="1766"/>
                    <a:pt x="1477" y="1695"/>
                    <a:pt x="1477" y="1599"/>
                  </a:cubicBezTo>
                  <a:lnTo>
                    <a:pt x="1477" y="813"/>
                  </a:lnTo>
                  <a:lnTo>
                    <a:pt x="2048" y="313"/>
                  </a:lnTo>
                  <a:cubicBezTo>
                    <a:pt x="2144" y="266"/>
                    <a:pt x="2144" y="147"/>
                    <a:pt x="2072" y="75"/>
                  </a:cubicBezTo>
                  <a:cubicBezTo>
                    <a:pt x="2047" y="24"/>
                    <a:pt x="2001" y="0"/>
                    <a:pt x="19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28;p74">
              <a:extLst>
                <a:ext uri="{FF2B5EF4-FFF2-40B4-BE49-F238E27FC236}">
                  <a16:creationId xmlns:a16="http://schemas.microsoft.com/office/drawing/2014/main" id="{80272A12-EBE1-9D73-6163-7F69682E5143}"/>
                </a:ext>
              </a:extLst>
            </p:cNvPr>
            <p:cNvSpPr/>
            <p:nvPr/>
          </p:nvSpPr>
          <p:spPr>
            <a:xfrm>
              <a:off x="4191528" y="3689365"/>
              <a:ext cx="37685" cy="12298"/>
            </a:xfrm>
            <a:custGeom>
              <a:avLst/>
              <a:gdLst/>
              <a:ahLst/>
              <a:cxnLst/>
              <a:rect l="l" t="t" r="r" b="b"/>
              <a:pathLst>
                <a:path w="1097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905" y="358"/>
                  </a:lnTo>
                  <a:cubicBezTo>
                    <a:pt x="1001" y="358"/>
                    <a:pt x="1096" y="286"/>
                    <a:pt x="1096" y="191"/>
                  </a:cubicBezTo>
                  <a:cubicBezTo>
                    <a:pt x="1096" y="72"/>
                    <a:pt x="1001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29;p74">
              <a:extLst>
                <a:ext uri="{FF2B5EF4-FFF2-40B4-BE49-F238E27FC236}">
                  <a16:creationId xmlns:a16="http://schemas.microsoft.com/office/drawing/2014/main" id="{C0EA09B1-8240-B3A9-3BC2-71EE636058E7}"/>
                </a:ext>
              </a:extLst>
            </p:cNvPr>
            <p:cNvSpPr/>
            <p:nvPr/>
          </p:nvSpPr>
          <p:spPr>
            <a:xfrm>
              <a:off x="4191528" y="3712278"/>
              <a:ext cx="131742" cy="12298"/>
            </a:xfrm>
            <a:custGeom>
              <a:avLst/>
              <a:gdLst/>
              <a:ahLst/>
              <a:cxnLst/>
              <a:rect l="l" t="t" r="r" b="b"/>
              <a:pathLst>
                <a:path w="3835" h="358" extrusionOk="0"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3644" y="358"/>
                  </a:lnTo>
                  <a:cubicBezTo>
                    <a:pt x="3763" y="358"/>
                    <a:pt x="3835" y="286"/>
                    <a:pt x="3835" y="167"/>
                  </a:cubicBezTo>
                  <a:cubicBezTo>
                    <a:pt x="3835" y="72"/>
                    <a:pt x="3763" y="0"/>
                    <a:pt x="3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30;p74">
              <a:extLst>
                <a:ext uri="{FF2B5EF4-FFF2-40B4-BE49-F238E27FC236}">
                  <a16:creationId xmlns:a16="http://schemas.microsoft.com/office/drawing/2014/main" id="{63A51F1A-226E-AEFA-66D9-1FE551A656CE}"/>
                </a:ext>
              </a:extLst>
            </p:cNvPr>
            <p:cNvSpPr/>
            <p:nvPr/>
          </p:nvSpPr>
          <p:spPr>
            <a:xfrm>
              <a:off x="4195616" y="3391598"/>
              <a:ext cx="54861" cy="12298"/>
            </a:xfrm>
            <a:custGeom>
              <a:avLst/>
              <a:gdLst/>
              <a:ahLst/>
              <a:cxnLst/>
              <a:rect l="l" t="t" r="r" b="b"/>
              <a:pathLst>
                <a:path w="1597" h="358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86"/>
                    <a:pt x="72" y="357"/>
                    <a:pt x="167" y="357"/>
                  </a:cubicBezTo>
                  <a:lnTo>
                    <a:pt x="1429" y="357"/>
                  </a:lnTo>
                  <a:cubicBezTo>
                    <a:pt x="1525" y="357"/>
                    <a:pt x="1596" y="286"/>
                    <a:pt x="1596" y="167"/>
                  </a:cubicBezTo>
                  <a:cubicBezTo>
                    <a:pt x="1596" y="72"/>
                    <a:pt x="1525" y="0"/>
                    <a:pt x="14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31;p74">
              <a:extLst>
                <a:ext uri="{FF2B5EF4-FFF2-40B4-BE49-F238E27FC236}">
                  <a16:creationId xmlns:a16="http://schemas.microsoft.com/office/drawing/2014/main" id="{48865EDA-97A4-068D-4E75-996971C8A5D1}"/>
                </a:ext>
              </a:extLst>
            </p:cNvPr>
            <p:cNvSpPr/>
            <p:nvPr/>
          </p:nvSpPr>
          <p:spPr>
            <a:xfrm>
              <a:off x="4063084" y="3364597"/>
              <a:ext cx="319925" cy="429509"/>
            </a:xfrm>
            <a:custGeom>
              <a:avLst/>
              <a:gdLst/>
              <a:ahLst/>
              <a:cxnLst/>
              <a:rect l="l" t="t" r="r" b="b"/>
              <a:pathLst>
                <a:path w="9313" h="12503" extrusionOk="0">
                  <a:moveTo>
                    <a:pt x="644" y="0"/>
                  </a:moveTo>
                  <a:cubicBezTo>
                    <a:pt x="286" y="0"/>
                    <a:pt x="1" y="286"/>
                    <a:pt x="1" y="643"/>
                  </a:cubicBezTo>
                  <a:lnTo>
                    <a:pt x="1" y="11860"/>
                  </a:lnTo>
                  <a:cubicBezTo>
                    <a:pt x="1" y="12217"/>
                    <a:pt x="286" y="12503"/>
                    <a:pt x="644" y="12503"/>
                  </a:cubicBezTo>
                  <a:lnTo>
                    <a:pt x="8669" y="12503"/>
                  </a:lnTo>
                  <a:cubicBezTo>
                    <a:pt x="9026" y="12503"/>
                    <a:pt x="9312" y="12217"/>
                    <a:pt x="9312" y="11860"/>
                  </a:cubicBezTo>
                  <a:lnTo>
                    <a:pt x="9312" y="5216"/>
                  </a:lnTo>
                  <a:cubicBezTo>
                    <a:pt x="9312" y="5120"/>
                    <a:pt x="9241" y="5049"/>
                    <a:pt x="9122" y="5049"/>
                  </a:cubicBezTo>
                  <a:cubicBezTo>
                    <a:pt x="9026" y="5049"/>
                    <a:pt x="8955" y="5120"/>
                    <a:pt x="8955" y="5216"/>
                  </a:cubicBezTo>
                  <a:lnTo>
                    <a:pt x="8955" y="11860"/>
                  </a:lnTo>
                  <a:cubicBezTo>
                    <a:pt x="8955" y="12027"/>
                    <a:pt x="8836" y="12146"/>
                    <a:pt x="8669" y="12146"/>
                  </a:cubicBezTo>
                  <a:lnTo>
                    <a:pt x="644" y="12146"/>
                  </a:lnTo>
                  <a:cubicBezTo>
                    <a:pt x="477" y="12146"/>
                    <a:pt x="358" y="12027"/>
                    <a:pt x="358" y="11860"/>
                  </a:cubicBezTo>
                  <a:lnTo>
                    <a:pt x="358" y="643"/>
                  </a:lnTo>
                  <a:cubicBezTo>
                    <a:pt x="358" y="477"/>
                    <a:pt x="477" y="358"/>
                    <a:pt x="644" y="358"/>
                  </a:cubicBezTo>
                  <a:lnTo>
                    <a:pt x="2763" y="358"/>
                  </a:lnTo>
                  <a:lnTo>
                    <a:pt x="2882" y="739"/>
                  </a:lnTo>
                  <a:lnTo>
                    <a:pt x="906" y="739"/>
                  </a:lnTo>
                  <a:cubicBezTo>
                    <a:pt x="810" y="739"/>
                    <a:pt x="739" y="810"/>
                    <a:pt x="739" y="905"/>
                  </a:cubicBezTo>
                  <a:lnTo>
                    <a:pt x="739" y="10145"/>
                  </a:lnTo>
                  <a:cubicBezTo>
                    <a:pt x="739" y="10264"/>
                    <a:pt x="810" y="10336"/>
                    <a:pt x="906" y="10336"/>
                  </a:cubicBezTo>
                  <a:cubicBezTo>
                    <a:pt x="1025" y="10336"/>
                    <a:pt x="1096" y="10264"/>
                    <a:pt x="1096" y="10145"/>
                  </a:cubicBezTo>
                  <a:lnTo>
                    <a:pt x="1096" y="1096"/>
                  </a:lnTo>
                  <a:lnTo>
                    <a:pt x="3001" y="1096"/>
                  </a:lnTo>
                  <a:lnTo>
                    <a:pt x="3120" y="1429"/>
                  </a:lnTo>
                  <a:cubicBezTo>
                    <a:pt x="3216" y="1715"/>
                    <a:pt x="3501" y="1929"/>
                    <a:pt x="3835" y="1929"/>
                  </a:cubicBezTo>
                  <a:lnTo>
                    <a:pt x="4311" y="1929"/>
                  </a:lnTo>
                  <a:cubicBezTo>
                    <a:pt x="4430" y="1929"/>
                    <a:pt x="4502" y="1834"/>
                    <a:pt x="4502" y="1739"/>
                  </a:cubicBezTo>
                  <a:cubicBezTo>
                    <a:pt x="4502" y="1644"/>
                    <a:pt x="4430" y="1572"/>
                    <a:pt x="4311" y="1572"/>
                  </a:cubicBezTo>
                  <a:lnTo>
                    <a:pt x="3835" y="1572"/>
                  </a:lnTo>
                  <a:cubicBezTo>
                    <a:pt x="3668" y="1572"/>
                    <a:pt x="3525" y="1453"/>
                    <a:pt x="3478" y="1310"/>
                  </a:cubicBezTo>
                  <a:lnTo>
                    <a:pt x="3144" y="358"/>
                  </a:lnTo>
                  <a:lnTo>
                    <a:pt x="6169" y="358"/>
                  </a:lnTo>
                  <a:lnTo>
                    <a:pt x="5835" y="1310"/>
                  </a:lnTo>
                  <a:cubicBezTo>
                    <a:pt x="5788" y="1453"/>
                    <a:pt x="5645" y="1572"/>
                    <a:pt x="5478" y="1572"/>
                  </a:cubicBezTo>
                  <a:lnTo>
                    <a:pt x="5049" y="1572"/>
                  </a:lnTo>
                  <a:cubicBezTo>
                    <a:pt x="4954" y="1572"/>
                    <a:pt x="4883" y="1644"/>
                    <a:pt x="4883" y="1739"/>
                  </a:cubicBezTo>
                  <a:cubicBezTo>
                    <a:pt x="4883" y="1834"/>
                    <a:pt x="4954" y="1929"/>
                    <a:pt x="5049" y="1929"/>
                  </a:cubicBezTo>
                  <a:lnTo>
                    <a:pt x="5478" y="1929"/>
                  </a:lnTo>
                  <a:cubicBezTo>
                    <a:pt x="5811" y="1929"/>
                    <a:pt x="6073" y="1739"/>
                    <a:pt x="6192" y="1429"/>
                  </a:cubicBezTo>
                  <a:lnTo>
                    <a:pt x="6312" y="1096"/>
                  </a:lnTo>
                  <a:lnTo>
                    <a:pt x="8217" y="1096"/>
                  </a:lnTo>
                  <a:lnTo>
                    <a:pt x="8217" y="11407"/>
                  </a:lnTo>
                  <a:lnTo>
                    <a:pt x="1096" y="11407"/>
                  </a:lnTo>
                  <a:lnTo>
                    <a:pt x="1096" y="10884"/>
                  </a:lnTo>
                  <a:cubicBezTo>
                    <a:pt x="1096" y="10788"/>
                    <a:pt x="1025" y="10693"/>
                    <a:pt x="906" y="10693"/>
                  </a:cubicBezTo>
                  <a:cubicBezTo>
                    <a:pt x="810" y="10693"/>
                    <a:pt x="739" y="10788"/>
                    <a:pt x="739" y="10884"/>
                  </a:cubicBezTo>
                  <a:lnTo>
                    <a:pt x="739" y="11598"/>
                  </a:lnTo>
                  <a:cubicBezTo>
                    <a:pt x="739" y="11693"/>
                    <a:pt x="810" y="11765"/>
                    <a:pt x="906" y="11765"/>
                  </a:cubicBezTo>
                  <a:lnTo>
                    <a:pt x="8407" y="11765"/>
                  </a:lnTo>
                  <a:cubicBezTo>
                    <a:pt x="8502" y="11765"/>
                    <a:pt x="8574" y="11693"/>
                    <a:pt x="8574" y="11598"/>
                  </a:cubicBezTo>
                  <a:lnTo>
                    <a:pt x="8574" y="905"/>
                  </a:lnTo>
                  <a:cubicBezTo>
                    <a:pt x="8574" y="810"/>
                    <a:pt x="8502" y="739"/>
                    <a:pt x="8407" y="739"/>
                  </a:cubicBezTo>
                  <a:lnTo>
                    <a:pt x="6431" y="739"/>
                  </a:lnTo>
                  <a:lnTo>
                    <a:pt x="6550" y="358"/>
                  </a:lnTo>
                  <a:lnTo>
                    <a:pt x="8669" y="358"/>
                  </a:lnTo>
                  <a:cubicBezTo>
                    <a:pt x="8836" y="358"/>
                    <a:pt x="8955" y="477"/>
                    <a:pt x="8955" y="643"/>
                  </a:cubicBezTo>
                  <a:lnTo>
                    <a:pt x="8955" y="4501"/>
                  </a:lnTo>
                  <a:cubicBezTo>
                    <a:pt x="8955" y="4597"/>
                    <a:pt x="9026" y="4668"/>
                    <a:pt x="9122" y="4668"/>
                  </a:cubicBezTo>
                  <a:cubicBezTo>
                    <a:pt x="9241" y="4668"/>
                    <a:pt x="9312" y="4597"/>
                    <a:pt x="9312" y="4501"/>
                  </a:cubicBezTo>
                  <a:lnTo>
                    <a:pt x="9312" y="643"/>
                  </a:lnTo>
                  <a:cubicBezTo>
                    <a:pt x="9312" y="286"/>
                    <a:pt x="9026" y="0"/>
                    <a:pt x="86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32;p74">
              <a:extLst>
                <a:ext uri="{FF2B5EF4-FFF2-40B4-BE49-F238E27FC236}">
                  <a16:creationId xmlns:a16="http://schemas.microsoft.com/office/drawing/2014/main" id="{8083E1C9-EA64-980D-458A-90586CDC6CB9}"/>
                </a:ext>
              </a:extLst>
            </p:cNvPr>
            <p:cNvSpPr/>
            <p:nvPr/>
          </p:nvSpPr>
          <p:spPr>
            <a:xfrm>
              <a:off x="4173527" y="3447215"/>
              <a:ext cx="99038" cy="69564"/>
            </a:xfrm>
            <a:custGeom>
              <a:avLst/>
              <a:gdLst/>
              <a:ahLst/>
              <a:cxnLst/>
              <a:rect l="l" t="t" r="r" b="b"/>
              <a:pathLst>
                <a:path w="2883" h="2025" extrusionOk="0">
                  <a:moveTo>
                    <a:pt x="2690" y="1"/>
                  </a:moveTo>
                  <a:cubicBezTo>
                    <a:pt x="2660" y="1"/>
                    <a:pt x="2628" y="9"/>
                    <a:pt x="2596" y="24"/>
                  </a:cubicBezTo>
                  <a:lnTo>
                    <a:pt x="1691" y="525"/>
                  </a:lnTo>
                  <a:lnTo>
                    <a:pt x="715" y="72"/>
                  </a:lnTo>
                  <a:cubicBezTo>
                    <a:pt x="688" y="59"/>
                    <a:pt x="662" y="53"/>
                    <a:pt x="636" y="53"/>
                  </a:cubicBezTo>
                  <a:cubicBezTo>
                    <a:pt x="570" y="53"/>
                    <a:pt x="511" y="92"/>
                    <a:pt x="477" y="143"/>
                  </a:cubicBezTo>
                  <a:cubicBezTo>
                    <a:pt x="429" y="239"/>
                    <a:pt x="477" y="358"/>
                    <a:pt x="572" y="405"/>
                  </a:cubicBezTo>
                  <a:lnTo>
                    <a:pt x="1310" y="739"/>
                  </a:lnTo>
                  <a:lnTo>
                    <a:pt x="596" y="1144"/>
                  </a:lnTo>
                  <a:lnTo>
                    <a:pt x="358" y="667"/>
                  </a:lnTo>
                  <a:cubicBezTo>
                    <a:pt x="326" y="604"/>
                    <a:pt x="273" y="572"/>
                    <a:pt x="213" y="572"/>
                  </a:cubicBezTo>
                  <a:cubicBezTo>
                    <a:pt x="183" y="572"/>
                    <a:pt x="151" y="580"/>
                    <a:pt x="120" y="596"/>
                  </a:cubicBezTo>
                  <a:cubicBezTo>
                    <a:pt x="24" y="620"/>
                    <a:pt x="1" y="739"/>
                    <a:pt x="48" y="834"/>
                  </a:cubicBezTo>
                  <a:lnTo>
                    <a:pt x="358" y="1477"/>
                  </a:lnTo>
                  <a:cubicBezTo>
                    <a:pt x="382" y="1525"/>
                    <a:pt x="405" y="1549"/>
                    <a:pt x="453" y="1572"/>
                  </a:cubicBezTo>
                  <a:lnTo>
                    <a:pt x="525" y="1572"/>
                  </a:lnTo>
                  <a:cubicBezTo>
                    <a:pt x="548" y="1572"/>
                    <a:pt x="572" y="1572"/>
                    <a:pt x="596" y="1549"/>
                  </a:cubicBezTo>
                  <a:lnTo>
                    <a:pt x="1429" y="1096"/>
                  </a:lnTo>
                  <a:lnTo>
                    <a:pt x="1429" y="1096"/>
                  </a:lnTo>
                  <a:lnTo>
                    <a:pt x="1239" y="1810"/>
                  </a:lnTo>
                  <a:cubicBezTo>
                    <a:pt x="1215" y="1906"/>
                    <a:pt x="1287" y="2001"/>
                    <a:pt x="1382" y="2025"/>
                  </a:cubicBezTo>
                  <a:lnTo>
                    <a:pt x="1429" y="2025"/>
                  </a:lnTo>
                  <a:cubicBezTo>
                    <a:pt x="1501" y="2025"/>
                    <a:pt x="1572" y="1977"/>
                    <a:pt x="1596" y="1906"/>
                  </a:cubicBezTo>
                  <a:lnTo>
                    <a:pt x="1882" y="834"/>
                  </a:lnTo>
                  <a:lnTo>
                    <a:pt x="2763" y="334"/>
                  </a:lnTo>
                  <a:cubicBezTo>
                    <a:pt x="2858" y="286"/>
                    <a:pt x="2882" y="167"/>
                    <a:pt x="2835" y="96"/>
                  </a:cubicBezTo>
                  <a:cubicBezTo>
                    <a:pt x="2803" y="32"/>
                    <a:pt x="2750" y="1"/>
                    <a:pt x="26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Approach</a:t>
            </a:r>
            <a:endParaRPr/>
          </a:p>
        </p:txBody>
      </p:sp>
      <p:sp>
        <p:nvSpPr>
          <p:cNvPr id="289" name="Google Shape;289;p46"/>
          <p:cNvSpPr txBox="1">
            <a:spLocks noGrp="1"/>
          </p:cNvSpPr>
          <p:nvPr>
            <p:ph type="subTitle" idx="1"/>
          </p:nvPr>
        </p:nvSpPr>
        <p:spPr>
          <a:xfrm>
            <a:off x="843233" y="1434620"/>
            <a:ext cx="2326481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Analysis</a:t>
            </a:r>
            <a:endParaRPr/>
          </a:p>
        </p:txBody>
      </p:sp>
      <p:sp>
        <p:nvSpPr>
          <p:cNvPr id="290" name="Google Shape;290;p46"/>
          <p:cNvSpPr txBox="1">
            <a:spLocks noGrp="1"/>
          </p:cNvSpPr>
          <p:nvPr>
            <p:ph type="subTitle" idx="2"/>
          </p:nvPr>
        </p:nvSpPr>
        <p:spPr>
          <a:xfrm>
            <a:off x="424543" y="1828209"/>
            <a:ext cx="2745053" cy="7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Melihat distribusi kepuasan, profil penumpang, dan pola layanan.</a:t>
            </a:r>
            <a:endParaRPr/>
          </a:p>
        </p:txBody>
      </p:sp>
      <p:sp>
        <p:nvSpPr>
          <p:cNvPr id="291" name="Google Shape;291;p46"/>
          <p:cNvSpPr txBox="1">
            <a:spLocks noGrp="1"/>
          </p:cNvSpPr>
          <p:nvPr>
            <p:ph type="subTitle" idx="3"/>
          </p:nvPr>
        </p:nvSpPr>
        <p:spPr>
          <a:xfrm>
            <a:off x="5741663" y="2302799"/>
            <a:ext cx="250821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Analysis</a:t>
            </a:r>
            <a:endParaRPr/>
          </a:p>
        </p:txBody>
      </p:sp>
      <p:sp>
        <p:nvSpPr>
          <p:cNvPr id="292" name="Google Shape;292;p46"/>
          <p:cNvSpPr txBox="1">
            <a:spLocks noGrp="1"/>
          </p:cNvSpPr>
          <p:nvPr>
            <p:ph type="subTitle" idx="4"/>
          </p:nvPr>
        </p:nvSpPr>
        <p:spPr>
          <a:xfrm>
            <a:off x="5741670" y="2696399"/>
            <a:ext cx="2205600" cy="7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Membandingkan business vs personal traveler serta economy vs business class.</a:t>
            </a:r>
            <a:endParaRPr/>
          </a:p>
        </p:txBody>
      </p:sp>
      <p:sp>
        <p:nvSpPr>
          <p:cNvPr id="293" name="Google Shape;293;p46"/>
          <p:cNvSpPr/>
          <p:nvPr/>
        </p:nvSpPr>
        <p:spPr>
          <a:xfrm>
            <a:off x="3321995" y="1548028"/>
            <a:ext cx="971400" cy="9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6"/>
          <p:cNvSpPr/>
          <p:nvPr/>
        </p:nvSpPr>
        <p:spPr>
          <a:xfrm>
            <a:off x="4617870" y="2412807"/>
            <a:ext cx="971400" cy="9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5" name="Google Shape;295;p46"/>
          <p:cNvGrpSpPr/>
          <p:nvPr/>
        </p:nvGrpSpPr>
        <p:grpSpPr>
          <a:xfrm>
            <a:off x="4840596" y="2664088"/>
            <a:ext cx="525933" cy="468814"/>
            <a:chOff x="4698742" y="2109666"/>
            <a:chExt cx="429544" cy="382893"/>
          </a:xfrm>
        </p:grpSpPr>
        <p:sp>
          <p:nvSpPr>
            <p:cNvPr id="296" name="Google Shape;296;p46"/>
            <p:cNvSpPr/>
            <p:nvPr/>
          </p:nvSpPr>
          <p:spPr>
            <a:xfrm>
              <a:off x="4723270" y="2335430"/>
              <a:ext cx="27860" cy="13123"/>
            </a:xfrm>
            <a:custGeom>
              <a:avLst/>
              <a:gdLst/>
              <a:ahLst/>
              <a:cxnLst/>
              <a:rect l="l" t="t" r="r" b="b"/>
              <a:pathLst>
                <a:path w="811" h="38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7"/>
                    <a:pt x="96" y="382"/>
                    <a:pt x="191" y="382"/>
                  </a:cubicBezTo>
                  <a:lnTo>
                    <a:pt x="620" y="382"/>
                  </a:lnTo>
                  <a:cubicBezTo>
                    <a:pt x="715" y="382"/>
                    <a:pt x="811" y="287"/>
                    <a:pt x="811" y="191"/>
                  </a:cubicBezTo>
                  <a:cubicBezTo>
                    <a:pt x="811" y="96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6"/>
            <p:cNvSpPr/>
            <p:nvPr/>
          </p:nvSpPr>
          <p:spPr>
            <a:xfrm>
              <a:off x="4762569" y="2335430"/>
              <a:ext cx="58915" cy="13123"/>
            </a:xfrm>
            <a:custGeom>
              <a:avLst/>
              <a:gdLst/>
              <a:ahLst/>
              <a:cxnLst/>
              <a:rect l="l" t="t" r="r" b="b"/>
              <a:pathLst>
                <a:path w="1715" h="382" extrusionOk="0">
                  <a:moveTo>
                    <a:pt x="191" y="1"/>
                  </a:moveTo>
                  <a:cubicBezTo>
                    <a:pt x="72" y="1"/>
                    <a:pt x="0" y="96"/>
                    <a:pt x="0" y="191"/>
                  </a:cubicBezTo>
                  <a:cubicBezTo>
                    <a:pt x="0" y="287"/>
                    <a:pt x="72" y="382"/>
                    <a:pt x="191" y="382"/>
                  </a:cubicBezTo>
                  <a:lnTo>
                    <a:pt x="1524" y="382"/>
                  </a:lnTo>
                  <a:cubicBezTo>
                    <a:pt x="1619" y="382"/>
                    <a:pt x="1715" y="287"/>
                    <a:pt x="1715" y="191"/>
                  </a:cubicBezTo>
                  <a:cubicBezTo>
                    <a:pt x="1715" y="96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6"/>
            <p:cNvSpPr/>
            <p:nvPr/>
          </p:nvSpPr>
          <p:spPr>
            <a:xfrm>
              <a:off x="4723270" y="2361607"/>
              <a:ext cx="27860" cy="13123"/>
            </a:xfrm>
            <a:custGeom>
              <a:avLst/>
              <a:gdLst/>
              <a:ahLst/>
              <a:cxnLst/>
              <a:rect l="l" t="t" r="r" b="b"/>
              <a:pathLst>
                <a:path w="811" h="38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7"/>
                    <a:pt x="96" y="382"/>
                    <a:pt x="191" y="382"/>
                  </a:cubicBezTo>
                  <a:lnTo>
                    <a:pt x="620" y="382"/>
                  </a:lnTo>
                  <a:cubicBezTo>
                    <a:pt x="715" y="382"/>
                    <a:pt x="811" y="287"/>
                    <a:pt x="811" y="191"/>
                  </a:cubicBezTo>
                  <a:cubicBezTo>
                    <a:pt x="811" y="96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6"/>
            <p:cNvSpPr/>
            <p:nvPr/>
          </p:nvSpPr>
          <p:spPr>
            <a:xfrm>
              <a:off x="4762569" y="2361607"/>
              <a:ext cx="58915" cy="13123"/>
            </a:xfrm>
            <a:custGeom>
              <a:avLst/>
              <a:gdLst/>
              <a:ahLst/>
              <a:cxnLst/>
              <a:rect l="l" t="t" r="r" b="b"/>
              <a:pathLst>
                <a:path w="1715" h="382" extrusionOk="0">
                  <a:moveTo>
                    <a:pt x="191" y="1"/>
                  </a:moveTo>
                  <a:cubicBezTo>
                    <a:pt x="72" y="1"/>
                    <a:pt x="0" y="96"/>
                    <a:pt x="0" y="191"/>
                  </a:cubicBezTo>
                  <a:cubicBezTo>
                    <a:pt x="0" y="287"/>
                    <a:pt x="72" y="382"/>
                    <a:pt x="191" y="382"/>
                  </a:cubicBezTo>
                  <a:lnTo>
                    <a:pt x="1524" y="382"/>
                  </a:lnTo>
                  <a:cubicBezTo>
                    <a:pt x="1619" y="382"/>
                    <a:pt x="1715" y="287"/>
                    <a:pt x="1715" y="191"/>
                  </a:cubicBezTo>
                  <a:cubicBezTo>
                    <a:pt x="1715" y="96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6"/>
            <p:cNvSpPr/>
            <p:nvPr/>
          </p:nvSpPr>
          <p:spPr>
            <a:xfrm>
              <a:off x="4723270" y="2388608"/>
              <a:ext cx="27860" cy="12333"/>
            </a:xfrm>
            <a:custGeom>
              <a:avLst/>
              <a:gdLst/>
              <a:ahLst/>
              <a:cxnLst/>
              <a:rect l="l" t="t" r="r" b="b"/>
              <a:pathLst>
                <a:path w="811" h="359" extrusionOk="0">
                  <a:moveTo>
                    <a:pt x="191" y="1"/>
                  </a:moveTo>
                  <a:cubicBezTo>
                    <a:pt x="96" y="1"/>
                    <a:pt x="1" y="72"/>
                    <a:pt x="1" y="168"/>
                  </a:cubicBezTo>
                  <a:cubicBezTo>
                    <a:pt x="1" y="263"/>
                    <a:pt x="96" y="358"/>
                    <a:pt x="191" y="358"/>
                  </a:cubicBezTo>
                  <a:lnTo>
                    <a:pt x="620" y="358"/>
                  </a:lnTo>
                  <a:cubicBezTo>
                    <a:pt x="715" y="358"/>
                    <a:pt x="811" y="263"/>
                    <a:pt x="811" y="168"/>
                  </a:cubicBezTo>
                  <a:cubicBezTo>
                    <a:pt x="811" y="72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6"/>
            <p:cNvSpPr/>
            <p:nvPr/>
          </p:nvSpPr>
          <p:spPr>
            <a:xfrm>
              <a:off x="4762569" y="2388608"/>
              <a:ext cx="58915" cy="12333"/>
            </a:xfrm>
            <a:custGeom>
              <a:avLst/>
              <a:gdLst/>
              <a:ahLst/>
              <a:cxnLst/>
              <a:rect l="l" t="t" r="r" b="b"/>
              <a:pathLst>
                <a:path w="1715" h="359" extrusionOk="0">
                  <a:moveTo>
                    <a:pt x="191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58"/>
                    <a:pt x="191" y="358"/>
                  </a:cubicBezTo>
                  <a:lnTo>
                    <a:pt x="1524" y="358"/>
                  </a:lnTo>
                  <a:cubicBezTo>
                    <a:pt x="1619" y="358"/>
                    <a:pt x="1715" y="263"/>
                    <a:pt x="1715" y="168"/>
                  </a:cubicBezTo>
                  <a:cubicBezTo>
                    <a:pt x="1715" y="72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6"/>
            <p:cNvSpPr/>
            <p:nvPr/>
          </p:nvSpPr>
          <p:spPr>
            <a:xfrm>
              <a:off x="4723270" y="2414785"/>
              <a:ext cx="27860" cy="12333"/>
            </a:xfrm>
            <a:custGeom>
              <a:avLst/>
              <a:gdLst/>
              <a:ahLst/>
              <a:cxnLst/>
              <a:rect l="l" t="t" r="r" b="b"/>
              <a:pathLst>
                <a:path w="811" h="359" extrusionOk="0">
                  <a:moveTo>
                    <a:pt x="191" y="1"/>
                  </a:moveTo>
                  <a:cubicBezTo>
                    <a:pt x="96" y="1"/>
                    <a:pt x="1" y="72"/>
                    <a:pt x="1" y="168"/>
                  </a:cubicBezTo>
                  <a:cubicBezTo>
                    <a:pt x="1" y="287"/>
                    <a:pt x="96" y="358"/>
                    <a:pt x="191" y="358"/>
                  </a:cubicBezTo>
                  <a:lnTo>
                    <a:pt x="620" y="358"/>
                  </a:lnTo>
                  <a:cubicBezTo>
                    <a:pt x="715" y="358"/>
                    <a:pt x="811" y="287"/>
                    <a:pt x="811" y="168"/>
                  </a:cubicBezTo>
                  <a:cubicBezTo>
                    <a:pt x="811" y="72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6"/>
            <p:cNvSpPr/>
            <p:nvPr/>
          </p:nvSpPr>
          <p:spPr>
            <a:xfrm>
              <a:off x="4762569" y="2414785"/>
              <a:ext cx="58915" cy="12333"/>
            </a:xfrm>
            <a:custGeom>
              <a:avLst/>
              <a:gdLst/>
              <a:ahLst/>
              <a:cxnLst/>
              <a:rect l="l" t="t" r="r" b="b"/>
              <a:pathLst>
                <a:path w="1715" h="359" extrusionOk="0">
                  <a:moveTo>
                    <a:pt x="191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87"/>
                    <a:pt x="72" y="358"/>
                    <a:pt x="191" y="358"/>
                  </a:cubicBezTo>
                  <a:lnTo>
                    <a:pt x="1524" y="358"/>
                  </a:lnTo>
                  <a:cubicBezTo>
                    <a:pt x="1619" y="358"/>
                    <a:pt x="1715" y="287"/>
                    <a:pt x="1715" y="168"/>
                  </a:cubicBezTo>
                  <a:cubicBezTo>
                    <a:pt x="1715" y="72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6"/>
            <p:cNvSpPr/>
            <p:nvPr/>
          </p:nvSpPr>
          <p:spPr>
            <a:xfrm>
              <a:off x="4723270" y="2440961"/>
              <a:ext cx="27860" cy="12333"/>
            </a:xfrm>
            <a:custGeom>
              <a:avLst/>
              <a:gdLst/>
              <a:ahLst/>
              <a:cxnLst/>
              <a:rect l="l" t="t" r="r" b="b"/>
              <a:pathLst>
                <a:path w="811" h="359" extrusionOk="0">
                  <a:moveTo>
                    <a:pt x="191" y="1"/>
                  </a:moveTo>
                  <a:cubicBezTo>
                    <a:pt x="96" y="1"/>
                    <a:pt x="1" y="72"/>
                    <a:pt x="1" y="168"/>
                  </a:cubicBezTo>
                  <a:cubicBezTo>
                    <a:pt x="1" y="287"/>
                    <a:pt x="96" y="358"/>
                    <a:pt x="191" y="358"/>
                  </a:cubicBezTo>
                  <a:lnTo>
                    <a:pt x="620" y="358"/>
                  </a:lnTo>
                  <a:cubicBezTo>
                    <a:pt x="715" y="358"/>
                    <a:pt x="811" y="287"/>
                    <a:pt x="811" y="168"/>
                  </a:cubicBezTo>
                  <a:cubicBezTo>
                    <a:pt x="811" y="72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6"/>
            <p:cNvSpPr/>
            <p:nvPr/>
          </p:nvSpPr>
          <p:spPr>
            <a:xfrm>
              <a:off x="4762569" y="2440961"/>
              <a:ext cx="58915" cy="12333"/>
            </a:xfrm>
            <a:custGeom>
              <a:avLst/>
              <a:gdLst/>
              <a:ahLst/>
              <a:cxnLst/>
              <a:rect l="l" t="t" r="r" b="b"/>
              <a:pathLst>
                <a:path w="1715" h="359" extrusionOk="0">
                  <a:moveTo>
                    <a:pt x="191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87"/>
                    <a:pt x="72" y="358"/>
                    <a:pt x="191" y="358"/>
                  </a:cubicBezTo>
                  <a:lnTo>
                    <a:pt x="1524" y="358"/>
                  </a:lnTo>
                  <a:cubicBezTo>
                    <a:pt x="1619" y="358"/>
                    <a:pt x="1715" y="287"/>
                    <a:pt x="1715" y="168"/>
                  </a:cubicBezTo>
                  <a:cubicBezTo>
                    <a:pt x="1715" y="72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6"/>
            <p:cNvSpPr/>
            <p:nvPr/>
          </p:nvSpPr>
          <p:spPr>
            <a:xfrm>
              <a:off x="4864012" y="2335430"/>
              <a:ext cx="27826" cy="13123"/>
            </a:xfrm>
            <a:custGeom>
              <a:avLst/>
              <a:gdLst/>
              <a:ahLst/>
              <a:cxnLst/>
              <a:rect l="l" t="t" r="r" b="b"/>
              <a:pathLst>
                <a:path w="810" h="382" extrusionOk="0">
                  <a:moveTo>
                    <a:pt x="191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7"/>
                    <a:pt x="95" y="382"/>
                    <a:pt x="191" y="382"/>
                  </a:cubicBezTo>
                  <a:lnTo>
                    <a:pt x="619" y="382"/>
                  </a:lnTo>
                  <a:cubicBezTo>
                    <a:pt x="738" y="382"/>
                    <a:pt x="810" y="287"/>
                    <a:pt x="810" y="191"/>
                  </a:cubicBezTo>
                  <a:cubicBezTo>
                    <a:pt x="810" y="96"/>
                    <a:pt x="738" y="1"/>
                    <a:pt x="6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6"/>
            <p:cNvSpPr/>
            <p:nvPr/>
          </p:nvSpPr>
          <p:spPr>
            <a:xfrm>
              <a:off x="4903277" y="2335430"/>
              <a:ext cx="58915" cy="13123"/>
            </a:xfrm>
            <a:custGeom>
              <a:avLst/>
              <a:gdLst/>
              <a:ahLst/>
              <a:cxnLst/>
              <a:rect l="l" t="t" r="r" b="b"/>
              <a:pathLst>
                <a:path w="1715" h="382" extrusionOk="0">
                  <a:moveTo>
                    <a:pt x="191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7"/>
                    <a:pt x="95" y="382"/>
                    <a:pt x="191" y="382"/>
                  </a:cubicBezTo>
                  <a:lnTo>
                    <a:pt x="1524" y="382"/>
                  </a:lnTo>
                  <a:cubicBezTo>
                    <a:pt x="1643" y="382"/>
                    <a:pt x="1715" y="287"/>
                    <a:pt x="1715" y="191"/>
                  </a:cubicBezTo>
                  <a:cubicBezTo>
                    <a:pt x="1715" y="96"/>
                    <a:pt x="1643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6"/>
            <p:cNvSpPr/>
            <p:nvPr/>
          </p:nvSpPr>
          <p:spPr>
            <a:xfrm>
              <a:off x="4864012" y="2361607"/>
              <a:ext cx="27826" cy="13123"/>
            </a:xfrm>
            <a:custGeom>
              <a:avLst/>
              <a:gdLst/>
              <a:ahLst/>
              <a:cxnLst/>
              <a:rect l="l" t="t" r="r" b="b"/>
              <a:pathLst>
                <a:path w="810" h="382" extrusionOk="0">
                  <a:moveTo>
                    <a:pt x="191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7"/>
                    <a:pt x="95" y="382"/>
                    <a:pt x="191" y="382"/>
                  </a:cubicBezTo>
                  <a:lnTo>
                    <a:pt x="619" y="382"/>
                  </a:lnTo>
                  <a:cubicBezTo>
                    <a:pt x="738" y="382"/>
                    <a:pt x="810" y="287"/>
                    <a:pt x="810" y="191"/>
                  </a:cubicBezTo>
                  <a:cubicBezTo>
                    <a:pt x="810" y="96"/>
                    <a:pt x="738" y="1"/>
                    <a:pt x="6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6"/>
            <p:cNvSpPr/>
            <p:nvPr/>
          </p:nvSpPr>
          <p:spPr>
            <a:xfrm>
              <a:off x="4903277" y="2361607"/>
              <a:ext cx="58915" cy="13123"/>
            </a:xfrm>
            <a:custGeom>
              <a:avLst/>
              <a:gdLst/>
              <a:ahLst/>
              <a:cxnLst/>
              <a:rect l="l" t="t" r="r" b="b"/>
              <a:pathLst>
                <a:path w="1715" h="382" extrusionOk="0">
                  <a:moveTo>
                    <a:pt x="191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7"/>
                    <a:pt x="95" y="382"/>
                    <a:pt x="191" y="382"/>
                  </a:cubicBezTo>
                  <a:lnTo>
                    <a:pt x="1524" y="382"/>
                  </a:lnTo>
                  <a:cubicBezTo>
                    <a:pt x="1643" y="382"/>
                    <a:pt x="1715" y="287"/>
                    <a:pt x="1715" y="191"/>
                  </a:cubicBezTo>
                  <a:cubicBezTo>
                    <a:pt x="1715" y="96"/>
                    <a:pt x="1643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6"/>
            <p:cNvSpPr/>
            <p:nvPr/>
          </p:nvSpPr>
          <p:spPr>
            <a:xfrm>
              <a:off x="4864012" y="2388608"/>
              <a:ext cx="27826" cy="12333"/>
            </a:xfrm>
            <a:custGeom>
              <a:avLst/>
              <a:gdLst/>
              <a:ahLst/>
              <a:cxnLst/>
              <a:rect l="l" t="t" r="r" b="b"/>
              <a:pathLst>
                <a:path w="810" h="359" extrusionOk="0">
                  <a:moveTo>
                    <a:pt x="191" y="1"/>
                  </a:moveTo>
                  <a:cubicBezTo>
                    <a:pt x="95" y="1"/>
                    <a:pt x="0" y="72"/>
                    <a:pt x="0" y="168"/>
                  </a:cubicBezTo>
                  <a:cubicBezTo>
                    <a:pt x="0" y="263"/>
                    <a:pt x="95" y="358"/>
                    <a:pt x="191" y="358"/>
                  </a:cubicBezTo>
                  <a:lnTo>
                    <a:pt x="619" y="358"/>
                  </a:lnTo>
                  <a:cubicBezTo>
                    <a:pt x="738" y="358"/>
                    <a:pt x="810" y="263"/>
                    <a:pt x="810" y="168"/>
                  </a:cubicBezTo>
                  <a:cubicBezTo>
                    <a:pt x="810" y="72"/>
                    <a:pt x="738" y="1"/>
                    <a:pt x="6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6"/>
            <p:cNvSpPr/>
            <p:nvPr/>
          </p:nvSpPr>
          <p:spPr>
            <a:xfrm>
              <a:off x="4903277" y="2388608"/>
              <a:ext cx="58915" cy="12333"/>
            </a:xfrm>
            <a:custGeom>
              <a:avLst/>
              <a:gdLst/>
              <a:ahLst/>
              <a:cxnLst/>
              <a:rect l="l" t="t" r="r" b="b"/>
              <a:pathLst>
                <a:path w="1715" h="359" extrusionOk="0">
                  <a:moveTo>
                    <a:pt x="191" y="1"/>
                  </a:moveTo>
                  <a:cubicBezTo>
                    <a:pt x="95" y="1"/>
                    <a:pt x="0" y="72"/>
                    <a:pt x="0" y="168"/>
                  </a:cubicBezTo>
                  <a:cubicBezTo>
                    <a:pt x="0" y="263"/>
                    <a:pt x="95" y="358"/>
                    <a:pt x="191" y="358"/>
                  </a:cubicBezTo>
                  <a:lnTo>
                    <a:pt x="1524" y="358"/>
                  </a:lnTo>
                  <a:cubicBezTo>
                    <a:pt x="1643" y="358"/>
                    <a:pt x="1715" y="263"/>
                    <a:pt x="1715" y="168"/>
                  </a:cubicBezTo>
                  <a:cubicBezTo>
                    <a:pt x="1715" y="72"/>
                    <a:pt x="1643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46"/>
            <p:cNvSpPr/>
            <p:nvPr/>
          </p:nvSpPr>
          <p:spPr>
            <a:xfrm>
              <a:off x="4864012" y="2414785"/>
              <a:ext cx="27826" cy="12333"/>
            </a:xfrm>
            <a:custGeom>
              <a:avLst/>
              <a:gdLst/>
              <a:ahLst/>
              <a:cxnLst/>
              <a:rect l="l" t="t" r="r" b="b"/>
              <a:pathLst>
                <a:path w="810" h="359" extrusionOk="0">
                  <a:moveTo>
                    <a:pt x="191" y="1"/>
                  </a:moveTo>
                  <a:cubicBezTo>
                    <a:pt x="95" y="1"/>
                    <a:pt x="0" y="72"/>
                    <a:pt x="0" y="168"/>
                  </a:cubicBezTo>
                  <a:cubicBezTo>
                    <a:pt x="0" y="287"/>
                    <a:pt x="95" y="358"/>
                    <a:pt x="191" y="358"/>
                  </a:cubicBezTo>
                  <a:lnTo>
                    <a:pt x="619" y="358"/>
                  </a:lnTo>
                  <a:cubicBezTo>
                    <a:pt x="738" y="358"/>
                    <a:pt x="810" y="287"/>
                    <a:pt x="810" y="168"/>
                  </a:cubicBezTo>
                  <a:cubicBezTo>
                    <a:pt x="810" y="72"/>
                    <a:pt x="738" y="1"/>
                    <a:pt x="6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46"/>
            <p:cNvSpPr/>
            <p:nvPr/>
          </p:nvSpPr>
          <p:spPr>
            <a:xfrm>
              <a:off x="4903277" y="2414785"/>
              <a:ext cx="58915" cy="12333"/>
            </a:xfrm>
            <a:custGeom>
              <a:avLst/>
              <a:gdLst/>
              <a:ahLst/>
              <a:cxnLst/>
              <a:rect l="l" t="t" r="r" b="b"/>
              <a:pathLst>
                <a:path w="1715" h="359" extrusionOk="0">
                  <a:moveTo>
                    <a:pt x="191" y="1"/>
                  </a:moveTo>
                  <a:cubicBezTo>
                    <a:pt x="95" y="1"/>
                    <a:pt x="0" y="72"/>
                    <a:pt x="0" y="168"/>
                  </a:cubicBezTo>
                  <a:cubicBezTo>
                    <a:pt x="0" y="287"/>
                    <a:pt x="95" y="358"/>
                    <a:pt x="191" y="358"/>
                  </a:cubicBezTo>
                  <a:lnTo>
                    <a:pt x="1524" y="358"/>
                  </a:lnTo>
                  <a:cubicBezTo>
                    <a:pt x="1643" y="358"/>
                    <a:pt x="1715" y="287"/>
                    <a:pt x="1715" y="168"/>
                  </a:cubicBezTo>
                  <a:cubicBezTo>
                    <a:pt x="1715" y="72"/>
                    <a:pt x="1643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6"/>
            <p:cNvSpPr/>
            <p:nvPr/>
          </p:nvSpPr>
          <p:spPr>
            <a:xfrm>
              <a:off x="4864012" y="2440961"/>
              <a:ext cx="27826" cy="12333"/>
            </a:xfrm>
            <a:custGeom>
              <a:avLst/>
              <a:gdLst/>
              <a:ahLst/>
              <a:cxnLst/>
              <a:rect l="l" t="t" r="r" b="b"/>
              <a:pathLst>
                <a:path w="810" h="359" extrusionOk="0">
                  <a:moveTo>
                    <a:pt x="191" y="1"/>
                  </a:moveTo>
                  <a:cubicBezTo>
                    <a:pt x="95" y="1"/>
                    <a:pt x="0" y="72"/>
                    <a:pt x="0" y="168"/>
                  </a:cubicBezTo>
                  <a:cubicBezTo>
                    <a:pt x="0" y="287"/>
                    <a:pt x="95" y="358"/>
                    <a:pt x="191" y="358"/>
                  </a:cubicBezTo>
                  <a:lnTo>
                    <a:pt x="619" y="358"/>
                  </a:lnTo>
                  <a:cubicBezTo>
                    <a:pt x="738" y="358"/>
                    <a:pt x="810" y="287"/>
                    <a:pt x="810" y="168"/>
                  </a:cubicBezTo>
                  <a:cubicBezTo>
                    <a:pt x="810" y="72"/>
                    <a:pt x="738" y="1"/>
                    <a:pt x="6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6"/>
            <p:cNvSpPr/>
            <p:nvPr/>
          </p:nvSpPr>
          <p:spPr>
            <a:xfrm>
              <a:off x="4903277" y="2440961"/>
              <a:ext cx="58915" cy="12333"/>
            </a:xfrm>
            <a:custGeom>
              <a:avLst/>
              <a:gdLst/>
              <a:ahLst/>
              <a:cxnLst/>
              <a:rect l="l" t="t" r="r" b="b"/>
              <a:pathLst>
                <a:path w="1715" h="359" extrusionOk="0">
                  <a:moveTo>
                    <a:pt x="191" y="1"/>
                  </a:moveTo>
                  <a:cubicBezTo>
                    <a:pt x="95" y="1"/>
                    <a:pt x="0" y="72"/>
                    <a:pt x="0" y="168"/>
                  </a:cubicBezTo>
                  <a:cubicBezTo>
                    <a:pt x="0" y="287"/>
                    <a:pt x="95" y="358"/>
                    <a:pt x="191" y="358"/>
                  </a:cubicBezTo>
                  <a:lnTo>
                    <a:pt x="1524" y="358"/>
                  </a:lnTo>
                  <a:cubicBezTo>
                    <a:pt x="1643" y="358"/>
                    <a:pt x="1715" y="287"/>
                    <a:pt x="1715" y="168"/>
                  </a:cubicBezTo>
                  <a:cubicBezTo>
                    <a:pt x="1715" y="72"/>
                    <a:pt x="1643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6"/>
            <p:cNvSpPr/>
            <p:nvPr/>
          </p:nvSpPr>
          <p:spPr>
            <a:xfrm>
              <a:off x="5005510" y="2335430"/>
              <a:ext cx="27035" cy="13123"/>
            </a:xfrm>
            <a:custGeom>
              <a:avLst/>
              <a:gdLst/>
              <a:ahLst/>
              <a:cxnLst/>
              <a:rect l="l" t="t" r="r" b="b"/>
              <a:pathLst>
                <a:path w="787" h="382" extrusionOk="0">
                  <a:moveTo>
                    <a:pt x="168" y="1"/>
                  </a:moveTo>
                  <a:cubicBezTo>
                    <a:pt x="72" y="1"/>
                    <a:pt x="1" y="96"/>
                    <a:pt x="1" y="191"/>
                  </a:cubicBezTo>
                  <a:cubicBezTo>
                    <a:pt x="1" y="287"/>
                    <a:pt x="72" y="382"/>
                    <a:pt x="168" y="382"/>
                  </a:cubicBezTo>
                  <a:lnTo>
                    <a:pt x="620" y="382"/>
                  </a:lnTo>
                  <a:cubicBezTo>
                    <a:pt x="715" y="382"/>
                    <a:pt x="787" y="287"/>
                    <a:pt x="787" y="191"/>
                  </a:cubicBezTo>
                  <a:cubicBezTo>
                    <a:pt x="787" y="96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6"/>
            <p:cNvSpPr/>
            <p:nvPr/>
          </p:nvSpPr>
          <p:spPr>
            <a:xfrm>
              <a:off x="5044809" y="2335430"/>
              <a:ext cx="58090" cy="13123"/>
            </a:xfrm>
            <a:custGeom>
              <a:avLst/>
              <a:gdLst/>
              <a:ahLst/>
              <a:cxnLst/>
              <a:rect l="l" t="t" r="r" b="b"/>
              <a:pathLst>
                <a:path w="1691" h="382" extrusionOk="0">
                  <a:moveTo>
                    <a:pt x="167" y="1"/>
                  </a:moveTo>
                  <a:cubicBezTo>
                    <a:pt x="71" y="1"/>
                    <a:pt x="0" y="96"/>
                    <a:pt x="0" y="191"/>
                  </a:cubicBezTo>
                  <a:cubicBezTo>
                    <a:pt x="0" y="287"/>
                    <a:pt x="71" y="382"/>
                    <a:pt x="167" y="382"/>
                  </a:cubicBezTo>
                  <a:lnTo>
                    <a:pt x="1524" y="382"/>
                  </a:lnTo>
                  <a:cubicBezTo>
                    <a:pt x="1619" y="382"/>
                    <a:pt x="1691" y="287"/>
                    <a:pt x="1691" y="191"/>
                  </a:cubicBezTo>
                  <a:cubicBezTo>
                    <a:pt x="1691" y="96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6"/>
            <p:cNvSpPr/>
            <p:nvPr/>
          </p:nvSpPr>
          <p:spPr>
            <a:xfrm>
              <a:off x="5005510" y="2361607"/>
              <a:ext cx="27035" cy="13123"/>
            </a:xfrm>
            <a:custGeom>
              <a:avLst/>
              <a:gdLst/>
              <a:ahLst/>
              <a:cxnLst/>
              <a:rect l="l" t="t" r="r" b="b"/>
              <a:pathLst>
                <a:path w="787" h="382" extrusionOk="0">
                  <a:moveTo>
                    <a:pt x="168" y="1"/>
                  </a:moveTo>
                  <a:cubicBezTo>
                    <a:pt x="72" y="1"/>
                    <a:pt x="1" y="96"/>
                    <a:pt x="1" y="191"/>
                  </a:cubicBezTo>
                  <a:cubicBezTo>
                    <a:pt x="1" y="287"/>
                    <a:pt x="72" y="382"/>
                    <a:pt x="168" y="382"/>
                  </a:cubicBezTo>
                  <a:lnTo>
                    <a:pt x="620" y="382"/>
                  </a:lnTo>
                  <a:cubicBezTo>
                    <a:pt x="715" y="382"/>
                    <a:pt x="787" y="287"/>
                    <a:pt x="787" y="191"/>
                  </a:cubicBezTo>
                  <a:cubicBezTo>
                    <a:pt x="787" y="96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6"/>
            <p:cNvSpPr/>
            <p:nvPr/>
          </p:nvSpPr>
          <p:spPr>
            <a:xfrm>
              <a:off x="5044809" y="2361607"/>
              <a:ext cx="58090" cy="13123"/>
            </a:xfrm>
            <a:custGeom>
              <a:avLst/>
              <a:gdLst/>
              <a:ahLst/>
              <a:cxnLst/>
              <a:rect l="l" t="t" r="r" b="b"/>
              <a:pathLst>
                <a:path w="1691" h="382" extrusionOk="0">
                  <a:moveTo>
                    <a:pt x="167" y="1"/>
                  </a:moveTo>
                  <a:cubicBezTo>
                    <a:pt x="71" y="1"/>
                    <a:pt x="0" y="96"/>
                    <a:pt x="0" y="191"/>
                  </a:cubicBezTo>
                  <a:cubicBezTo>
                    <a:pt x="0" y="287"/>
                    <a:pt x="71" y="382"/>
                    <a:pt x="167" y="382"/>
                  </a:cubicBezTo>
                  <a:lnTo>
                    <a:pt x="1524" y="382"/>
                  </a:lnTo>
                  <a:cubicBezTo>
                    <a:pt x="1619" y="382"/>
                    <a:pt x="1691" y="287"/>
                    <a:pt x="1691" y="191"/>
                  </a:cubicBezTo>
                  <a:cubicBezTo>
                    <a:pt x="1691" y="96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6"/>
            <p:cNvSpPr/>
            <p:nvPr/>
          </p:nvSpPr>
          <p:spPr>
            <a:xfrm>
              <a:off x="5005510" y="2388608"/>
              <a:ext cx="27035" cy="12333"/>
            </a:xfrm>
            <a:custGeom>
              <a:avLst/>
              <a:gdLst/>
              <a:ahLst/>
              <a:cxnLst/>
              <a:rect l="l" t="t" r="r" b="b"/>
              <a:pathLst>
                <a:path w="787" h="359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58"/>
                    <a:pt x="168" y="358"/>
                  </a:cubicBezTo>
                  <a:lnTo>
                    <a:pt x="620" y="358"/>
                  </a:lnTo>
                  <a:cubicBezTo>
                    <a:pt x="715" y="358"/>
                    <a:pt x="787" y="263"/>
                    <a:pt x="787" y="168"/>
                  </a:cubicBezTo>
                  <a:cubicBezTo>
                    <a:pt x="787" y="72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6"/>
            <p:cNvSpPr/>
            <p:nvPr/>
          </p:nvSpPr>
          <p:spPr>
            <a:xfrm>
              <a:off x="5044809" y="2388608"/>
              <a:ext cx="58090" cy="12333"/>
            </a:xfrm>
            <a:custGeom>
              <a:avLst/>
              <a:gdLst/>
              <a:ahLst/>
              <a:cxnLst/>
              <a:rect l="l" t="t" r="r" b="b"/>
              <a:pathLst>
                <a:path w="1691" h="359" extrusionOk="0">
                  <a:moveTo>
                    <a:pt x="167" y="1"/>
                  </a:moveTo>
                  <a:cubicBezTo>
                    <a:pt x="71" y="1"/>
                    <a:pt x="0" y="72"/>
                    <a:pt x="0" y="168"/>
                  </a:cubicBezTo>
                  <a:cubicBezTo>
                    <a:pt x="0" y="263"/>
                    <a:pt x="71" y="358"/>
                    <a:pt x="167" y="358"/>
                  </a:cubicBezTo>
                  <a:lnTo>
                    <a:pt x="1524" y="358"/>
                  </a:lnTo>
                  <a:cubicBezTo>
                    <a:pt x="1619" y="358"/>
                    <a:pt x="1691" y="263"/>
                    <a:pt x="1691" y="168"/>
                  </a:cubicBezTo>
                  <a:cubicBezTo>
                    <a:pt x="1691" y="72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6"/>
            <p:cNvSpPr/>
            <p:nvPr/>
          </p:nvSpPr>
          <p:spPr>
            <a:xfrm>
              <a:off x="5005510" y="2414785"/>
              <a:ext cx="27035" cy="12333"/>
            </a:xfrm>
            <a:custGeom>
              <a:avLst/>
              <a:gdLst/>
              <a:ahLst/>
              <a:cxnLst/>
              <a:rect l="l" t="t" r="r" b="b"/>
              <a:pathLst>
                <a:path w="787" h="359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87"/>
                    <a:pt x="72" y="358"/>
                    <a:pt x="168" y="358"/>
                  </a:cubicBezTo>
                  <a:lnTo>
                    <a:pt x="620" y="358"/>
                  </a:lnTo>
                  <a:cubicBezTo>
                    <a:pt x="715" y="358"/>
                    <a:pt x="787" y="287"/>
                    <a:pt x="787" y="168"/>
                  </a:cubicBezTo>
                  <a:cubicBezTo>
                    <a:pt x="787" y="72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6"/>
            <p:cNvSpPr/>
            <p:nvPr/>
          </p:nvSpPr>
          <p:spPr>
            <a:xfrm>
              <a:off x="5044809" y="2414785"/>
              <a:ext cx="58090" cy="12333"/>
            </a:xfrm>
            <a:custGeom>
              <a:avLst/>
              <a:gdLst/>
              <a:ahLst/>
              <a:cxnLst/>
              <a:rect l="l" t="t" r="r" b="b"/>
              <a:pathLst>
                <a:path w="1691" h="359" extrusionOk="0">
                  <a:moveTo>
                    <a:pt x="167" y="1"/>
                  </a:moveTo>
                  <a:cubicBezTo>
                    <a:pt x="71" y="1"/>
                    <a:pt x="0" y="72"/>
                    <a:pt x="0" y="168"/>
                  </a:cubicBezTo>
                  <a:cubicBezTo>
                    <a:pt x="0" y="287"/>
                    <a:pt x="71" y="358"/>
                    <a:pt x="167" y="358"/>
                  </a:cubicBezTo>
                  <a:lnTo>
                    <a:pt x="1524" y="358"/>
                  </a:lnTo>
                  <a:cubicBezTo>
                    <a:pt x="1619" y="358"/>
                    <a:pt x="1691" y="287"/>
                    <a:pt x="1691" y="168"/>
                  </a:cubicBezTo>
                  <a:cubicBezTo>
                    <a:pt x="1691" y="72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5005510" y="2440961"/>
              <a:ext cx="27035" cy="12333"/>
            </a:xfrm>
            <a:custGeom>
              <a:avLst/>
              <a:gdLst/>
              <a:ahLst/>
              <a:cxnLst/>
              <a:rect l="l" t="t" r="r" b="b"/>
              <a:pathLst>
                <a:path w="787" h="359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87"/>
                    <a:pt x="72" y="358"/>
                    <a:pt x="168" y="358"/>
                  </a:cubicBezTo>
                  <a:lnTo>
                    <a:pt x="620" y="358"/>
                  </a:lnTo>
                  <a:cubicBezTo>
                    <a:pt x="715" y="358"/>
                    <a:pt x="787" y="287"/>
                    <a:pt x="787" y="168"/>
                  </a:cubicBezTo>
                  <a:cubicBezTo>
                    <a:pt x="787" y="72"/>
                    <a:pt x="715" y="1"/>
                    <a:pt x="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044809" y="2440961"/>
              <a:ext cx="58090" cy="12333"/>
            </a:xfrm>
            <a:custGeom>
              <a:avLst/>
              <a:gdLst/>
              <a:ahLst/>
              <a:cxnLst/>
              <a:rect l="l" t="t" r="r" b="b"/>
              <a:pathLst>
                <a:path w="1691" h="359" extrusionOk="0">
                  <a:moveTo>
                    <a:pt x="167" y="1"/>
                  </a:moveTo>
                  <a:cubicBezTo>
                    <a:pt x="71" y="1"/>
                    <a:pt x="0" y="72"/>
                    <a:pt x="0" y="168"/>
                  </a:cubicBezTo>
                  <a:cubicBezTo>
                    <a:pt x="0" y="287"/>
                    <a:pt x="71" y="358"/>
                    <a:pt x="167" y="358"/>
                  </a:cubicBezTo>
                  <a:lnTo>
                    <a:pt x="1524" y="358"/>
                  </a:lnTo>
                  <a:cubicBezTo>
                    <a:pt x="1619" y="358"/>
                    <a:pt x="1691" y="287"/>
                    <a:pt x="1691" y="168"/>
                  </a:cubicBezTo>
                  <a:cubicBezTo>
                    <a:pt x="1691" y="72"/>
                    <a:pt x="1619" y="1"/>
                    <a:pt x="1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4832923" y="2323991"/>
              <a:ext cx="12298" cy="144006"/>
            </a:xfrm>
            <a:custGeom>
              <a:avLst/>
              <a:gdLst/>
              <a:ahLst/>
              <a:cxnLst/>
              <a:rect l="l" t="t" r="r" b="b"/>
              <a:pathLst>
                <a:path w="358" h="4192" extrusionOk="0">
                  <a:moveTo>
                    <a:pt x="167" y="0"/>
                  </a:moveTo>
                  <a:cubicBezTo>
                    <a:pt x="72" y="0"/>
                    <a:pt x="0" y="96"/>
                    <a:pt x="0" y="191"/>
                  </a:cubicBezTo>
                  <a:lnTo>
                    <a:pt x="0" y="4001"/>
                  </a:lnTo>
                  <a:cubicBezTo>
                    <a:pt x="0" y="4120"/>
                    <a:pt x="72" y="4192"/>
                    <a:pt x="167" y="4192"/>
                  </a:cubicBezTo>
                  <a:cubicBezTo>
                    <a:pt x="286" y="4192"/>
                    <a:pt x="357" y="4120"/>
                    <a:pt x="357" y="4001"/>
                  </a:cubicBezTo>
                  <a:lnTo>
                    <a:pt x="357" y="191"/>
                  </a:lnTo>
                  <a:cubicBezTo>
                    <a:pt x="357" y="96"/>
                    <a:pt x="286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4980982" y="2323991"/>
              <a:ext cx="13123" cy="144006"/>
            </a:xfrm>
            <a:custGeom>
              <a:avLst/>
              <a:gdLst/>
              <a:ahLst/>
              <a:cxnLst/>
              <a:rect l="l" t="t" r="r" b="b"/>
              <a:pathLst>
                <a:path w="382" h="4192" extrusionOk="0">
                  <a:moveTo>
                    <a:pt x="191" y="0"/>
                  </a:moveTo>
                  <a:cubicBezTo>
                    <a:pt x="96" y="0"/>
                    <a:pt x="1" y="96"/>
                    <a:pt x="1" y="191"/>
                  </a:cubicBezTo>
                  <a:lnTo>
                    <a:pt x="1" y="4001"/>
                  </a:lnTo>
                  <a:cubicBezTo>
                    <a:pt x="1" y="4120"/>
                    <a:pt x="96" y="4192"/>
                    <a:pt x="191" y="4192"/>
                  </a:cubicBezTo>
                  <a:cubicBezTo>
                    <a:pt x="286" y="4192"/>
                    <a:pt x="382" y="4120"/>
                    <a:pt x="382" y="4001"/>
                  </a:cubicBezTo>
                  <a:lnTo>
                    <a:pt x="382" y="191"/>
                  </a:lnTo>
                  <a:cubicBezTo>
                    <a:pt x="382" y="96"/>
                    <a:pt x="286" y="0"/>
                    <a:pt x="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6"/>
            <p:cNvSpPr/>
            <p:nvPr/>
          </p:nvSpPr>
          <p:spPr>
            <a:xfrm>
              <a:off x="4737183" y="2233335"/>
              <a:ext cx="77774" cy="55514"/>
            </a:xfrm>
            <a:custGeom>
              <a:avLst/>
              <a:gdLst/>
              <a:ahLst/>
              <a:cxnLst/>
              <a:rect l="l" t="t" r="r" b="b"/>
              <a:pathLst>
                <a:path w="2264" h="1616" extrusionOk="0">
                  <a:moveTo>
                    <a:pt x="2046" y="1"/>
                  </a:moveTo>
                  <a:cubicBezTo>
                    <a:pt x="2021" y="1"/>
                    <a:pt x="1997" y="7"/>
                    <a:pt x="1977" y="20"/>
                  </a:cubicBezTo>
                  <a:lnTo>
                    <a:pt x="1334" y="377"/>
                  </a:lnTo>
                  <a:lnTo>
                    <a:pt x="620" y="68"/>
                  </a:lnTo>
                  <a:cubicBezTo>
                    <a:pt x="593" y="54"/>
                    <a:pt x="567" y="48"/>
                    <a:pt x="541" y="48"/>
                  </a:cubicBezTo>
                  <a:cubicBezTo>
                    <a:pt x="475" y="48"/>
                    <a:pt x="416" y="87"/>
                    <a:pt x="382" y="139"/>
                  </a:cubicBezTo>
                  <a:cubicBezTo>
                    <a:pt x="334" y="234"/>
                    <a:pt x="382" y="353"/>
                    <a:pt x="477" y="401"/>
                  </a:cubicBezTo>
                  <a:lnTo>
                    <a:pt x="930" y="615"/>
                  </a:lnTo>
                  <a:lnTo>
                    <a:pt x="525" y="830"/>
                  </a:lnTo>
                  <a:lnTo>
                    <a:pt x="382" y="520"/>
                  </a:lnTo>
                  <a:cubicBezTo>
                    <a:pt x="348" y="469"/>
                    <a:pt x="276" y="429"/>
                    <a:pt x="212" y="429"/>
                  </a:cubicBezTo>
                  <a:cubicBezTo>
                    <a:pt x="187" y="429"/>
                    <a:pt x="164" y="435"/>
                    <a:pt x="144" y="449"/>
                  </a:cubicBezTo>
                  <a:cubicBezTo>
                    <a:pt x="48" y="496"/>
                    <a:pt x="1" y="591"/>
                    <a:pt x="48" y="687"/>
                  </a:cubicBezTo>
                  <a:lnTo>
                    <a:pt x="287" y="1163"/>
                  </a:lnTo>
                  <a:cubicBezTo>
                    <a:pt x="310" y="1211"/>
                    <a:pt x="358" y="1234"/>
                    <a:pt x="406" y="1258"/>
                  </a:cubicBezTo>
                  <a:lnTo>
                    <a:pt x="453" y="1258"/>
                  </a:lnTo>
                  <a:cubicBezTo>
                    <a:pt x="477" y="1258"/>
                    <a:pt x="501" y="1258"/>
                    <a:pt x="549" y="1234"/>
                  </a:cubicBezTo>
                  <a:lnTo>
                    <a:pt x="1049" y="949"/>
                  </a:lnTo>
                  <a:lnTo>
                    <a:pt x="953" y="1377"/>
                  </a:lnTo>
                  <a:cubicBezTo>
                    <a:pt x="930" y="1473"/>
                    <a:pt x="977" y="1592"/>
                    <a:pt x="1072" y="1615"/>
                  </a:cubicBezTo>
                  <a:lnTo>
                    <a:pt x="1120" y="1615"/>
                  </a:lnTo>
                  <a:cubicBezTo>
                    <a:pt x="1215" y="1615"/>
                    <a:pt x="1287" y="1544"/>
                    <a:pt x="1311" y="1473"/>
                  </a:cubicBezTo>
                  <a:lnTo>
                    <a:pt x="1501" y="711"/>
                  </a:lnTo>
                  <a:lnTo>
                    <a:pt x="2144" y="353"/>
                  </a:lnTo>
                  <a:cubicBezTo>
                    <a:pt x="2239" y="306"/>
                    <a:pt x="2263" y="187"/>
                    <a:pt x="2216" y="91"/>
                  </a:cubicBezTo>
                  <a:cubicBezTo>
                    <a:pt x="2181" y="40"/>
                    <a:pt x="2110" y="1"/>
                    <a:pt x="20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6"/>
            <p:cNvSpPr/>
            <p:nvPr/>
          </p:nvSpPr>
          <p:spPr>
            <a:xfrm>
              <a:off x="5021896" y="2242988"/>
              <a:ext cx="66300" cy="12333"/>
            </a:xfrm>
            <a:custGeom>
              <a:avLst/>
              <a:gdLst/>
              <a:ahLst/>
              <a:cxnLst/>
              <a:rect l="l" t="t" r="r" b="b"/>
              <a:pathLst>
                <a:path w="1930" h="359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87"/>
                    <a:pt x="72" y="358"/>
                    <a:pt x="167" y="358"/>
                  </a:cubicBezTo>
                  <a:lnTo>
                    <a:pt x="1739" y="358"/>
                  </a:lnTo>
                  <a:cubicBezTo>
                    <a:pt x="1858" y="358"/>
                    <a:pt x="1929" y="287"/>
                    <a:pt x="1929" y="168"/>
                  </a:cubicBezTo>
                  <a:cubicBezTo>
                    <a:pt x="1929" y="72"/>
                    <a:pt x="1858" y="1"/>
                    <a:pt x="1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6"/>
            <p:cNvSpPr/>
            <p:nvPr/>
          </p:nvSpPr>
          <p:spPr>
            <a:xfrm>
              <a:off x="5021896" y="2266725"/>
              <a:ext cx="66300" cy="12298"/>
            </a:xfrm>
            <a:custGeom>
              <a:avLst/>
              <a:gdLst/>
              <a:ahLst/>
              <a:cxnLst/>
              <a:rect l="l" t="t" r="r" b="b"/>
              <a:pathLst>
                <a:path w="1930" h="358" extrusionOk="0">
                  <a:moveTo>
                    <a:pt x="167" y="0"/>
                  </a:moveTo>
                  <a:cubicBezTo>
                    <a:pt x="72" y="0"/>
                    <a:pt x="0" y="72"/>
                    <a:pt x="0" y="191"/>
                  </a:cubicBezTo>
                  <a:cubicBezTo>
                    <a:pt x="0" y="286"/>
                    <a:pt x="72" y="358"/>
                    <a:pt x="167" y="358"/>
                  </a:cubicBezTo>
                  <a:lnTo>
                    <a:pt x="1739" y="358"/>
                  </a:lnTo>
                  <a:cubicBezTo>
                    <a:pt x="1858" y="358"/>
                    <a:pt x="1929" y="286"/>
                    <a:pt x="1929" y="191"/>
                  </a:cubicBezTo>
                  <a:cubicBezTo>
                    <a:pt x="1929" y="72"/>
                    <a:pt x="1858" y="0"/>
                    <a:pt x="1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6"/>
            <p:cNvSpPr/>
            <p:nvPr/>
          </p:nvSpPr>
          <p:spPr>
            <a:xfrm>
              <a:off x="4831274" y="2237285"/>
              <a:ext cx="164480" cy="47475"/>
            </a:xfrm>
            <a:custGeom>
              <a:avLst/>
              <a:gdLst/>
              <a:ahLst/>
              <a:cxnLst/>
              <a:rect l="l" t="t" r="r" b="b"/>
              <a:pathLst>
                <a:path w="4788" h="1382" extrusionOk="0">
                  <a:moveTo>
                    <a:pt x="286" y="0"/>
                  </a:moveTo>
                  <a:cubicBezTo>
                    <a:pt x="120" y="0"/>
                    <a:pt x="0" y="143"/>
                    <a:pt x="0" y="310"/>
                  </a:cubicBezTo>
                  <a:lnTo>
                    <a:pt x="0" y="1072"/>
                  </a:lnTo>
                  <a:cubicBezTo>
                    <a:pt x="0" y="1238"/>
                    <a:pt x="120" y="1381"/>
                    <a:pt x="286" y="1381"/>
                  </a:cubicBezTo>
                  <a:lnTo>
                    <a:pt x="786" y="1381"/>
                  </a:lnTo>
                  <a:cubicBezTo>
                    <a:pt x="882" y="1381"/>
                    <a:pt x="953" y="1286"/>
                    <a:pt x="953" y="1191"/>
                  </a:cubicBezTo>
                  <a:cubicBezTo>
                    <a:pt x="953" y="1096"/>
                    <a:pt x="882" y="1024"/>
                    <a:pt x="786" y="1024"/>
                  </a:cubicBezTo>
                  <a:lnTo>
                    <a:pt x="358" y="1024"/>
                  </a:lnTo>
                  <a:lnTo>
                    <a:pt x="358" y="381"/>
                  </a:lnTo>
                  <a:lnTo>
                    <a:pt x="4406" y="381"/>
                  </a:lnTo>
                  <a:lnTo>
                    <a:pt x="4406" y="1024"/>
                  </a:lnTo>
                  <a:lnTo>
                    <a:pt x="1501" y="1024"/>
                  </a:lnTo>
                  <a:cubicBezTo>
                    <a:pt x="1406" y="1024"/>
                    <a:pt x="1334" y="1096"/>
                    <a:pt x="1334" y="1191"/>
                  </a:cubicBezTo>
                  <a:cubicBezTo>
                    <a:pt x="1334" y="1286"/>
                    <a:pt x="1406" y="1381"/>
                    <a:pt x="1501" y="1381"/>
                  </a:cubicBezTo>
                  <a:lnTo>
                    <a:pt x="4478" y="1381"/>
                  </a:lnTo>
                  <a:cubicBezTo>
                    <a:pt x="4644" y="1381"/>
                    <a:pt x="4787" y="1238"/>
                    <a:pt x="4787" y="1072"/>
                  </a:cubicBezTo>
                  <a:lnTo>
                    <a:pt x="4787" y="310"/>
                  </a:lnTo>
                  <a:cubicBezTo>
                    <a:pt x="4787" y="143"/>
                    <a:pt x="4644" y="0"/>
                    <a:pt x="4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6"/>
            <p:cNvSpPr/>
            <p:nvPr/>
          </p:nvSpPr>
          <p:spPr>
            <a:xfrm>
              <a:off x="4698742" y="2109666"/>
              <a:ext cx="429544" cy="382893"/>
            </a:xfrm>
            <a:custGeom>
              <a:avLst/>
              <a:gdLst/>
              <a:ahLst/>
              <a:cxnLst/>
              <a:rect l="l" t="t" r="r" b="b"/>
              <a:pathLst>
                <a:path w="12504" h="11146" extrusionOk="0">
                  <a:moveTo>
                    <a:pt x="3120" y="2548"/>
                  </a:moveTo>
                  <a:cubicBezTo>
                    <a:pt x="3168" y="2548"/>
                    <a:pt x="3239" y="2596"/>
                    <a:pt x="3239" y="2667"/>
                  </a:cubicBezTo>
                  <a:lnTo>
                    <a:pt x="3239" y="2905"/>
                  </a:lnTo>
                  <a:lnTo>
                    <a:pt x="2096" y="2905"/>
                  </a:lnTo>
                  <a:lnTo>
                    <a:pt x="2096" y="2667"/>
                  </a:lnTo>
                  <a:cubicBezTo>
                    <a:pt x="2096" y="2596"/>
                    <a:pt x="2168" y="2548"/>
                    <a:pt x="2215" y="2548"/>
                  </a:cubicBezTo>
                  <a:close/>
                  <a:moveTo>
                    <a:pt x="9645" y="381"/>
                  </a:moveTo>
                  <a:lnTo>
                    <a:pt x="9645" y="2167"/>
                  </a:lnTo>
                  <a:lnTo>
                    <a:pt x="9383" y="2167"/>
                  </a:lnTo>
                  <a:cubicBezTo>
                    <a:pt x="9121" y="2167"/>
                    <a:pt x="8883" y="2405"/>
                    <a:pt x="8883" y="2667"/>
                  </a:cubicBezTo>
                  <a:lnTo>
                    <a:pt x="8883" y="2905"/>
                  </a:lnTo>
                  <a:lnTo>
                    <a:pt x="3597" y="2905"/>
                  </a:lnTo>
                  <a:lnTo>
                    <a:pt x="3597" y="2667"/>
                  </a:lnTo>
                  <a:cubicBezTo>
                    <a:pt x="3597" y="2405"/>
                    <a:pt x="3382" y="2167"/>
                    <a:pt x="3120" y="2167"/>
                  </a:cubicBezTo>
                  <a:lnTo>
                    <a:pt x="2858" y="2167"/>
                  </a:lnTo>
                  <a:lnTo>
                    <a:pt x="2858" y="381"/>
                  </a:lnTo>
                  <a:close/>
                  <a:moveTo>
                    <a:pt x="10265" y="2548"/>
                  </a:moveTo>
                  <a:cubicBezTo>
                    <a:pt x="10336" y="2548"/>
                    <a:pt x="10384" y="2596"/>
                    <a:pt x="10384" y="2667"/>
                  </a:cubicBezTo>
                  <a:lnTo>
                    <a:pt x="10384" y="2905"/>
                  </a:lnTo>
                  <a:lnTo>
                    <a:pt x="9264" y="2905"/>
                  </a:lnTo>
                  <a:lnTo>
                    <a:pt x="9264" y="2667"/>
                  </a:lnTo>
                  <a:cubicBezTo>
                    <a:pt x="9264" y="2596"/>
                    <a:pt x="9312" y="2548"/>
                    <a:pt x="9383" y="2548"/>
                  </a:cubicBezTo>
                  <a:close/>
                  <a:moveTo>
                    <a:pt x="905" y="0"/>
                  </a:moveTo>
                  <a:cubicBezTo>
                    <a:pt x="810" y="0"/>
                    <a:pt x="715" y="95"/>
                    <a:pt x="715" y="191"/>
                  </a:cubicBezTo>
                  <a:cubicBezTo>
                    <a:pt x="715" y="286"/>
                    <a:pt x="810" y="381"/>
                    <a:pt x="905" y="381"/>
                  </a:cubicBezTo>
                  <a:lnTo>
                    <a:pt x="2477" y="381"/>
                  </a:lnTo>
                  <a:lnTo>
                    <a:pt x="2477" y="2167"/>
                  </a:lnTo>
                  <a:lnTo>
                    <a:pt x="2215" y="2167"/>
                  </a:lnTo>
                  <a:cubicBezTo>
                    <a:pt x="1953" y="2167"/>
                    <a:pt x="1739" y="2405"/>
                    <a:pt x="1739" y="2667"/>
                  </a:cubicBezTo>
                  <a:lnTo>
                    <a:pt x="1739" y="2905"/>
                  </a:lnTo>
                  <a:lnTo>
                    <a:pt x="191" y="2905"/>
                  </a:lnTo>
                  <a:cubicBezTo>
                    <a:pt x="72" y="2905"/>
                    <a:pt x="1" y="3001"/>
                    <a:pt x="1" y="3096"/>
                  </a:cubicBezTo>
                  <a:lnTo>
                    <a:pt x="1" y="10955"/>
                  </a:lnTo>
                  <a:cubicBezTo>
                    <a:pt x="1" y="11050"/>
                    <a:pt x="72" y="11145"/>
                    <a:pt x="191" y="11145"/>
                  </a:cubicBezTo>
                  <a:lnTo>
                    <a:pt x="2453" y="11145"/>
                  </a:lnTo>
                  <a:cubicBezTo>
                    <a:pt x="2549" y="11145"/>
                    <a:pt x="2644" y="11050"/>
                    <a:pt x="2644" y="10955"/>
                  </a:cubicBezTo>
                  <a:cubicBezTo>
                    <a:pt x="2644" y="10859"/>
                    <a:pt x="2549" y="10764"/>
                    <a:pt x="2453" y="10764"/>
                  </a:cubicBezTo>
                  <a:lnTo>
                    <a:pt x="358" y="10764"/>
                  </a:lnTo>
                  <a:lnTo>
                    <a:pt x="358" y="5906"/>
                  </a:lnTo>
                  <a:lnTo>
                    <a:pt x="12122" y="5906"/>
                  </a:lnTo>
                  <a:lnTo>
                    <a:pt x="12122" y="10764"/>
                  </a:lnTo>
                  <a:lnTo>
                    <a:pt x="3192" y="10764"/>
                  </a:lnTo>
                  <a:cubicBezTo>
                    <a:pt x="3096" y="10764"/>
                    <a:pt x="3001" y="10859"/>
                    <a:pt x="3001" y="10955"/>
                  </a:cubicBezTo>
                  <a:cubicBezTo>
                    <a:pt x="3001" y="11050"/>
                    <a:pt x="3096" y="11145"/>
                    <a:pt x="3192" y="11145"/>
                  </a:cubicBezTo>
                  <a:lnTo>
                    <a:pt x="12313" y="11145"/>
                  </a:lnTo>
                  <a:cubicBezTo>
                    <a:pt x="12408" y="11145"/>
                    <a:pt x="12503" y="11050"/>
                    <a:pt x="12503" y="10955"/>
                  </a:cubicBezTo>
                  <a:lnTo>
                    <a:pt x="12503" y="4596"/>
                  </a:lnTo>
                  <a:cubicBezTo>
                    <a:pt x="12503" y="4501"/>
                    <a:pt x="12408" y="4430"/>
                    <a:pt x="12313" y="4430"/>
                  </a:cubicBezTo>
                  <a:cubicBezTo>
                    <a:pt x="12217" y="4430"/>
                    <a:pt x="12122" y="4501"/>
                    <a:pt x="12122" y="4596"/>
                  </a:cubicBezTo>
                  <a:lnTo>
                    <a:pt x="12122" y="5549"/>
                  </a:lnTo>
                  <a:lnTo>
                    <a:pt x="358" y="5549"/>
                  </a:lnTo>
                  <a:lnTo>
                    <a:pt x="358" y="3286"/>
                  </a:lnTo>
                  <a:lnTo>
                    <a:pt x="12122" y="3286"/>
                  </a:lnTo>
                  <a:lnTo>
                    <a:pt x="12122" y="3858"/>
                  </a:lnTo>
                  <a:cubicBezTo>
                    <a:pt x="12122" y="3977"/>
                    <a:pt x="12217" y="4049"/>
                    <a:pt x="12313" y="4049"/>
                  </a:cubicBezTo>
                  <a:cubicBezTo>
                    <a:pt x="12408" y="4049"/>
                    <a:pt x="12503" y="3977"/>
                    <a:pt x="12503" y="3858"/>
                  </a:cubicBezTo>
                  <a:lnTo>
                    <a:pt x="12503" y="3096"/>
                  </a:lnTo>
                  <a:cubicBezTo>
                    <a:pt x="12503" y="3001"/>
                    <a:pt x="12408" y="2905"/>
                    <a:pt x="12313" y="2905"/>
                  </a:cubicBezTo>
                  <a:lnTo>
                    <a:pt x="10765" y="2905"/>
                  </a:lnTo>
                  <a:lnTo>
                    <a:pt x="10765" y="2667"/>
                  </a:lnTo>
                  <a:cubicBezTo>
                    <a:pt x="10765" y="2405"/>
                    <a:pt x="10527" y="2167"/>
                    <a:pt x="10265" y="2167"/>
                  </a:cubicBezTo>
                  <a:lnTo>
                    <a:pt x="10003" y="2167"/>
                  </a:lnTo>
                  <a:lnTo>
                    <a:pt x="10003" y="381"/>
                  </a:lnTo>
                  <a:lnTo>
                    <a:pt x="11598" y="381"/>
                  </a:lnTo>
                  <a:cubicBezTo>
                    <a:pt x="11693" y="381"/>
                    <a:pt x="11765" y="286"/>
                    <a:pt x="11765" y="191"/>
                  </a:cubicBezTo>
                  <a:cubicBezTo>
                    <a:pt x="11765" y="95"/>
                    <a:pt x="11693" y="0"/>
                    <a:pt x="115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333;p46"/>
          <p:cNvGrpSpPr/>
          <p:nvPr/>
        </p:nvGrpSpPr>
        <p:grpSpPr>
          <a:xfrm>
            <a:off x="3542507" y="1772441"/>
            <a:ext cx="530369" cy="530358"/>
            <a:chOff x="1298772" y="3364597"/>
            <a:chExt cx="428719" cy="429509"/>
          </a:xfrm>
        </p:grpSpPr>
        <p:sp>
          <p:nvSpPr>
            <p:cNvPr id="334" name="Google Shape;334;p46"/>
            <p:cNvSpPr/>
            <p:nvPr/>
          </p:nvSpPr>
          <p:spPr>
            <a:xfrm>
              <a:off x="1416567" y="3475040"/>
              <a:ext cx="20508" cy="13123"/>
            </a:xfrm>
            <a:custGeom>
              <a:avLst/>
              <a:gdLst/>
              <a:ahLst/>
              <a:cxnLst/>
              <a:rect l="l" t="t" r="r" b="b"/>
              <a:pathLst>
                <a:path w="597" h="382" extrusionOk="0">
                  <a:moveTo>
                    <a:pt x="191" y="0"/>
                  </a:moveTo>
                  <a:cubicBezTo>
                    <a:pt x="96" y="0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29" y="381"/>
                  </a:lnTo>
                  <a:cubicBezTo>
                    <a:pt x="525" y="381"/>
                    <a:pt x="596" y="286"/>
                    <a:pt x="596" y="191"/>
                  </a:cubicBezTo>
                  <a:cubicBezTo>
                    <a:pt x="596" y="96"/>
                    <a:pt x="525" y="0"/>
                    <a:pt x="4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6"/>
            <p:cNvSpPr/>
            <p:nvPr/>
          </p:nvSpPr>
          <p:spPr>
            <a:xfrm>
              <a:off x="1444393" y="3475040"/>
              <a:ext cx="45036" cy="13123"/>
            </a:xfrm>
            <a:custGeom>
              <a:avLst/>
              <a:gdLst/>
              <a:ahLst/>
              <a:cxnLst/>
              <a:rect l="l" t="t" r="r" b="b"/>
              <a:pathLst>
                <a:path w="1311" h="382" extrusionOk="0">
                  <a:moveTo>
                    <a:pt x="167" y="0"/>
                  </a:moveTo>
                  <a:cubicBezTo>
                    <a:pt x="72" y="0"/>
                    <a:pt x="1" y="96"/>
                    <a:pt x="1" y="191"/>
                  </a:cubicBezTo>
                  <a:cubicBezTo>
                    <a:pt x="1" y="286"/>
                    <a:pt x="72" y="381"/>
                    <a:pt x="167" y="381"/>
                  </a:cubicBezTo>
                  <a:lnTo>
                    <a:pt x="1120" y="381"/>
                  </a:lnTo>
                  <a:cubicBezTo>
                    <a:pt x="1239" y="381"/>
                    <a:pt x="1310" y="286"/>
                    <a:pt x="1310" y="191"/>
                  </a:cubicBezTo>
                  <a:cubicBezTo>
                    <a:pt x="1310" y="96"/>
                    <a:pt x="1239" y="0"/>
                    <a:pt x="11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6"/>
            <p:cNvSpPr/>
            <p:nvPr/>
          </p:nvSpPr>
          <p:spPr>
            <a:xfrm>
              <a:off x="1416567" y="3499568"/>
              <a:ext cx="20508" cy="12298"/>
            </a:xfrm>
            <a:custGeom>
              <a:avLst/>
              <a:gdLst/>
              <a:ahLst/>
              <a:cxnLst/>
              <a:rect l="l" t="t" r="r" b="b"/>
              <a:pathLst>
                <a:path w="597" h="358" extrusionOk="0">
                  <a:moveTo>
                    <a:pt x="191" y="1"/>
                  </a:moveTo>
                  <a:cubicBezTo>
                    <a:pt x="96" y="1"/>
                    <a:pt x="1" y="72"/>
                    <a:pt x="1" y="167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429" y="358"/>
                  </a:lnTo>
                  <a:cubicBezTo>
                    <a:pt x="525" y="358"/>
                    <a:pt x="596" y="286"/>
                    <a:pt x="596" y="167"/>
                  </a:cubicBezTo>
                  <a:cubicBezTo>
                    <a:pt x="596" y="72"/>
                    <a:pt x="525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6"/>
            <p:cNvSpPr/>
            <p:nvPr/>
          </p:nvSpPr>
          <p:spPr>
            <a:xfrm>
              <a:off x="1444393" y="3499568"/>
              <a:ext cx="45036" cy="12298"/>
            </a:xfrm>
            <a:custGeom>
              <a:avLst/>
              <a:gdLst/>
              <a:ahLst/>
              <a:cxnLst/>
              <a:rect l="l" t="t" r="r" b="b"/>
              <a:pathLst>
                <a:path w="1311" h="358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86"/>
                    <a:pt x="72" y="358"/>
                    <a:pt x="167" y="358"/>
                  </a:cubicBezTo>
                  <a:lnTo>
                    <a:pt x="1120" y="358"/>
                  </a:lnTo>
                  <a:cubicBezTo>
                    <a:pt x="1239" y="358"/>
                    <a:pt x="1310" y="286"/>
                    <a:pt x="1310" y="167"/>
                  </a:cubicBezTo>
                  <a:cubicBezTo>
                    <a:pt x="1310" y="72"/>
                    <a:pt x="1239" y="1"/>
                    <a:pt x="1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6"/>
            <p:cNvSpPr/>
            <p:nvPr/>
          </p:nvSpPr>
          <p:spPr>
            <a:xfrm>
              <a:off x="1416567" y="3451302"/>
              <a:ext cx="20508" cy="12298"/>
            </a:xfrm>
            <a:custGeom>
              <a:avLst/>
              <a:gdLst/>
              <a:ahLst/>
              <a:cxnLst/>
              <a:rect l="l" t="t" r="r" b="b"/>
              <a:pathLst>
                <a:path w="597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429" y="358"/>
                  </a:lnTo>
                  <a:cubicBezTo>
                    <a:pt x="525" y="358"/>
                    <a:pt x="596" y="286"/>
                    <a:pt x="596" y="191"/>
                  </a:cubicBezTo>
                  <a:cubicBezTo>
                    <a:pt x="596" y="72"/>
                    <a:pt x="525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6"/>
            <p:cNvSpPr/>
            <p:nvPr/>
          </p:nvSpPr>
          <p:spPr>
            <a:xfrm>
              <a:off x="1444393" y="3451302"/>
              <a:ext cx="45036" cy="12298"/>
            </a:xfrm>
            <a:custGeom>
              <a:avLst/>
              <a:gdLst/>
              <a:ahLst/>
              <a:cxnLst/>
              <a:rect l="l" t="t" r="r" b="b"/>
              <a:pathLst>
                <a:path w="1311" h="358" extrusionOk="0">
                  <a:moveTo>
                    <a:pt x="167" y="1"/>
                  </a:moveTo>
                  <a:cubicBezTo>
                    <a:pt x="72" y="1"/>
                    <a:pt x="1" y="72"/>
                    <a:pt x="1" y="191"/>
                  </a:cubicBezTo>
                  <a:cubicBezTo>
                    <a:pt x="1" y="286"/>
                    <a:pt x="72" y="358"/>
                    <a:pt x="167" y="358"/>
                  </a:cubicBezTo>
                  <a:lnTo>
                    <a:pt x="1120" y="358"/>
                  </a:lnTo>
                  <a:cubicBezTo>
                    <a:pt x="1239" y="358"/>
                    <a:pt x="1310" y="286"/>
                    <a:pt x="1310" y="191"/>
                  </a:cubicBezTo>
                  <a:cubicBezTo>
                    <a:pt x="1310" y="72"/>
                    <a:pt x="1239" y="1"/>
                    <a:pt x="1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6"/>
            <p:cNvSpPr/>
            <p:nvPr/>
          </p:nvSpPr>
          <p:spPr>
            <a:xfrm>
              <a:off x="1536835" y="3451302"/>
              <a:ext cx="20474" cy="12298"/>
            </a:xfrm>
            <a:custGeom>
              <a:avLst/>
              <a:gdLst/>
              <a:ahLst/>
              <a:cxnLst/>
              <a:rect l="l" t="t" r="r" b="b"/>
              <a:pathLst>
                <a:path w="596" h="358" extrusionOk="0">
                  <a:moveTo>
                    <a:pt x="191" y="1"/>
                  </a:moveTo>
                  <a:cubicBezTo>
                    <a:pt x="72" y="1"/>
                    <a:pt x="1" y="72"/>
                    <a:pt x="1" y="191"/>
                  </a:cubicBezTo>
                  <a:cubicBezTo>
                    <a:pt x="1" y="286"/>
                    <a:pt x="72" y="358"/>
                    <a:pt x="191" y="358"/>
                  </a:cubicBezTo>
                  <a:lnTo>
                    <a:pt x="405" y="358"/>
                  </a:lnTo>
                  <a:cubicBezTo>
                    <a:pt x="501" y="358"/>
                    <a:pt x="596" y="286"/>
                    <a:pt x="596" y="191"/>
                  </a:cubicBezTo>
                  <a:cubicBezTo>
                    <a:pt x="596" y="72"/>
                    <a:pt x="501" y="1"/>
                    <a:pt x="4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6"/>
            <p:cNvSpPr/>
            <p:nvPr/>
          </p:nvSpPr>
          <p:spPr>
            <a:xfrm>
              <a:off x="1563836" y="3451302"/>
              <a:ext cx="45861" cy="12298"/>
            </a:xfrm>
            <a:custGeom>
              <a:avLst/>
              <a:gdLst/>
              <a:ahLst/>
              <a:cxnLst/>
              <a:rect l="l" t="t" r="r" b="b"/>
              <a:pathLst>
                <a:path w="1335" h="358" extrusionOk="0">
                  <a:moveTo>
                    <a:pt x="191" y="1"/>
                  </a:moveTo>
                  <a:cubicBezTo>
                    <a:pt x="72" y="1"/>
                    <a:pt x="0" y="72"/>
                    <a:pt x="0" y="191"/>
                  </a:cubicBezTo>
                  <a:cubicBezTo>
                    <a:pt x="0" y="286"/>
                    <a:pt x="72" y="358"/>
                    <a:pt x="191" y="358"/>
                  </a:cubicBezTo>
                  <a:lnTo>
                    <a:pt x="1144" y="358"/>
                  </a:lnTo>
                  <a:cubicBezTo>
                    <a:pt x="1239" y="358"/>
                    <a:pt x="1334" y="286"/>
                    <a:pt x="1334" y="191"/>
                  </a:cubicBezTo>
                  <a:cubicBezTo>
                    <a:pt x="1334" y="72"/>
                    <a:pt x="1239" y="1"/>
                    <a:pt x="1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6"/>
            <p:cNvSpPr/>
            <p:nvPr/>
          </p:nvSpPr>
          <p:spPr>
            <a:xfrm>
              <a:off x="1536835" y="3475040"/>
              <a:ext cx="20474" cy="13123"/>
            </a:xfrm>
            <a:custGeom>
              <a:avLst/>
              <a:gdLst/>
              <a:ahLst/>
              <a:cxnLst/>
              <a:rect l="l" t="t" r="r" b="b"/>
              <a:pathLst>
                <a:path w="596" h="382" extrusionOk="0">
                  <a:moveTo>
                    <a:pt x="191" y="0"/>
                  </a:moveTo>
                  <a:cubicBezTo>
                    <a:pt x="72" y="0"/>
                    <a:pt x="1" y="96"/>
                    <a:pt x="1" y="191"/>
                  </a:cubicBezTo>
                  <a:cubicBezTo>
                    <a:pt x="1" y="286"/>
                    <a:pt x="72" y="381"/>
                    <a:pt x="191" y="381"/>
                  </a:cubicBezTo>
                  <a:lnTo>
                    <a:pt x="405" y="381"/>
                  </a:lnTo>
                  <a:cubicBezTo>
                    <a:pt x="501" y="381"/>
                    <a:pt x="596" y="286"/>
                    <a:pt x="596" y="191"/>
                  </a:cubicBezTo>
                  <a:cubicBezTo>
                    <a:pt x="596" y="96"/>
                    <a:pt x="501" y="0"/>
                    <a:pt x="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6"/>
            <p:cNvSpPr/>
            <p:nvPr/>
          </p:nvSpPr>
          <p:spPr>
            <a:xfrm>
              <a:off x="1563836" y="3475040"/>
              <a:ext cx="45861" cy="13123"/>
            </a:xfrm>
            <a:custGeom>
              <a:avLst/>
              <a:gdLst/>
              <a:ahLst/>
              <a:cxnLst/>
              <a:rect l="l" t="t" r="r" b="b"/>
              <a:pathLst>
                <a:path w="1335" h="382" extrusionOk="0">
                  <a:moveTo>
                    <a:pt x="191" y="0"/>
                  </a:moveTo>
                  <a:cubicBezTo>
                    <a:pt x="72" y="0"/>
                    <a:pt x="0" y="96"/>
                    <a:pt x="0" y="191"/>
                  </a:cubicBezTo>
                  <a:cubicBezTo>
                    <a:pt x="0" y="286"/>
                    <a:pt x="72" y="381"/>
                    <a:pt x="191" y="381"/>
                  </a:cubicBezTo>
                  <a:lnTo>
                    <a:pt x="1144" y="381"/>
                  </a:lnTo>
                  <a:cubicBezTo>
                    <a:pt x="1239" y="381"/>
                    <a:pt x="1334" y="286"/>
                    <a:pt x="1334" y="191"/>
                  </a:cubicBezTo>
                  <a:cubicBezTo>
                    <a:pt x="1334" y="96"/>
                    <a:pt x="1239" y="0"/>
                    <a:pt x="1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6"/>
            <p:cNvSpPr/>
            <p:nvPr/>
          </p:nvSpPr>
          <p:spPr>
            <a:xfrm>
              <a:off x="1536835" y="3499568"/>
              <a:ext cx="20474" cy="12298"/>
            </a:xfrm>
            <a:custGeom>
              <a:avLst/>
              <a:gdLst/>
              <a:ahLst/>
              <a:cxnLst/>
              <a:rect l="l" t="t" r="r" b="b"/>
              <a:pathLst>
                <a:path w="596" h="358" extrusionOk="0">
                  <a:moveTo>
                    <a:pt x="191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86"/>
                    <a:pt x="72" y="358"/>
                    <a:pt x="191" y="358"/>
                  </a:cubicBezTo>
                  <a:lnTo>
                    <a:pt x="405" y="358"/>
                  </a:lnTo>
                  <a:cubicBezTo>
                    <a:pt x="501" y="358"/>
                    <a:pt x="596" y="286"/>
                    <a:pt x="596" y="167"/>
                  </a:cubicBezTo>
                  <a:cubicBezTo>
                    <a:pt x="596" y="72"/>
                    <a:pt x="501" y="1"/>
                    <a:pt x="4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6"/>
            <p:cNvSpPr/>
            <p:nvPr/>
          </p:nvSpPr>
          <p:spPr>
            <a:xfrm>
              <a:off x="1563836" y="3499568"/>
              <a:ext cx="45861" cy="12298"/>
            </a:xfrm>
            <a:custGeom>
              <a:avLst/>
              <a:gdLst/>
              <a:ahLst/>
              <a:cxnLst/>
              <a:rect l="l" t="t" r="r" b="b"/>
              <a:pathLst>
                <a:path w="1335" h="358" extrusionOk="0">
                  <a:moveTo>
                    <a:pt x="191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86"/>
                    <a:pt x="72" y="358"/>
                    <a:pt x="191" y="358"/>
                  </a:cubicBezTo>
                  <a:lnTo>
                    <a:pt x="1144" y="358"/>
                  </a:lnTo>
                  <a:cubicBezTo>
                    <a:pt x="1239" y="358"/>
                    <a:pt x="1334" y="286"/>
                    <a:pt x="1334" y="167"/>
                  </a:cubicBezTo>
                  <a:cubicBezTo>
                    <a:pt x="1334" y="72"/>
                    <a:pt x="1239" y="1"/>
                    <a:pt x="1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6"/>
            <p:cNvSpPr/>
            <p:nvPr/>
          </p:nvSpPr>
          <p:spPr>
            <a:xfrm>
              <a:off x="1506571" y="3461952"/>
              <a:ext cx="13123" cy="39299"/>
            </a:xfrm>
            <a:custGeom>
              <a:avLst/>
              <a:gdLst/>
              <a:ahLst/>
              <a:cxnLst/>
              <a:rect l="l" t="t" r="r" b="b"/>
              <a:pathLst>
                <a:path w="382" h="1144" extrusionOk="0">
                  <a:moveTo>
                    <a:pt x="191" y="0"/>
                  </a:moveTo>
                  <a:cubicBezTo>
                    <a:pt x="96" y="0"/>
                    <a:pt x="0" y="72"/>
                    <a:pt x="0" y="191"/>
                  </a:cubicBezTo>
                  <a:lnTo>
                    <a:pt x="0" y="953"/>
                  </a:lnTo>
                  <a:cubicBezTo>
                    <a:pt x="0" y="1072"/>
                    <a:pt x="96" y="1143"/>
                    <a:pt x="191" y="1143"/>
                  </a:cubicBezTo>
                  <a:cubicBezTo>
                    <a:pt x="286" y="1143"/>
                    <a:pt x="381" y="1072"/>
                    <a:pt x="381" y="953"/>
                  </a:cubicBezTo>
                  <a:lnTo>
                    <a:pt x="381" y="191"/>
                  </a:lnTo>
                  <a:cubicBezTo>
                    <a:pt x="381" y="72"/>
                    <a:pt x="286" y="0"/>
                    <a:pt x="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6"/>
            <p:cNvSpPr/>
            <p:nvPr/>
          </p:nvSpPr>
          <p:spPr>
            <a:xfrm>
              <a:off x="1298772" y="3565009"/>
              <a:ext cx="428719" cy="229097"/>
            </a:xfrm>
            <a:custGeom>
              <a:avLst/>
              <a:gdLst/>
              <a:ahLst/>
              <a:cxnLst/>
              <a:rect l="l" t="t" r="r" b="b"/>
              <a:pathLst>
                <a:path w="12480" h="6669" extrusionOk="0">
                  <a:moveTo>
                    <a:pt x="6573" y="358"/>
                  </a:moveTo>
                  <a:cubicBezTo>
                    <a:pt x="6859" y="358"/>
                    <a:pt x="7097" y="549"/>
                    <a:pt x="7169" y="811"/>
                  </a:cubicBezTo>
                  <a:cubicBezTo>
                    <a:pt x="7312" y="1358"/>
                    <a:pt x="7383" y="1930"/>
                    <a:pt x="7383" y="2501"/>
                  </a:cubicBezTo>
                  <a:lnTo>
                    <a:pt x="5097" y="2501"/>
                  </a:lnTo>
                  <a:cubicBezTo>
                    <a:pt x="5097" y="1930"/>
                    <a:pt x="5168" y="1358"/>
                    <a:pt x="5311" y="811"/>
                  </a:cubicBezTo>
                  <a:cubicBezTo>
                    <a:pt x="5383" y="549"/>
                    <a:pt x="5621" y="358"/>
                    <a:pt x="5907" y="358"/>
                  </a:cubicBezTo>
                  <a:close/>
                  <a:moveTo>
                    <a:pt x="10598" y="358"/>
                  </a:moveTo>
                  <a:cubicBezTo>
                    <a:pt x="10860" y="358"/>
                    <a:pt x="11098" y="549"/>
                    <a:pt x="11170" y="811"/>
                  </a:cubicBezTo>
                  <a:cubicBezTo>
                    <a:pt x="11312" y="1358"/>
                    <a:pt x="11408" y="1930"/>
                    <a:pt x="11408" y="2501"/>
                  </a:cubicBezTo>
                  <a:lnTo>
                    <a:pt x="9098" y="2501"/>
                  </a:lnTo>
                  <a:cubicBezTo>
                    <a:pt x="9098" y="1930"/>
                    <a:pt x="9193" y="1358"/>
                    <a:pt x="9336" y="811"/>
                  </a:cubicBezTo>
                  <a:cubicBezTo>
                    <a:pt x="9407" y="549"/>
                    <a:pt x="9645" y="358"/>
                    <a:pt x="9907" y="358"/>
                  </a:cubicBezTo>
                  <a:close/>
                  <a:moveTo>
                    <a:pt x="3716" y="2859"/>
                  </a:moveTo>
                  <a:lnTo>
                    <a:pt x="3716" y="3192"/>
                  </a:lnTo>
                  <a:lnTo>
                    <a:pt x="739" y="3192"/>
                  </a:lnTo>
                  <a:lnTo>
                    <a:pt x="739" y="2859"/>
                  </a:lnTo>
                  <a:close/>
                  <a:moveTo>
                    <a:pt x="7716" y="2859"/>
                  </a:moveTo>
                  <a:lnTo>
                    <a:pt x="7716" y="3192"/>
                  </a:lnTo>
                  <a:lnTo>
                    <a:pt x="4763" y="3192"/>
                  </a:lnTo>
                  <a:lnTo>
                    <a:pt x="4763" y="2859"/>
                  </a:lnTo>
                  <a:close/>
                  <a:moveTo>
                    <a:pt x="11741" y="2859"/>
                  </a:moveTo>
                  <a:lnTo>
                    <a:pt x="11741" y="3192"/>
                  </a:lnTo>
                  <a:lnTo>
                    <a:pt x="8764" y="3192"/>
                  </a:lnTo>
                  <a:lnTo>
                    <a:pt x="8764" y="2859"/>
                  </a:lnTo>
                  <a:close/>
                  <a:moveTo>
                    <a:pt x="1048" y="4621"/>
                  </a:moveTo>
                  <a:lnTo>
                    <a:pt x="1048" y="6312"/>
                  </a:lnTo>
                  <a:lnTo>
                    <a:pt x="739" y="6312"/>
                  </a:lnTo>
                  <a:lnTo>
                    <a:pt x="739" y="4621"/>
                  </a:lnTo>
                  <a:close/>
                  <a:moveTo>
                    <a:pt x="5716" y="4621"/>
                  </a:moveTo>
                  <a:lnTo>
                    <a:pt x="5716" y="6312"/>
                  </a:lnTo>
                  <a:lnTo>
                    <a:pt x="1429" y="6312"/>
                  </a:lnTo>
                  <a:lnTo>
                    <a:pt x="1429" y="4621"/>
                  </a:lnTo>
                  <a:close/>
                  <a:moveTo>
                    <a:pt x="6407" y="4621"/>
                  </a:moveTo>
                  <a:lnTo>
                    <a:pt x="6407" y="6312"/>
                  </a:lnTo>
                  <a:lnTo>
                    <a:pt x="6073" y="6312"/>
                  </a:lnTo>
                  <a:lnTo>
                    <a:pt x="6073" y="4621"/>
                  </a:lnTo>
                  <a:close/>
                  <a:moveTo>
                    <a:pt x="12122" y="3549"/>
                  </a:moveTo>
                  <a:lnTo>
                    <a:pt x="12122" y="4240"/>
                  </a:lnTo>
                  <a:lnTo>
                    <a:pt x="8955" y="4240"/>
                  </a:lnTo>
                  <a:cubicBezTo>
                    <a:pt x="8860" y="4240"/>
                    <a:pt x="8764" y="4335"/>
                    <a:pt x="8764" y="4430"/>
                  </a:cubicBezTo>
                  <a:cubicBezTo>
                    <a:pt x="8764" y="4526"/>
                    <a:pt x="8860" y="4621"/>
                    <a:pt x="8955" y="4621"/>
                  </a:cubicBezTo>
                  <a:lnTo>
                    <a:pt x="11050" y="4621"/>
                  </a:lnTo>
                  <a:lnTo>
                    <a:pt x="11050" y="6312"/>
                  </a:lnTo>
                  <a:lnTo>
                    <a:pt x="6764" y="6312"/>
                  </a:lnTo>
                  <a:lnTo>
                    <a:pt x="6764" y="4621"/>
                  </a:lnTo>
                  <a:lnTo>
                    <a:pt x="8217" y="4621"/>
                  </a:lnTo>
                  <a:cubicBezTo>
                    <a:pt x="8312" y="4621"/>
                    <a:pt x="8407" y="4526"/>
                    <a:pt x="8407" y="4430"/>
                  </a:cubicBezTo>
                  <a:cubicBezTo>
                    <a:pt x="8407" y="4335"/>
                    <a:pt x="8312" y="4240"/>
                    <a:pt x="8217" y="4240"/>
                  </a:cubicBezTo>
                  <a:lnTo>
                    <a:pt x="358" y="4240"/>
                  </a:lnTo>
                  <a:lnTo>
                    <a:pt x="358" y="3549"/>
                  </a:lnTo>
                  <a:close/>
                  <a:moveTo>
                    <a:pt x="11741" y="4621"/>
                  </a:moveTo>
                  <a:lnTo>
                    <a:pt x="11741" y="6312"/>
                  </a:lnTo>
                  <a:lnTo>
                    <a:pt x="11431" y="6312"/>
                  </a:lnTo>
                  <a:lnTo>
                    <a:pt x="11431" y="4621"/>
                  </a:lnTo>
                  <a:close/>
                  <a:moveTo>
                    <a:pt x="1882" y="1"/>
                  </a:moveTo>
                  <a:cubicBezTo>
                    <a:pt x="1453" y="1"/>
                    <a:pt x="1072" y="287"/>
                    <a:pt x="953" y="691"/>
                  </a:cubicBezTo>
                  <a:cubicBezTo>
                    <a:pt x="929" y="787"/>
                    <a:pt x="977" y="882"/>
                    <a:pt x="1096" y="906"/>
                  </a:cubicBezTo>
                  <a:cubicBezTo>
                    <a:pt x="1117" y="916"/>
                    <a:pt x="1138" y="921"/>
                    <a:pt x="1158" y="921"/>
                  </a:cubicBezTo>
                  <a:cubicBezTo>
                    <a:pt x="1230" y="921"/>
                    <a:pt x="1292" y="861"/>
                    <a:pt x="1310" y="787"/>
                  </a:cubicBezTo>
                  <a:cubicBezTo>
                    <a:pt x="1382" y="525"/>
                    <a:pt x="1620" y="358"/>
                    <a:pt x="1882" y="358"/>
                  </a:cubicBezTo>
                  <a:lnTo>
                    <a:pt x="2572" y="358"/>
                  </a:lnTo>
                  <a:cubicBezTo>
                    <a:pt x="2834" y="358"/>
                    <a:pt x="3073" y="549"/>
                    <a:pt x="3144" y="811"/>
                  </a:cubicBezTo>
                  <a:cubicBezTo>
                    <a:pt x="3287" y="1358"/>
                    <a:pt x="3382" y="1930"/>
                    <a:pt x="3382" y="2501"/>
                  </a:cubicBezTo>
                  <a:lnTo>
                    <a:pt x="1072" y="2501"/>
                  </a:lnTo>
                  <a:cubicBezTo>
                    <a:pt x="1072" y="2168"/>
                    <a:pt x="1120" y="1811"/>
                    <a:pt x="1167" y="1477"/>
                  </a:cubicBezTo>
                  <a:cubicBezTo>
                    <a:pt x="1167" y="1382"/>
                    <a:pt x="1120" y="1287"/>
                    <a:pt x="1001" y="1263"/>
                  </a:cubicBezTo>
                  <a:cubicBezTo>
                    <a:pt x="905" y="1263"/>
                    <a:pt x="810" y="1334"/>
                    <a:pt x="810" y="1430"/>
                  </a:cubicBezTo>
                  <a:cubicBezTo>
                    <a:pt x="739" y="1787"/>
                    <a:pt x="715" y="2144"/>
                    <a:pt x="715" y="2501"/>
                  </a:cubicBezTo>
                  <a:lnTo>
                    <a:pt x="691" y="2501"/>
                  </a:lnTo>
                  <a:cubicBezTo>
                    <a:pt x="524" y="2501"/>
                    <a:pt x="382" y="2620"/>
                    <a:pt x="382" y="2811"/>
                  </a:cubicBezTo>
                  <a:lnTo>
                    <a:pt x="382" y="3192"/>
                  </a:lnTo>
                  <a:lnTo>
                    <a:pt x="167" y="3192"/>
                  </a:lnTo>
                  <a:cubicBezTo>
                    <a:pt x="72" y="3192"/>
                    <a:pt x="1" y="3263"/>
                    <a:pt x="1" y="3359"/>
                  </a:cubicBezTo>
                  <a:lnTo>
                    <a:pt x="1" y="4430"/>
                  </a:lnTo>
                  <a:cubicBezTo>
                    <a:pt x="1" y="4526"/>
                    <a:pt x="72" y="4621"/>
                    <a:pt x="167" y="4621"/>
                  </a:cubicBezTo>
                  <a:lnTo>
                    <a:pt x="382" y="4621"/>
                  </a:lnTo>
                  <a:lnTo>
                    <a:pt x="382" y="6312"/>
                  </a:lnTo>
                  <a:lnTo>
                    <a:pt x="167" y="6312"/>
                  </a:lnTo>
                  <a:cubicBezTo>
                    <a:pt x="72" y="6312"/>
                    <a:pt x="1" y="6383"/>
                    <a:pt x="1" y="6478"/>
                  </a:cubicBezTo>
                  <a:cubicBezTo>
                    <a:pt x="1" y="6574"/>
                    <a:pt x="72" y="6669"/>
                    <a:pt x="167" y="6669"/>
                  </a:cubicBezTo>
                  <a:lnTo>
                    <a:pt x="12313" y="6669"/>
                  </a:lnTo>
                  <a:cubicBezTo>
                    <a:pt x="12408" y="6669"/>
                    <a:pt x="12479" y="6597"/>
                    <a:pt x="12479" y="6478"/>
                  </a:cubicBezTo>
                  <a:cubicBezTo>
                    <a:pt x="12479" y="6383"/>
                    <a:pt x="12408" y="6312"/>
                    <a:pt x="12313" y="6312"/>
                  </a:cubicBezTo>
                  <a:lnTo>
                    <a:pt x="12098" y="6312"/>
                  </a:lnTo>
                  <a:lnTo>
                    <a:pt x="12098" y="4621"/>
                  </a:lnTo>
                  <a:lnTo>
                    <a:pt x="12313" y="4621"/>
                  </a:lnTo>
                  <a:cubicBezTo>
                    <a:pt x="12408" y="4621"/>
                    <a:pt x="12479" y="4526"/>
                    <a:pt x="12479" y="4430"/>
                  </a:cubicBezTo>
                  <a:lnTo>
                    <a:pt x="12479" y="3359"/>
                  </a:lnTo>
                  <a:cubicBezTo>
                    <a:pt x="12479" y="3263"/>
                    <a:pt x="12408" y="3192"/>
                    <a:pt x="12313" y="3192"/>
                  </a:cubicBezTo>
                  <a:lnTo>
                    <a:pt x="12098" y="3192"/>
                  </a:lnTo>
                  <a:lnTo>
                    <a:pt x="12098" y="2811"/>
                  </a:lnTo>
                  <a:cubicBezTo>
                    <a:pt x="12098" y="2620"/>
                    <a:pt x="11955" y="2501"/>
                    <a:pt x="11789" y="2501"/>
                  </a:cubicBezTo>
                  <a:lnTo>
                    <a:pt x="11765" y="2501"/>
                  </a:lnTo>
                  <a:cubicBezTo>
                    <a:pt x="11765" y="1906"/>
                    <a:pt x="11693" y="1311"/>
                    <a:pt x="11527" y="715"/>
                  </a:cubicBezTo>
                  <a:cubicBezTo>
                    <a:pt x="11408" y="287"/>
                    <a:pt x="11027" y="1"/>
                    <a:pt x="10598" y="1"/>
                  </a:cubicBezTo>
                  <a:lnTo>
                    <a:pt x="9907" y="1"/>
                  </a:lnTo>
                  <a:cubicBezTo>
                    <a:pt x="9479" y="1"/>
                    <a:pt x="9098" y="287"/>
                    <a:pt x="8979" y="715"/>
                  </a:cubicBezTo>
                  <a:cubicBezTo>
                    <a:pt x="8812" y="1311"/>
                    <a:pt x="8740" y="1906"/>
                    <a:pt x="8740" y="2501"/>
                  </a:cubicBezTo>
                  <a:lnTo>
                    <a:pt x="8717" y="2501"/>
                  </a:lnTo>
                  <a:cubicBezTo>
                    <a:pt x="8550" y="2501"/>
                    <a:pt x="8407" y="2620"/>
                    <a:pt x="8407" y="2811"/>
                  </a:cubicBezTo>
                  <a:lnTo>
                    <a:pt x="8407" y="3192"/>
                  </a:lnTo>
                  <a:lnTo>
                    <a:pt x="8097" y="3192"/>
                  </a:lnTo>
                  <a:lnTo>
                    <a:pt x="8097" y="2811"/>
                  </a:lnTo>
                  <a:cubicBezTo>
                    <a:pt x="8097" y="2620"/>
                    <a:pt x="7955" y="2501"/>
                    <a:pt x="7788" y="2501"/>
                  </a:cubicBezTo>
                  <a:lnTo>
                    <a:pt x="7764" y="2501"/>
                  </a:lnTo>
                  <a:cubicBezTo>
                    <a:pt x="7764" y="1906"/>
                    <a:pt x="7669" y="1311"/>
                    <a:pt x="7526" y="715"/>
                  </a:cubicBezTo>
                  <a:cubicBezTo>
                    <a:pt x="7407" y="287"/>
                    <a:pt x="7026" y="1"/>
                    <a:pt x="6573" y="1"/>
                  </a:cubicBezTo>
                  <a:lnTo>
                    <a:pt x="5907" y="1"/>
                  </a:lnTo>
                  <a:cubicBezTo>
                    <a:pt x="5454" y="1"/>
                    <a:pt x="5073" y="287"/>
                    <a:pt x="4978" y="715"/>
                  </a:cubicBezTo>
                  <a:cubicBezTo>
                    <a:pt x="4811" y="1311"/>
                    <a:pt x="4740" y="1906"/>
                    <a:pt x="4716" y="2501"/>
                  </a:cubicBezTo>
                  <a:lnTo>
                    <a:pt x="4692" y="2501"/>
                  </a:lnTo>
                  <a:cubicBezTo>
                    <a:pt x="4525" y="2501"/>
                    <a:pt x="4382" y="2620"/>
                    <a:pt x="4382" y="2811"/>
                  </a:cubicBezTo>
                  <a:lnTo>
                    <a:pt x="4382" y="3192"/>
                  </a:lnTo>
                  <a:lnTo>
                    <a:pt x="4073" y="3192"/>
                  </a:lnTo>
                  <a:lnTo>
                    <a:pt x="4073" y="2811"/>
                  </a:lnTo>
                  <a:cubicBezTo>
                    <a:pt x="4073" y="2620"/>
                    <a:pt x="3930" y="2501"/>
                    <a:pt x="3763" y="2501"/>
                  </a:cubicBezTo>
                  <a:lnTo>
                    <a:pt x="3739" y="2501"/>
                  </a:lnTo>
                  <a:cubicBezTo>
                    <a:pt x="3739" y="1906"/>
                    <a:pt x="3668" y="1311"/>
                    <a:pt x="3501" y="715"/>
                  </a:cubicBezTo>
                  <a:cubicBezTo>
                    <a:pt x="3382" y="287"/>
                    <a:pt x="3001" y="1"/>
                    <a:pt x="2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6"/>
            <p:cNvSpPr/>
            <p:nvPr/>
          </p:nvSpPr>
          <p:spPr>
            <a:xfrm>
              <a:off x="1391215" y="3364597"/>
              <a:ext cx="243834" cy="167743"/>
            </a:xfrm>
            <a:custGeom>
              <a:avLst/>
              <a:gdLst/>
              <a:ahLst/>
              <a:cxnLst/>
              <a:rect l="l" t="t" r="r" b="b"/>
              <a:pathLst>
                <a:path w="7098" h="4883" extrusionOk="0">
                  <a:moveTo>
                    <a:pt x="6740" y="1286"/>
                  </a:moveTo>
                  <a:lnTo>
                    <a:pt x="6740" y="1929"/>
                  </a:lnTo>
                  <a:lnTo>
                    <a:pt x="358" y="1929"/>
                  </a:lnTo>
                  <a:lnTo>
                    <a:pt x="358" y="1286"/>
                  </a:lnTo>
                  <a:close/>
                  <a:moveTo>
                    <a:pt x="1715" y="0"/>
                  </a:moveTo>
                  <a:cubicBezTo>
                    <a:pt x="1620" y="0"/>
                    <a:pt x="1525" y="72"/>
                    <a:pt x="1525" y="191"/>
                  </a:cubicBezTo>
                  <a:lnTo>
                    <a:pt x="1525" y="929"/>
                  </a:lnTo>
                  <a:lnTo>
                    <a:pt x="167" y="929"/>
                  </a:lnTo>
                  <a:cubicBezTo>
                    <a:pt x="72" y="929"/>
                    <a:pt x="1" y="1001"/>
                    <a:pt x="1" y="1120"/>
                  </a:cubicBezTo>
                  <a:lnTo>
                    <a:pt x="1" y="4692"/>
                  </a:lnTo>
                  <a:cubicBezTo>
                    <a:pt x="1" y="4787"/>
                    <a:pt x="72" y="4882"/>
                    <a:pt x="167" y="4882"/>
                  </a:cubicBezTo>
                  <a:lnTo>
                    <a:pt x="6931" y="4882"/>
                  </a:lnTo>
                  <a:cubicBezTo>
                    <a:pt x="7026" y="4882"/>
                    <a:pt x="7097" y="4787"/>
                    <a:pt x="7097" y="4692"/>
                  </a:cubicBezTo>
                  <a:lnTo>
                    <a:pt x="7097" y="3525"/>
                  </a:lnTo>
                  <a:cubicBezTo>
                    <a:pt x="7097" y="3406"/>
                    <a:pt x="7026" y="3334"/>
                    <a:pt x="6931" y="3334"/>
                  </a:cubicBezTo>
                  <a:cubicBezTo>
                    <a:pt x="6812" y="3334"/>
                    <a:pt x="6740" y="3406"/>
                    <a:pt x="6740" y="3525"/>
                  </a:cubicBezTo>
                  <a:lnTo>
                    <a:pt x="6740" y="4501"/>
                  </a:lnTo>
                  <a:lnTo>
                    <a:pt x="358" y="4501"/>
                  </a:lnTo>
                  <a:lnTo>
                    <a:pt x="358" y="2310"/>
                  </a:lnTo>
                  <a:lnTo>
                    <a:pt x="6740" y="2310"/>
                  </a:lnTo>
                  <a:lnTo>
                    <a:pt x="6740" y="2787"/>
                  </a:lnTo>
                  <a:cubicBezTo>
                    <a:pt x="6740" y="2882"/>
                    <a:pt x="6812" y="2953"/>
                    <a:pt x="6931" y="2953"/>
                  </a:cubicBezTo>
                  <a:cubicBezTo>
                    <a:pt x="7026" y="2953"/>
                    <a:pt x="7097" y="2882"/>
                    <a:pt x="7097" y="2787"/>
                  </a:cubicBezTo>
                  <a:lnTo>
                    <a:pt x="7097" y="1120"/>
                  </a:lnTo>
                  <a:cubicBezTo>
                    <a:pt x="7097" y="1001"/>
                    <a:pt x="7026" y="929"/>
                    <a:pt x="6931" y="929"/>
                  </a:cubicBezTo>
                  <a:lnTo>
                    <a:pt x="5573" y="929"/>
                  </a:lnTo>
                  <a:lnTo>
                    <a:pt x="5573" y="191"/>
                  </a:lnTo>
                  <a:cubicBezTo>
                    <a:pt x="5573" y="72"/>
                    <a:pt x="5478" y="0"/>
                    <a:pt x="5383" y="0"/>
                  </a:cubicBezTo>
                  <a:cubicBezTo>
                    <a:pt x="5287" y="0"/>
                    <a:pt x="5192" y="72"/>
                    <a:pt x="5192" y="191"/>
                  </a:cubicBezTo>
                  <a:lnTo>
                    <a:pt x="5192" y="929"/>
                  </a:lnTo>
                  <a:lnTo>
                    <a:pt x="1906" y="929"/>
                  </a:lnTo>
                  <a:lnTo>
                    <a:pt x="1906" y="191"/>
                  </a:lnTo>
                  <a:cubicBezTo>
                    <a:pt x="1906" y="72"/>
                    <a:pt x="1810" y="0"/>
                    <a:pt x="17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9" name="Google Shape;349;p46"/>
          <p:cNvPicPr preferRelativeResize="0"/>
          <p:nvPr/>
        </p:nvPicPr>
        <p:blipFill rotWithShape="1">
          <a:blip r:embed="rId3">
            <a:alphaModFix/>
          </a:blip>
          <a:srcRect l="3175" t="16283" r="2056" b="18216"/>
          <a:stretch/>
        </p:blipFill>
        <p:spPr>
          <a:xfrm rot="647233">
            <a:off x="4445320" y="243997"/>
            <a:ext cx="4748444" cy="173664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Google Shape;289;p46">
            <a:extLst>
              <a:ext uri="{FF2B5EF4-FFF2-40B4-BE49-F238E27FC236}">
                <a16:creationId xmlns:a16="http://schemas.microsoft.com/office/drawing/2014/main" id="{10DB0091-D30D-BC10-83B8-7BBAE79437C8}"/>
              </a:ext>
            </a:extLst>
          </p:cNvPr>
          <p:cNvSpPr txBox="1">
            <a:spLocks/>
          </p:cNvSpPr>
          <p:nvPr/>
        </p:nvSpPr>
        <p:spPr>
          <a:xfrm>
            <a:off x="847143" y="3062623"/>
            <a:ext cx="2326481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r>
              <a:rPr lang="en-US"/>
              <a:t>Correlation Analysis</a:t>
            </a:r>
          </a:p>
        </p:txBody>
      </p:sp>
      <p:sp>
        <p:nvSpPr>
          <p:cNvPr id="3" name="Google Shape;290;p46">
            <a:extLst>
              <a:ext uri="{FF2B5EF4-FFF2-40B4-BE49-F238E27FC236}">
                <a16:creationId xmlns:a16="http://schemas.microsoft.com/office/drawing/2014/main" id="{393EB845-6943-142B-0935-2E8093A59015}"/>
              </a:ext>
            </a:extLst>
          </p:cNvPr>
          <p:cNvSpPr txBox="1">
            <a:spLocks/>
          </p:cNvSpPr>
          <p:nvPr/>
        </p:nvSpPr>
        <p:spPr>
          <a:xfrm>
            <a:off x="967905" y="3456212"/>
            <a:ext cx="22056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/>
            <a:r>
              <a:rPr lang="en-US"/>
              <a:t>Menilai hubungan service rating ↔ satisfaction serta delay ↔ dissatisfaction.</a:t>
            </a:r>
          </a:p>
        </p:txBody>
      </p:sp>
      <p:sp>
        <p:nvSpPr>
          <p:cNvPr id="4" name="Google Shape;293;p46">
            <a:extLst>
              <a:ext uri="{FF2B5EF4-FFF2-40B4-BE49-F238E27FC236}">
                <a16:creationId xmlns:a16="http://schemas.microsoft.com/office/drawing/2014/main" id="{8B47F009-4DDD-0855-FF25-678848607F77}"/>
              </a:ext>
            </a:extLst>
          </p:cNvPr>
          <p:cNvSpPr/>
          <p:nvPr/>
        </p:nvSpPr>
        <p:spPr>
          <a:xfrm>
            <a:off x="3325905" y="3176031"/>
            <a:ext cx="971400" cy="9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1399;p74">
            <a:extLst>
              <a:ext uri="{FF2B5EF4-FFF2-40B4-BE49-F238E27FC236}">
                <a16:creationId xmlns:a16="http://schemas.microsoft.com/office/drawing/2014/main" id="{0564167A-5412-894F-B3EC-4D43F10F32B6}"/>
              </a:ext>
            </a:extLst>
          </p:cNvPr>
          <p:cNvGrpSpPr/>
          <p:nvPr/>
        </p:nvGrpSpPr>
        <p:grpSpPr>
          <a:xfrm>
            <a:off x="3597181" y="3364597"/>
            <a:ext cx="437256" cy="594024"/>
            <a:chOff x="3433162" y="3364597"/>
            <a:chExt cx="301924" cy="429509"/>
          </a:xfrm>
          <a:solidFill>
            <a:schemeClr val="accent2"/>
          </a:solidFill>
        </p:grpSpPr>
        <p:sp>
          <p:nvSpPr>
            <p:cNvPr id="22" name="Google Shape;1400;p74">
              <a:extLst>
                <a:ext uri="{FF2B5EF4-FFF2-40B4-BE49-F238E27FC236}">
                  <a16:creationId xmlns:a16="http://schemas.microsoft.com/office/drawing/2014/main" id="{6E0813D7-5D48-0D28-D392-A98C8BA93E26}"/>
                </a:ext>
              </a:extLst>
            </p:cNvPr>
            <p:cNvSpPr/>
            <p:nvPr/>
          </p:nvSpPr>
          <p:spPr>
            <a:xfrm>
              <a:off x="3526429" y="3389124"/>
              <a:ext cx="114566" cy="46685"/>
            </a:xfrm>
            <a:custGeom>
              <a:avLst/>
              <a:gdLst/>
              <a:ahLst/>
              <a:cxnLst/>
              <a:rect l="l" t="t" r="r" b="b"/>
              <a:pathLst>
                <a:path w="3335" h="1359" extrusionOk="0">
                  <a:moveTo>
                    <a:pt x="2906" y="358"/>
                  </a:moveTo>
                  <a:cubicBezTo>
                    <a:pt x="2953" y="358"/>
                    <a:pt x="2977" y="382"/>
                    <a:pt x="2977" y="429"/>
                  </a:cubicBezTo>
                  <a:lnTo>
                    <a:pt x="2977" y="930"/>
                  </a:lnTo>
                  <a:cubicBezTo>
                    <a:pt x="2977" y="977"/>
                    <a:pt x="2953" y="1001"/>
                    <a:pt x="2906" y="1001"/>
                  </a:cubicBezTo>
                  <a:lnTo>
                    <a:pt x="429" y="1001"/>
                  </a:lnTo>
                  <a:cubicBezTo>
                    <a:pt x="405" y="1001"/>
                    <a:pt x="381" y="977"/>
                    <a:pt x="381" y="930"/>
                  </a:cubicBezTo>
                  <a:lnTo>
                    <a:pt x="381" y="429"/>
                  </a:lnTo>
                  <a:cubicBezTo>
                    <a:pt x="381" y="382"/>
                    <a:pt x="405" y="358"/>
                    <a:pt x="429" y="358"/>
                  </a:cubicBezTo>
                  <a:close/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930"/>
                  </a:lnTo>
                  <a:cubicBezTo>
                    <a:pt x="0" y="1168"/>
                    <a:pt x="191" y="1358"/>
                    <a:pt x="429" y="1358"/>
                  </a:cubicBezTo>
                  <a:lnTo>
                    <a:pt x="2906" y="1358"/>
                  </a:lnTo>
                  <a:cubicBezTo>
                    <a:pt x="3144" y="1358"/>
                    <a:pt x="3334" y="1168"/>
                    <a:pt x="3334" y="930"/>
                  </a:cubicBezTo>
                  <a:lnTo>
                    <a:pt x="3334" y="429"/>
                  </a:lnTo>
                  <a:cubicBezTo>
                    <a:pt x="3334" y="191"/>
                    <a:pt x="3144" y="1"/>
                    <a:pt x="29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01;p74">
              <a:extLst>
                <a:ext uri="{FF2B5EF4-FFF2-40B4-BE49-F238E27FC236}">
                  <a16:creationId xmlns:a16="http://schemas.microsoft.com/office/drawing/2014/main" id="{14D49F26-9F9B-81EB-2A7A-FBCE67AE2CD8}"/>
                </a:ext>
              </a:extLst>
            </p:cNvPr>
            <p:cNvSpPr/>
            <p:nvPr/>
          </p:nvSpPr>
          <p:spPr>
            <a:xfrm>
              <a:off x="3546044" y="3735192"/>
              <a:ext cx="76125" cy="12298"/>
            </a:xfrm>
            <a:custGeom>
              <a:avLst/>
              <a:gdLst/>
              <a:ahLst/>
              <a:cxnLst/>
              <a:rect l="l" t="t" r="r" b="b"/>
              <a:pathLst>
                <a:path w="2216" h="358" extrusionOk="0">
                  <a:moveTo>
                    <a:pt x="168" y="0"/>
                  </a:moveTo>
                  <a:cubicBezTo>
                    <a:pt x="72" y="0"/>
                    <a:pt x="1" y="72"/>
                    <a:pt x="1" y="191"/>
                  </a:cubicBezTo>
                  <a:cubicBezTo>
                    <a:pt x="1" y="286"/>
                    <a:pt x="72" y="357"/>
                    <a:pt x="168" y="357"/>
                  </a:cubicBezTo>
                  <a:lnTo>
                    <a:pt x="2025" y="357"/>
                  </a:lnTo>
                  <a:cubicBezTo>
                    <a:pt x="2120" y="357"/>
                    <a:pt x="2216" y="286"/>
                    <a:pt x="2216" y="191"/>
                  </a:cubicBezTo>
                  <a:cubicBezTo>
                    <a:pt x="2216" y="72"/>
                    <a:pt x="2120" y="0"/>
                    <a:pt x="20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02;p74">
              <a:extLst>
                <a:ext uri="{FF2B5EF4-FFF2-40B4-BE49-F238E27FC236}">
                  <a16:creationId xmlns:a16="http://schemas.microsoft.com/office/drawing/2014/main" id="{C651C2AC-E16F-D682-0F08-AB2438402C5F}"/>
                </a:ext>
              </a:extLst>
            </p:cNvPr>
            <p:cNvSpPr/>
            <p:nvPr/>
          </p:nvSpPr>
          <p:spPr>
            <a:xfrm>
              <a:off x="3546044" y="3758105"/>
              <a:ext cx="76125" cy="12298"/>
            </a:xfrm>
            <a:custGeom>
              <a:avLst/>
              <a:gdLst/>
              <a:ahLst/>
              <a:cxnLst/>
              <a:rect l="l" t="t" r="r" b="b"/>
              <a:pathLst>
                <a:path w="2216" h="358" extrusionOk="0">
                  <a:moveTo>
                    <a:pt x="168" y="0"/>
                  </a:moveTo>
                  <a:cubicBezTo>
                    <a:pt x="72" y="0"/>
                    <a:pt x="1" y="71"/>
                    <a:pt x="1" y="191"/>
                  </a:cubicBezTo>
                  <a:cubicBezTo>
                    <a:pt x="1" y="286"/>
                    <a:pt x="72" y="357"/>
                    <a:pt x="168" y="357"/>
                  </a:cubicBezTo>
                  <a:lnTo>
                    <a:pt x="2025" y="357"/>
                  </a:lnTo>
                  <a:cubicBezTo>
                    <a:pt x="2120" y="357"/>
                    <a:pt x="2216" y="286"/>
                    <a:pt x="2216" y="191"/>
                  </a:cubicBezTo>
                  <a:cubicBezTo>
                    <a:pt x="2216" y="71"/>
                    <a:pt x="2120" y="0"/>
                    <a:pt x="20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03;p74">
              <a:extLst>
                <a:ext uri="{FF2B5EF4-FFF2-40B4-BE49-F238E27FC236}">
                  <a16:creationId xmlns:a16="http://schemas.microsoft.com/office/drawing/2014/main" id="{B15AD9BB-CA75-F84B-68FF-F0616D4760BB}"/>
                </a:ext>
              </a:extLst>
            </p:cNvPr>
            <p:cNvSpPr/>
            <p:nvPr/>
          </p:nvSpPr>
          <p:spPr>
            <a:xfrm>
              <a:off x="3666312" y="3600186"/>
              <a:ext cx="23772" cy="12333"/>
            </a:xfrm>
            <a:custGeom>
              <a:avLst/>
              <a:gdLst/>
              <a:ahLst/>
              <a:cxnLst/>
              <a:rect l="l" t="t" r="r" b="b"/>
              <a:pathLst>
                <a:path w="692" h="359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7"/>
                    <a:pt x="96" y="358"/>
                    <a:pt x="191" y="358"/>
                  </a:cubicBezTo>
                  <a:lnTo>
                    <a:pt x="501" y="358"/>
                  </a:lnTo>
                  <a:cubicBezTo>
                    <a:pt x="596" y="358"/>
                    <a:pt x="691" y="287"/>
                    <a:pt x="691" y="191"/>
                  </a:cubicBezTo>
                  <a:cubicBezTo>
                    <a:pt x="691" y="72"/>
                    <a:pt x="596" y="1"/>
                    <a:pt x="5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04;p74">
              <a:extLst>
                <a:ext uri="{FF2B5EF4-FFF2-40B4-BE49-F238E27FC236}">
                  <a16:creationId xmlns:a16="http://schemas.microsoft.com/office/drawing/2014/main" id="{672F58B9-74D7-DC43-DE7C-46619D5F9086}"/>
                </a:ext>
              </a:extLst>
            </p:cNvPr>
            <p:cNvSpPr/>
            <p:nvPr/>
          </p:nvSpPr>
          <p:spPr>
            <a:xfrm>
              <a:off x="3582046" y="3530657"/>
              <a:ext cx="105565" cy="46685"/>
            </a:xfrm>
            <a:custGeom>
              <a:avLst/>
              <a:gdLst/>
              <a:ahLst/>
              <a:cxnLst/>
              <a:rect l="l" t="t" r="r" b="b"/>
              <a:pathLst>
                <a:path w="3073" h="1359" extrusionOk="0">
                  <a:moveTo>
                    <a:pt x="1692" y="1"/>
                  </a:moveTo>
                  <a:cubicBezTo>
                    <a:pt x="1168" y="1"/>
                    <a:pt x="715" y="286"/>
                    <a:pt x="453" y="739"/>
                  </a:cubicBezTo>
                  <a:lnTo>
                    <a:pt x="382" y="572"/>
                  </a:lnTo>
                  <a:cubicBezTo>
                    <a:pt x="364" y="502"/>
                    <a:pt x="296" y="458"/>
                    <a:pt x="223" y="458"/>
                  </a:cubicBezTo>
                  <a:cubicBezTo>
                    <a:pt x="196" y="458"/>
                    <a:pt x="169" y="464"/>
                    <a:pt x="144" y="477"/>
                  </a:cubicBezTo>
                  <a:cubicBezTo>
                    <a:pt x="48" y="501"/>
                    <a:pt x="1" y="620"/>
                    <a:pt x="48" y="715"/>
                  </a:cubicBezTo>
                  <a:lnTo>
                    <a:pt x="263" y="1239"/>
                  </a:lnTo>
                  <a:cubicBezTo>
                    <a:pt x="287" y="1310"/>
                    <a:pt x="382" y="1358"/>
                    <a:pt x="453" y="1358"/>
                  </a:cubicBezTo>
                  <a:lnTo>
                    <a:pt x="1001" y="1263"/>
                  </a:lnTo>
                  <a:cubicBezTo>
                    <a:pt x="1096" y="1239"/>
                    <a:pt x="1168" y="1144"/>
                    <a:pt x="1144" y="1048"/>
                  </a:cubicBezTo>
                  <a:cubicBezTo>
                    <a:pt x="1144" y="953"/>
                    <a:pt x="1049" y="882"/>
                    <a:pt x="930" y="882"/>
                  </a:cubicBezTo>
                  <a:lnTo>
                    <a:pt x="763" y="929"/>
                  </a:lnTo>
                  <a:cubicBezTo>
                    <a:pt x="953" y="596"/>
                    <a:pt x="1311" y="382"/>
                    <a:pt x="1692" y="382"/>
                  </a:cubicBezTo>
                  <a:cubicBezTo>
                    <a:pt x="2144" y="382"/>
                    <a:pt x="2525" y="644"/>
                    <a:pt x="2692" y="1048"/>
                  </a:cubicBezTo>
                  <a:cubicBezTo>
                    <a:pt x="2716" y="1120"/>
                    <a:pt x="2787" y="1168"/>
                    <a:pt x="2858" y="1168"/>
                  </a:cubicBezTo>
                  <a:lnTo>
                    <a:pt x="2930" y="1168"/>
                  </a:lnTo>
                  <a:cubicBezTo>
                    <a:pt x="3025" y="1120"/>
                    <a:pt x="3073" y="1025"/>
                    <a:pt x="3049" y="929"/>
                  </a:cubicBezTo>
                  <a:cubicBezTo>
                    <a:pt x="2811" y="358"/>
                    <a:pt x="2287" y="1"/>
                    <a:pt x="16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05;p74">
              <a:extLst>
                <a:ext uri="{FF2B5EF4-FFF2-40B4-BE49-F238E27FC236}">
                  <a16:creationId xmlns:a16="http://schemas.microsoft.com/office/drawing/2014/main" id="{EBB43828-F263-D013-4BB6-AC3D37C8DE5A}"/>
                </a:ext>
              </a:extLst>
            </p:cNvPr>
            <p:cNvSpPr/>
            <p:nvPr/>
          </p:nvSpPr>
          <p:spPr>
            <a:xfrm>
              <a:off x="3631960" y="3551921"/>
              <a:ext cx="17211" cy="12333"/>
            </a:xfrm>
            <a:custGeom>
              <a:avLst/>
              <a:gdLst/>
              <a:ahLst/>
              <a:cxnLst/>
              <a:rect l="l" t="t" r="r" b="b"/>
              <a:pathLst>
                <a:path w="501" h="359" extrusionOk="0">
                  <a:moveTo>
                    <a:pt x="191" y="1"/>
                  </a:moveTo>
                  <a:cubicBezTo>
                    <a:pt x="72" y="1"/>
                    <a:pt x="0" y="72"/>
                    <a:pt x="0" y="191"/>
                  </a:cubicBezTo>
                  <a:cubicBezTo>
                    <a:pt x="0" y="287"/>
                    <a:pt x="72" y="358"/>
                    <a:pt x="191" y="358"/>
                  </a:cubicBezTo>
                  <a:lnTo>
                    <a:pt x="310" y="358"/>
                  </a:lnTo>
                  <a:cubicBezTo>
                    <a:pt x="429" y="358"/>
                    <a:pt x="501" y="287"/>
                    <a:pt x="501" y="191"/>
                  </a:cubicBezTo>
                  <a:cubicBezTo>
                    <a:pt x="501" y="72"/>
                    <a:pt x="429" y="1"/>
                    <a:pt x="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06;p74">
              <a:extLst>
                <a:ext uri="{FF2B5EF4-FFF2-40B4-BE49-F238E27FC236}">
                  <a16:creationId xmlns:a16="http://schemas.microsoft.com/office/drawing/2014/main" id="{D41C83F8-5FC1-EA38-FAA4-C9641806F324}"/>
                </a:ext>
              </a:extLst>
            </p:cNvPr>
            <p:cNvSpPr/>
            <p:nvPr/>
          </p:nvSpPr>
          <p:spPr>
            <a:xfrm>
              <a:off x="3590221" y="3583834"/>
              <a:ext cx="13123" cy="43387"/>
            </a:xfrm>
            <a:custGeom>
              <a:avLst/>
              <a:gdLst/>
              <a:ahLst/>
              <a:cxnLst/>
              <a:rect l="l" t="t" r="r" b="b"/>
              <a:pathLst>
                <a:path w="382" h="126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72"/>
                  </a:lnTo>
                  <a:cubicBezTo>
                    <a:pt x="1" y="1191"/>
                    <a:pt x="96" y="1263"/>
                    <a:pt x="191" y="1263"/>
                  </a:cubicBezTo>
                  <a:cubicBezTo>
                    <a:pt x="287" y="1263"/>
                    <a:pt x="382" y="1191"/>
                    <a:pt x="382" y="1072"/>
                  </a:cubicBezTo>
                  <a:lnTo>
                    <a:pt x="382" y="191"/>
                  </a:lnTo>
                  <a:cubicBezTo>
                    <a:pt x="382" y="96"/>
                    <a:pt x="287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07;p74">
              <a:extLst>
                <a:ext uri="{FF2B5EF4-FFF2-40B4-BE49-F238E27FC236}">
                  <a16:creationId xmlns:a16="http://schemas.microsoft.com/office/drawing/2014/main" id="{854DFCCC-C66F-397B-6F4B-969E04F33F63}"/>
                </a:ext>
              </a:extLst>
            </p:cNvPr>
            <p:cNvSpPr/>
            <p:nvPr/>
          </p:nvSpPr>
          <p:spPr>
            <a:xfrm>
              <a:off x="3526429" y="3565009"/>
              <a:ext cx="13123" cy="28684"/>
            </a:xfrm>
            <a:custGeom>
              <a:avLst/>
              <a:gdLst/>
              <a:ahLst/>
              <a:cxnLst/>
              <a:rect l="l" t="t" r="r" b="b"/>
              <a:pathLst>
                <a:path w="382" h="835" extrusionOk="0">
                  <a:moveTo>
                    <a:pt x="191" y="1"/>
                  </a:moveTo>
                  <a:cubicBezTo>
                    <a:pt x="96" y="1"/>
                    <a:pt x="0" y="96"/>
                    <a:pt x="0" y="191"/>
                  </a:cubicBezTo>
                  <a:lnTo>
                    <a:pt x="0" y="644"/>
                  </a:lnTo>
                  <a:cubicBezTo>
                    <a:pt x="0" y="739"/>
                    <a:pt x="96" y="834"/>
                    <a:pt x="191" y="834"/>
                  </a:cubicBezTo>
                  <a:cubicBezTo>
                    <a:pt x="286" y="834"/>
                    <a:pt x="381" y="739"/>
                    <a:pt x="381" y="644"/>
                  </a:cubicBezTo>
                  <a:lnTo>
                    <a:pt x="381" y="191"/>
                  </a:lnTo>
                  <a:cubicBezTo>
                    <a:pt x="381" y="96"/>
                    <a:pt x="286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08;p74">
              <a:extLst>
                <a:ext uri="{FF2B5EF4-FFF2-40B4-BE49-F238E27FC236}">
                  <a16:creationId xmlns:a16="http://schemas.microsoft.com/office/drawing/2014/main" id="{D05FCF8C-03F0-8EC9-7B8C-4C42C0D2D061}"/>
                </a:ext>
              </a:extLst>
            </p:cNvPr>
            <p:cNvSpPr/>
            <p:nvPr/>
          </p:nvSpPr>
          <p:spPr>
            <a:xfrm>
              <a:off x="3471602" y="3449688"/>
              <a:ext cx="55685" cy="61388"/>
            </a:xfrm>
            <a:custGeom>
              <a:avLst/>
              <a:gdLst/>
              <a:ahLst/>
              <a:cxnLst/>
              <a:rect l="l" t="t" r="r" b="b"/>
              <a:pathLst>
                <a:path w="1621" h="1787" extrusionOk="0">
                  <a:moveTo>
                    <a:pt x="1239" y="357"/>
                  </a:moveTo>
                  <a:lnTo>
                    <a:pt x="1239" y="1429"/>
                  </a:lnTo>
                  <a:lnTo>
                    <a:pt x="358" y="1429"/>
                  </a:lnTo>
                  <a:lnTo>
                    <a:pt x="358" y="357"/>
                  </a:lnTo>
                  <a:close/>
                  <a:moveTo>
                    <a:pt x="358" y="0"/>
                  </a:moveTo>
                  <a:cubicBezTo>
                    <a:pt x="167" y="0"/>
                    <a:pt x="1" y="167"/>
                    <a:pt x="1" y="357"/>
                  </a:cubicBezTo>
                  <a:lnTo>
                    <a:pt x="1" y="1429"/>
                  </a:lnTo>
                  <a:cubicBezTo>
                    <a:pt x="1" y="1619"/>
                    <a:pt x="167" y="1786"/>
                    <a:pt x="358" y="1786"/>
                  </a:cubicBezTo>
                  <a:lnTo>
                    <a:pt x="1239" y="1786"/>
                  </a:lnTo>
                  <a:cubicBezTo>
                    <a:pt x="1453" y="1786"/>
                    <a:pt x="1620" y="1619"/>
                    <a:pt x="1620" y="1429"/>
                  </a:cubicBezTo>
                  <a:lnTo>
                    <a:pt x="1620" y="357"/>
                  </a:lnTo>
                  <a:cubicBezTo>
                    <a:pt x="1620" y="143"/>
                    <a:pt x="1453" y="0"/>
                    <a:pt x="1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09;p74">
              <a:extLst>
                <a:ext uri="{FF2B5EF4-FFF2-40B4-BE49-F238E27FC236}">
                  <a16:creationId xmlns:a16="http://schemas.microsoft.com/office/drawing/2014/main" id="{5D21DA46-F844-C426-D30E-E2CC4CECB4F8}"/>
                </a:ext>
              </a:extLst>
            </p:cNvPr>
            <p:cNvSpPr/>
            <p:nvPr/>
          </p:nvSpPr>
          <p:spPr>
            <a:xfrm>
              <a:off x="3552606" y="3452127"/>
              <a:ext cx="62212" cy="13123"/>
            </a:xfrm>
            <a:custGeom>
              <a:avLst/>
              <a:gdLst/>
              <a:ahLst/>
              <a:cxnLst/>
              <a:rect l="l" t="t" r="r" b="b"/>
              <a:pathLst>
                <a:path w="1811" h="382" extrusionOk="0">
                  <a:moveTo>
                    <a:pt x="191" y="0"/>
                  </a:moveTo>
                  <a:cubicBezTo>
                    <a:pt x="96" y="0"/>
                    <a:pt x="0" y="96"/>
                    <a:pt x="0" y="191"/>
                  </a:cubicBezTo>
                  <a:cubicBezTo>
                    <a:pt x="0" y="286"/>
                    <a:pt x="96" y="382"/>
                    <a:pt x="191" y="382"/>
                  </a:cubicBezTo>
                  <a:lnTo>
                    <a:pt x="1644" y="382"/>
                  </a:lnTo>
                  <a:cubicBezTo>
                    <a:pt x="1739" y="382"/>
                    <a:pt x="1810" y="286"/>
                    <a:pt x="1810" y="191"/>
                  </a:cubicBezTo>
                  <a:cubicBezTo>
                    <a:pt x="1810" y="96"/>
                    <a:pt x="1739" y="0"/>
                    <a:pt x="1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10;p74">
              <a:extLst>
                <a:ext uri="{FF2B5EF4-FFF2-40B4-BE49-F238E27FC236}">
                  <a16:creationId xmlns:a16="http://schemas.microsoft.com/office/drawing/2014/main" id="{DB361A96-691E-658F-3EAC-A3C4C093D09F}"/>
                </a:ext>
              </a:extLst>
            </p:cNvPr>
            <p:cNvSpPr/>
            <p:nvPr/>
          </p:nvSpPr>
          <p:spPr>
            <a:xfrm>
              <a:off x="3552606" y="3474216"/>
              <a:ext cx="62212" cy="12298"/>
            </a:xfrm>
            <a:custGeom>
              <a:avLst/>
              <a:gdLst/>
              <a:ahLst/>
              <a:cxnLst/>
              <a:rect l="l" t="t" r="r" b="b"/>
              <a:pathLst>
                <a:path w="1811" h="358" extrusionOk="0">
                  <a:moveTo>
                    <a:pt x="191" y="0"/>
                  </a:moveTo>
                  <a:cubicBezTo>
                    <a:pt x="96" y="0"/>
                    <a:pt x="0" y="72"/>
                    <a:pt x="0" y="167"/>
                  </a:cubicBezTo>
                  <a:cubicBezTo>
                    <a:pt x="0" y="286"/>
                    <a:pt x="96" y="358"/>
                    <a:pt x="191" y="358"/>
                  </a:cubicBezTo>
                  <a:lnTo>
                    <a:pt x="1644" y="358"/>
                  </a:lnTo>
                  <a:cubicBezTo>
                    <a:pt x="1739" y="358"/>
                    <a:pt x="1810" y="286"/>
                    <a:pt x="1810" y="167"/>
                  </a:cubicBezTo>
                  <a:cubicBezTo>
                    <a:pt x="1810" y="72"/>
                    <a:pt x="1739" y="0"/>
                    <a:pt x="1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11;p74">
              <a:extLst>
                <a:ext uri="{FF2B5EF4-FFF2-40B4-BE49-F238E27FC236}">
                  <a16:creationId xmlns:a16="http://schemas.microsoft.com/office/drawing/2014/main" id="{645BA63C-40A1-4649-E05C-CEC73CAD551F}"/>
                </a:ext>
              </a:extLst>
            </p:cNvPr>
            <p:cNvSpPr/>
            <p:nvPr/>
          </p:nvSpPr>
          <p:spPr>
            <a:xfrm>
              <a:off x="3622959" y="3580571"/>
              <a:ext cx="89213" cy="52388"/>
            </a:xfrm>
            <a:custGeom>
              <a:avLst/>
              <a:gdLst/>
              <a:ahLst/>
              <a:cxnLst/>
              <a:rect l="l" t="t" r="r" b="b"/>
              <a:pathLst>
                <a:path w="2597" h="1525" extrusionOk="0">
                  <a:moveTo>
                    <a:pt x="548" y="0"/>
                  </a:moveTo>
                  <a:cubicBezTo>
                    <a:pt x="239" y="0"/>
                    <a:pt x="0" y="238"/>
                    <a:pt x="0" y="548"/>
                  </a:cubicBezTo>
                  <a:lnTo>
                    <a:pt x="0" y="977"/>
                  </a:lnTo>
                  <a:cubicBezTo>
                    <a:pt x="0" y="1262"/>
                    <a:pt x="239" y="1524"/>
                    <a:pt x="548" y="1524"/>
                  </a:cubicBezTo>
                  <a:lnTo>
                    <a:pt x="2049" y="1524"/>
                  </a:lnTo>
                  <a:cubicBezTo>
                    <a:pt x="2358" y="1524"/>
                    <a:pt x="2596" y="1262"/>
                    <a:pt x="2596" y="977"/>
                  </a:cubicBezTo>
                  <a:lnTo>
                    <a:pt x="2596" y="548"/>
                  </a:lnTo>
                  <a:cubicBezTo>
                    <a:pt x="2596" y="238"/>
                    <a:pt x="2358" y="0"/>
                    <a:pt x="2049" y="0"/>
                  </a:cubicBezTo>
                  <a:lnTo>
                    <a:pt x="1667" y="0"/>
                  </a:lnTo>
                  <a:cubicBezTo>
                    <a:pt x="1548" y="0"/>
                    <a:pt x="1477" y="72"/>
                    <a:pt x="1477" y="191"/>
                  </a:cubicBezTo>
                  <a:cubicBezTo>
                    <a:pt x="1477" y="286"/>
                    <a:pt x="1548" y="358"/>
                    <a:pt x="1667" y="358"/>
                  </a:cubicBezTo>
                  <a:lnTo>
                    <a:pt x="2049" y="358"/>
                  </a:lnTo>
                  <a:cubicBezTo>
                    <a:pt x="2144" y="358"/>
                    <a:pt x="2215" y="453"/>
                    <a:pt x="2215" y="548"/>
                  </a:cubicBezTo>
                  <a:lnTo>
                    <a:pt x="2215" y="977"/>
                  </a:lnTo>
                  <a:cubicBezTo>
                    <a:pt x="2215" y="1072"/>
                    <a:pt x="2144" y="1143"/>
                    <a:pt x="2049" y="1143"/>
                  </a:cubicBezTo>
                  <a:lnTo>
                    <a:pt x="548" y="1143"/>
                  </a:lnTo>
                  <a:cubicBezTo>
                    <a:pt x="453" y="1143"/>
                    <a:pt x="358" y="1072"/>
                    <a:pt x="358" y="977"/>
                  </a:cubicBezTo>
                  <a:lnTo>
                    <a:pt x="358" y="548"/>
                  </a:lnTo>
                  <a:cubicBezTo>
                    <a:pt x="358" y="453"/>
                    <a:pt x="453" y="358"/>
                    <a:pt x="548" y="358"/>
                  </a:cubicBezTo>
                  <a:lnTo>
                    <a:pt x="929" y="358"/>
                  </a:lnTo>
                  <a:cubicBezTo>
                    <a:pt x="1024" y="358"/>
                    <a:pt x="1120" y="286"/>
                    <a:pt x="1120" y="191"/>
                  </a:cubicBezTo>
                  <a:cubicBezTo>
                    <a:pt x="1120" y="72"/>
                    <a:pt x="1024" y="0"/>
                    <a:pt x="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12;p74">
              <a:extLst>
                <a:ext uri="{FF2B5EF4-FFF2-40B4-BE49-F238E27FC236}">
                  <a16:creationId xmlns:a16="http://schemas.microsoft.com/office/drawing/2014/main" id="{BC382B9E-D659-BBAA-92AE-441304ED0C3E}"/>
                </a:ext>
              </a:extLst>
            </p:cNvPr>
            <p:cNvSpPr/>
            <p:nvPr/>
          </p:nvSpPr>
          <p:spPr>
            <a:xfrm>
              <a:off x="3433162" y="3364597"/>
              <a:ext cx="301924" cy="429509"/>
            </a:xfrm>
            <a:custGeom>
              <a:avLst/>
              <a:gdLst/>
              <a:ahLst/>
              <a:cxnLst/>
              <a:rect l="l" t="t" r="r" b="b"/>
              <a:pathLst>
                <a:path w="8789" h="12503" extrusionOk="0">
                  <a:moveTo>
                    <a:pt x="3406" y="5025"/>
                  </a:moveTo>
                  <a:lnTo>
                    <a:pt x="3406" y="7478"/>
                  </a:lnTo>
                  <a:lnTo>
                    <a:pt x="2954" y="7478"/>
                  </a:lnTo>
                  <a:cubicBezTo>
                    <a:pt x="2668" y="7478"/>
                    <a:pt x="2453" y="7288"/>
                    <a:pt x="2382" y="7026"/>
                  </a:cubicBezTo>
                  <a:cubicBezTo>
                    <a:pt x="2287" y="6502"/>
                    <a:pt x="2287" y="6002"/>
                    <a:pt x="2382" y="5478"/>
                  </a:cubicBezTo>
                  <a:cubicBezTo>
                    <a:pt x="2453" y="5216"/>
                    <a:pt x="2668" y="5025"/>
                    <a:pt x="2954" y="5025"/>
                  </a:cubicBezTo>
                  <a:close/>
                  <a:moveTo>
                    <a:pt x="8407" y="4263"/>
                  </a:moveTo>
                  <a:lnTo>
                    <a:pt x="8407" y="8240"/>
                  </a:lnTo>
                  <a:lnTo>
                    <a:pt x="4144" y="8240"/>
                  </a:lnTo>
                  <a:cubicBezTo>
                    <a:pt x="3930" y="8240"/>
                    <a:pt x="3763" y="8073"/>
                    <a:pt x="3763" y="7859"/>
                  </a:cubicBezTo>
                  <a:lnTo>
                    <a:pt x="3763" y="4644"/>
                  </a:lnTo>
                  <a:cubicBezTo>
                    <a:pt x="3763" y="4430"/>
                    <a:pt x="3930" y="4263"/>
                    <a:pt x="4144" y="4263"/>
                  </a:cubicBezTo>
                  <a:close/>
                  <a:moveTo>
                    <a:pt x="1525" y="0"/>
                  </a:moveTo>
                  <a:cubicBezTo>
                    <a:pt x="691" y="0"/>
                    <a:pt x="1" y="691"/>
                    <a:pt x="1" y="1524"/>
                  </a:cubicBezTo>
                  <a:lnTo>
                    <a:pt x="1" y="1667"/>
                  </a:lnTo>
                  <a:cubicBezTo>
                    <a:pt x="1" y="1786"/>
                    <a:pt x="72" y="1858"/>
                    <a:pt x="191" y="1858"/>
                  </a:cubicBezTo>
                  <a:cubicBezTo>
                    <a:pt x="286" y="1858"/>
                    <a:pt x="358" y="1786"/>
                    <a:pt x="358" y="1667"/>
                  </a:cubicBezTo>
                  <a:lnTo>
                    <a:pt x="358" y="1524"/>
                  </a:lnTo>
                  <a:cubicBezTo>
                    <a:pt x="358" y="881"/>
                    <a:pt x="882" y="358"/>
                    <a:pt x="1525" y="358"/>
                  </a:cubicBezTo>
                  <a:lnTo>
                    <a:pt x="7240" y="358"/>
                  </a:lnTo>
                  <a:cubicBezTo>
                    <a:pt x="7883" y="358"/>
                    <a:pt x="8407" y="881"/>
                    <a:pt x="8407" y="1524"/>
                  </a:cubicBezTo>
                  <a:lnTo>
                    <a:pt x="8407" y="3906"/>
                  </a:lnTo>
                  <a:lnTo>
                    <a:pt x="4144" y="3906"/>
                  </a:lnTo>
                  <a:cubicBezTo>
                    <a:pt x="3739" y="3906"/>
                    <a:pt x="3406" y="4239"/>
                    <a:pt x="3406" y="4644"/>
                  </a:cubicBezTo>
                  <a:lnTo>
                    <a:pt x="3406" y="4668"/>
                  </a:lnTo>
                  <a:lnTo>
                    <a:pt x="2954" y="4668"/>
                  </a:lnTo>
                  <a:cubicBezTo>
                    <a:pt x="2501" y="4668"/>
                    <a:pt x="2120" y="4978"/>
                    <a:pt x="2025" y="5406"/>
                  </a:cubicBezTo>
                  <a:cubicBezTo>
                    <a:pt x="1929" y="5978"/>
                    <a:pt x="1929" y="6525"/>
                    <a:pt x="2025" y="7097"/>
                  </a:cubicBezTo>
                  <a:cubicBezTo>
                    <a:pt x="2120" y="7526"/>
                    <a:pt x="2501" y="7835"/>
                    <a:pt x="2954" y="7835"/>
                  </a:cubicBezTo>
                  <a:lnTo>
                    <a:pt x="3406" y="7835"/>
                  </a:lnTo>
                  <a:lnTo>
                    <a:pt x="3406" y="7859"/>
                  </a:lnTo>
                  <a:cubicBezTo>
                    <a:pt x="3406" y="8264"/>
                    <a:pt x="3739" y="8597"/>
                    <a:pt x="4144" y="8597"/>
                  </a:cubicBezTo>
                  <a:lnTo>
                    <a:pt x="8407" y="8597"/>
                  </a:lnTo>
                  <a:lnTo>
                    <a:pt x="8407" y="10979"/>
                  </a:lnTo>
                  <a:cubicBezTo>
                    <a:pt x="8407" y="11622"/>
                    <a:pt x="7883" y="12146"/>
                    <a:pt x="7240" y="12146"/>
                  </a:cubicBezTo>
                  <a:lnTo>
                    <a:pt x="6549" y="12146"/>
                  </a:lnTo>
                  <a:lnTo>
                    <a:pt x="6549" y="10907"/>
                  </a:lnTo>
                  <a:cubicBezTo>
                    <a:pt x="6549" y="10455"/>
                    <a:pt x="6192" y="10098"/>
                    <a:pt x="5764" y="10098"/>
                  </a:cubicBezTo>
                  <a:lnTo>
                    <a:pt x="5287" y="10098"/>
                  </a:lnTo>
                  <a:cubicBezTo>
                    <a:pt x="5192" y="10098"/>
                    <a:pt x="5121" y="10193"/>
                    <a:pt x="5121" y="10288"/>
                  </a:cubicBezTo>
                  <a:cubicBezTo>
                    <a:pt x="5121" y="10383"/>
                    <a:pt x="5192" y="10479"/>
                    <a:pt x="5287" y="10479"/>
                  </a:cubicBezTo>
                  <a:lnTo>
                    <a:pt x="5764" y="10479"/>
                  </a:lnTo>
                  <a:cubicBezTo>
                    <a:pt x="6002" y="10479"/>
                    <a:pt x="6192" y="10669"/>
                    <a:pt x="6192" y="10907"/>
                  </a:cubicBezTo>
                  <a:lnTo>
                    <a:pt x="6192" y="12146"/>
                  </a:lnTo>
                  <a:lnTo>
                    <a:pt x="2596" y="12146"/>
                  </a:lnTo>
                  <a:lnTo>
                    <a:pt x="2596" y="10907"/>
                  </a:lnTo>
                  <a:cubicBezTo>
                    <a:pt x="2596" y="10669"/>
                    <a:pt x="2787" y="10479"/>
                    <a:pt x="3025" y="10479"/>
                  </a:cubicBezTo>
                  <a:lnTo>
                    <a:pt x="4573" y="10479"/>
                  </a:lnTo>
                  <a:cubicBezTo>
                    <a:pt x="4668" y="10479"/>
                    <a:pt x="4740" y="10383"/>
                    <a:pt x="4740" y="10288"/>
                  </a:cubicBezTo>
                  <a:cubicBezTo>
                    <a:pt x="4740" y="10193"/>
                    <a:pt x="4668" y="10098"/>
                    <a:pt x="4573" y="10098"/>
                  </a:cubicBezTo>
                  <a:lnTo>
                    <a:pt x="3025" y="10098"/>
                  </a:lnTo>
                  <a:cubicBezTo>
                    <a:pt x="2572" y="10098"/>
                    <a:pt x="2215" y="10455"/>
                    <a:pt x="2215" y="10907"/>
                  </a:cubicBezTo>
                  <a:lnTo>
                    <a:pt x="2215" y="12146"/>
                  </a:lnTo>
                  <a:lnTo>
                    <a:pt x="1525" y="12146"/>
                  </a:lnTo>
                  <a:cubicBezTo>
                    <a:pt x="882" y="12146"/>
                    <a:pt x="358" y="11622"/>
                    <a:pt x="358" y="10979"/>
                  </a:cubicBezTo>
                  <a:lnTo>
                    <a:pt x="358" y="2406"/>
                  </a:lnTo>
                  <a:cubicBezTo>
                    <a:pt x="358" y="2310"/>
                    <a:pt x="286" y="2215"/>
                    <a:pt x="191" y="2215"/>
                  </a:cubicBezTo>
                  <a:cubicBezTo>
                    <a:pt x="72" y="2215"/>
                    <a:pt x="1" y="2310"/>
                    <a:pt x="1" y="2406"/>
                  </a:cubicBezTo>
                  <a:lnTo>
                    <a:pt x="1" y="10979"/>
                  </a:lnTo>
                  <a:cubicBezTo>
                    <a:pt x="1" y="11812"/>
                    <a:pt x="691" y="12503"/>
                    <a:pt x="1525" y="12503"/>
                  </a:cubicBezTo>
                  <a:lnTo>
                    <a:pt x="7240" y="12503"/>
                  </a:lnTo>
                  <a:cubicBezTo>
                    <a:pt x="8097" y="12503"/>
                    <a:pt x="8788" y="11812"/>
                    <a:pt x="8788" y="10979"/>
                  </a:cubicBezTo>
                  <a:lnTo>
                    <a:pt x="8788" y="1524"/>
                  </a:lnTo>
                  <a:cubicBezTo>
                    <a:pt x="8788" y="691"/>
                    <a:pt x="8097" y="0"/>
                    <a:pt x="7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35380">
            <a:off x="287226" y="2167864"/>
            <a:ext cx="5300550" cy="295068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02" name="Google Shape;1102;p69"/>
          <p:cNvSpPr txBox="1">
            <a:spLocks noGrp="1"/>
          </p:cNvSpPr>
          <p:nvPr>
            <p:ph type="title"/>
          </p:nvPr>
        </p:nvSpPr>
        <p:spPr>
          <a:xfrm>
            <a:off x="2464800" y="1356899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1103" name="Google Shape;1103;p69"/>
          <p:cNvSpPr txBox="1">
            <a:spLocks noGrp="1"/>
          </p:cNvSpPr>
          <p:nvPr>
            <p:ph type="title" idx="2"/>
          </p:nvPr>
        </p:nvSpPr>
        <p:spPr>
          <a:xfrm>
            <a:off x="7057800" y="539400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104" name="Google Shape;1104;p69"/>
          <p:cNvSpPr txBox="1">
            <a:spLocks noGrp="1"/>
          </p:cNvSpPr>
          <p:nvPr>
            <p:ph type="subTitle" idx="1"/>
          </p:nvPr>
        </p:nvSpPr>
        <p:spPr>
          <a:xfrm>
            <a:off x="3980700" y="2204599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Data Cleaning &amp; Feature Engineering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"/>
          <p:cNvSpPr txBox="1">
            <a:spLocks noGrp="1"/>
          </p:cNvSpPr>
          <p:nvPr>
            <p:ph type="title"/>
          </p:nvPr>
        </p:nvSpPr>
        <p:spPr>
          <a:xfrm>
            <a:off x="4489100" y="1622525"/>
            <a:ext cx="4020300" cy="10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Missing Value Handling</a:t>
            </a:r>
            <a:endParaRPr sz="2800"/>
          </a:p>
        </p:txBody>
      </p:sp>
      <p:sp>
        <p:nvSpPr>
          <p:cNvPr id="362" name="Google Shape;362;p48"/>
          <p:cNvSpPr txBox="1">
            <a:spLocks noGrp="1"/>
          </p:cNvSpPr>
          <p:nvPr>
            <p:ph type="subTitle" idx="1"/>
          </p:nvPr>
        </p:nvSpPr>
        <p:spPr>
          <a:xfrm>
            <a:off x="4572000" y="2503387"/>
            <a:ext cx="3425700" cy="8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Missing values pada arrival delay diimputasi menggunakan median untuk menjaga robustness terhadap outlier dan distribusi yang skewed.</a:t>
            </a:r>
          </a:p>
        </p:txBody>
      </p:sp>
      <p:pic>
        <p:nvPicPr>
          <p:cNvPr id="364" name="Google Shape;364;p48"/>
          <p:cNvPicPr preferRelativeResize="0"/>
          <p:nvPr/>
        </p:nvPicPr>
        <p:blipFill rotWithShape="1">
          <a:blip r:embed="rId3">
            <a:alphaModFix/>
          </a:blip>
          <a:srcRect l="5953" b="21365"/>
          <a:stretch/>
        </p:blipFill>
        <p:spPr>
          <a:xfrm rot="-803864" flipH="1">
            <a:off x="5106147" y="3589809"/>
            <a:ext cx="3460529" cy="12609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EE93DBB-764F-2D5C-7359-CCB1BA49D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24" y="941931"/>
            <a:ext cx="4020300" cy="312291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844" name="Google Shape;844;p61"/>
          <p:cNvSpPr txBox="1">
            <a:spLocks noGrp="1"/>
          </p:cNvSpPr>
          <p:nvPr>
            <p:ph type="subTitle" idx="1"/>
          </p:nvPr>
        </p:nvSpPr>
        <p:spPr>
          <a:xfrm>
            <a:off x="908301" y="3026892"/>
            <a:ext cx="220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Category</a:t>
            </a:r>
            <a:endParaRPr/>
          </a:p>
        </p:txBody>
      </p:sp>
      <p:sp>
        <p:nvSpPr>
          <p:cNvPr id="845" name="Google Shape;845;p61"/>
          <p:cNvSpPr txBox="1">
            <a:spLocks noGrp="1"/>
          </p:cNvSpPr>
          <p:nvPr>
            <p:ph type="subTitle" idx="2"/>
          </p:nvPr>
        </p:nvSpPr>
        <p:spPr>
          <a:xfrm>
            <a:off x="908301" y="3420492"/>
            <a:ext cx="2205600" cy="8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Kategorikan Delay menjadi No Delay, Minor, dan Major.</a:t>
            </a:r>
            <a:endParaRPr/>
          </a:p>
        </p:txBody>
      </p:sp>
      <p:sp>
        <p:nvSpPr>
          <p:cNvPr id="846" name="Google Shape;846;p61"/>
          <p:cNvSpPr txBox="1">
            <a:spLocks noGrp="1"/>
          </p:cNvSpPr>
          <p:nvPr>
            <p:ph type="subTitle" idx="3"/>
          </p:nvPr>
        </p:nvSpPr>
        <p:spPr>
          <a:xfrm>
            <a:off x="3469926" y="3026892"/>
            <a:ext cx="220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Score</a:t>
            </a:r>
            <a:endParaRPr/>
          </a:p>
        </p:txBody>
      </p:sp>
      <p:sp>
        <p:nvSpPr>
          <p:cNvPr id="847" name="Google Shape;847;p61"/>
          <p:cNvSpPr txBox="1">
            <a:spLocks noGrp="1"/>
          </p:cNvSpPr>
          <p:nvPr>
            <p:ph type="subTitle" idx="4"/>
          </p:nvPr>
        </p:nvSpPr>
        <p:spPr>
          <a:xfrm>
            <a:off x="3469926" y="3420492"/>
            <a:ext cx="2205600" cy="8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Agregasi dari beberapa atribut layanan.</a:t>
            </a:r>
            <a:endParaRPr/>
          </a:p>
        </p:txBody>
      </p:sp>
      <p:sp>
        <p:nvSpPr>
          <p:cNvPr id="848" name="Google Shape;848;p61"/>
          <p:cNvSpPr txBox="1">
            <a:spLocks noGrp="1"/>
          </p:cNvSpPr>
          <p:nvPr>
            <p:ph type="subTitle" idx="5"/>
          </p:nvPr>
        </p:nvSpPr>
        <p:spPr>
          <a:xfrm>
            <a:off x="6031551" y="3026892"/>
            <a:ext cx="2205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Segmentation</a:t>
            </a:r>
            <a:endParaRPr/>
          </a:p>
        </p:txBody>
      </p:sp>
      <p:sp>
        <p:nvSpPr>
          <p:cNvPr id="849" name="Google Shape;849;p61"/>
          <p:cNvSpPr txBox="1">
            <a:spLocks noGrp="1"/>
          </p:cNvSpPr>
          <p:nvPr>
            <p:ph type="subTitle" idx="6"/>
          </p:nvPr>
        </p:nvSpPr>
        <p:spPr>
          <a:xfrm>
            <a:off x="6031551" y="3420492"/>
            <a:ext cx="2205600" cy="8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Penggabungan tipe perjalanan dan kelas.</a:t>
            </a:r>
            <a:endParaRPr/>
          </a:p>
        </p:txBody>
      </p:sp>
      <p:sp>
        <p:nvSpPr>
          <p:cNvPr id="850" name="Google Shape;850;p61"/>
          <p:cNvSpPr/>
          <p:nvPr/>
        </p:nvSpPr>
        <p:spPr>
          <a:xfrm>
            <a:off x="1525401" y="1858611"/>
            <a:ext cx="971400" cy="9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61"/>
          <p:cNvSpPr/>
          <p:nvPr/>
        </p:nvSpPr>
        <p:spPr>
          <a:xfrm>
            <a:off x="4087026" y="1858611"/>
            <a:ext cx="971400" cy="9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61"/>
          <p:cNvSpPr/>
          <p:nvPr/>
        </p:nvSpPr>
        <p:spPr>
          <a:xfrm>
            <a:off x="6648651" y="1858611"/>
            <a:ext cx="971400" cy="97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61"/>
          <p:cNvSpPr/>
          <p:nvPr/>
        </p:nvSpPr>
        <p:spPr>
          <a:xfrm>
            <a:off x="6922867" y="2132831"/>
            <a:ext cx="422968" cy="422959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4" name="Google Shape;854;p61"/>
          <p:cNvGrpSpPr/>
          <p:nvPr/>
        </p:nvGrpSpPr>
        <p:grpSpPr>
          <a:xfrm>
            <a:off x="4341451" y="2130525"/>
            <a:ext cx="462551" cy="427570"/>
            <a:chOff x="7384751" y="4147984"/>
            <a:chExt cx="380012" cy="351274"/>
          </a:xfrm>
        </p:grpSpPr>
        <p:sp>
          <p:nvSpPr>
            <p:cNvPr id="855" name="Google Shape;855;p61"/>
            <p:cNvSpPr/>
            <p:nvPr/>
          </p:nvSpPr>
          <p:spPr>
            <a:xfrm>
              <a:off x="7385513" y="4225879"/>
              <a:ext cx="379250" cy="273379"/>
            </a:xfrm>
            <a:custGeom>
              <a:avLst/>
              <a:gdLst/>
              <a:ahLst/>
              <a:cxnLst/>
              <a:rect l="l" t="t" r="r" b="b"/>
              <a:pathLst>
                <a:path w="11943" h="8609" extrusionOk="0">
                  <a:moveTo>
                    <a:pt x="11740" y="0"/>
                  </a:moveTo>
                  <a:cubicBezTo>
                    <a:pt x="11645" y="0"/>
                    <a:pt x="11562" y="72"/>
                    <a:pt x="11562" y="179"/>
                  </a:cubicBezTo>
                  <a:lnTo>
                    <a:pt x="11562" y="2667"/>
                  </a:lnTo>
                  <a:cubicBezTo>
                    <a:pt x="11562" y="3393"/>
                    <a:pt x="10966" y="3989"/>
                    <a:pt x="10240" y="3989"/>
                  </a:cubicBezTo>
                  <a:lnTo>
                    <a:pt x="9085" y="3989"/>
                  </a:lnTo>
                  <a:cubicBezTo>
                    <a:pt x="8954" y="3989"/>
                    <a:pt x="8823" y="4084"/>
                    <a:pt x="8776" y="4203"/>
                  </a:cubicBezTo>
                  <a:cubicBezTo>
                    <a:pt x="8573" y="4703"/>
                    <a:pt x="8549" y="5167"/>
                    <a:pt x="8752" y="5537"/>
                  </a:cubicBezTo>
                  <a:cubicBezTo>
                    <a:pt x="8823" y="5703"/>
                    <a:pt x="8942" y="5834"/>
                    <a:pt x="9049" y="5941"/>
                  </a:cubicBezTo>
                  <a:cubicBezTo>
                    <a:pt x="8752" y="5929"/>
                    <a:pt x="8514" y="5822"/>
                    <a:pt x="8359" y="5656"/>
                  </a:cubicBezTo>
                  <a:cubicBezTo>
                    <a:pt x="8240" y="5537"/>
                    <a:pt x="7978" y="5167"/>
                    <a:pt x="8073" y="4358"/>
                  </a:cubicBezTo>
                  <a:cubicBezTo>
                    <a:pt x="8109" y="4155"/>
                    <a:pt x="7942" y="3977"/>
                    <a:pt x="7740" y="3977"/>
                  </a:cubicBezTo>
                  <a:lnTo>
                    <a:pt x="5954" y="3977"/>
                  </a:lnTo>
                  <a:cubicBezTo>
                    <a:pt x="5859" y="3977"/>
                    <a:pt x="5775" y="4048"/>
                    <a:pt x="5775" y="4155"/>
                  </a:cubicBezTo>
                  <a:cubicBezTo>
                    <a:pt x="5775" y="4263"/>
                    <a:pt x="5847" y="4334"/>
                    <a:pt x="5954" y="4334"/>
                  </a:cubicBezTo>
                  <a:lnTo>
                    <a:pt x="6847" y="4334"/>
                  </a:lnTo>
                  <a:lnTo>
                    <a:pt x="6847" y="5691"/>
                  </a:lnTo>
                  <a:cubicBezTo>
                    <a:pt x="6847" y="6430"/>
                    <a:pt x="6228" y="7037"/>
                    <a:pt x="5490" y="7037"/>
                  </a:cubicBezTo>
                  <a:lnTo>
                    <a:pt x="4704" y="7037"/>
                  </a:lnTo>
                  <a:cubicBezTo>
                    <a:pt x="4561" y="7037"/>
                    <a:pt x="4466" y="7144"/>
                    <a:pt x="4466" y="7275"/>
                  </a:cubicBezTo>
                  <a:cubicBezTo>
                    <a:pt x="4442" y="7834"/>
                    <a:pt x="4239" y="8215"/>
                    <a:pt x="3668" y="8251"/>
                  </a:cubicBezTo>
                  <a:cubicBezTo>
                    <a:pt x="3930" y="7977"/>
                    <a:pt x="3954" y="7573"/>
                    <a:pt x="3882" y="7239"/>
                  </a:cubicBezTo>
                  <a:cubicBezTo>
                    <a:pt x="3846" y="7120"/>
                    <a:pt x="3763" y="7037"/>
                    <a:pt x="3644" y="7037"/>
                  </a:cubicBezTo>
                  <a:lnTo>
                    <a:pt x="1703" y="7037"/>
                  </a:lnTo>
                  <a:cubicBezTo>
                    <a:pt x="965" y="7037"/>
                    <a:pt x="358" y="6430"/>
                    <a:pt x="358" y="5691"/>
                  </a:cubicBezTo>
                  <a:lnTo>
                    <a:pt x="358" y="5310"/>
                  </a:lnTo>
                  <a:cubicBezTo>
                    <a:pt x="358" y="5227"/>
                    <a:pt x="275" y="5132"/>
                    <a:pt x="179" y="5132"/>
                  </a:cubicBezTo>
                  <a:cubicBezTo>
                    <a:pt x="84" y="5132"/>
                    <a:pt x="1" y="5215"/>
                    <a:pt x="1" y="5310"/>
                  </a:cubicBezTo>
                  <a:lnTo>
                    <a:pt x="1" y="5691"/>
                  </a:lnTo>
                  <a:cubicBezTo>
                    <a:pt x="1" y="6620"/>
                    <a:pt x="751" y="7394"/>
                    <a:pt x="1703" y="7394"/>
                  </a:cubicBezTo>
                  <a:lnTo>
                    <a:pt x="3573" y="7394"/>
                  </a:lnTo>
                  <a:cubicBezTo>
                    <a:pt x="3596" y="7620"/>
                    <a:pt x="3596" y="8025"/>
                    <a:pt x="3215" y="8144"/>
                  </a:cubicBezTo>
                  <a:cubicBezTo>
                    <a:pt x="2989" y="8215"/>
                    <a:pt x="3001" y="8525"/>
                    <a:pt x="3239" y="8573"/>
                  </a:cubicBezTo>
                  <a:cubicBezTo>
                    <a:pt x="3370" y="8608"/>
                    <a:pt x="3489" y="8608"/>
                    <a:pt x="3596" y="8608"/>
                  </a:cubicBezTo>
                  <a:cubicBezTo>
                    <a:pt x="4299" y="8608"/>
                    <a:pt x="4763" y="8204"/>
                    <a:pt x="4823" y="7394"/>
                  </a:cubicBezTo>
                  <a:lnTo>
                    <a:pt x="5513" y="7394"/>
                  </a:lnTo>
                  <a:cubicBezTo>
                    <a:pt x="6454" y="7394"/>
                    <a:pt x="7228" y="6644"/>
                    <a:pt x="7228" y="5691"/>
                  </a:cubicBezTo>
                  <a:lnTo>
                    <a:pt x="7228" y="4334"/>
                  </a:lnTo>
                  <a:lnTo>
                    <a:pt x="7764" y="4334"/>
                  </a:lnTo>
                  <a:cubicBezTo>
                    <a:pt x="7716" y="4715"/>
                    <a:pt x="7704" y="5429"/>
                    <a:pt x="8157" y="5894"/>
                  </a:cubicBezTo>
                  <a:cubicBezTo>
                    <a:pt x="8407" y="6168"/>
                    <a:pt x="8764" y="6299"/>
                    <a:pt x="9240" y="6299"/>
                  </a:cubicBezTo>
                  <a:cubicBezTo>
                    <a:pt x="9311" y="6299"/>
                    <a:pt x="9383" y="6299"/>
                    <a:pt x="9478" y="6287"/>
                  </a:cubicBezTo>
                  <a:cubicBezTo>
                    <a:pt x="9704" y="6263"/>
                    <a:pt x="9776" y="5965"/>
                    <a:pt x="9561" y="5846"/>
                  </a:cubicBezTo>
                  <a:cubicBezTo>
                    <a:pt x="8847" y="5429"/>
                    <a:pt x="9002" y="4715"/>
                    <a:pt x="9145" y="4334"/>
                  </a:cubicBezTo>
                  <a:lnTo>
                    <a:pt x="10276" y="4334"/>
                  </a:lnTo>
                  <a:cubicBezTo>
                    <a:pt x="11205" y="4334"/>
                    <a:pt x="11943" y="3584"/>
                    <a:pt x="11943" y="2667"/>
                  </a:cubicBezTo>
                  <a:lnTo>
                    <a:pt x="11943" y="179"/>
                  </a:lnTo>
                  <a:cubicBezTo>
                    <a:pt x="11919" y="95"/>
                    <a:pt x="11847" y="0"/>
                    <a:pt x="117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61"/>
            <p:cNvSpPr/>
            <p:nvPr/>
          </p:nvSpPr>
          <p:spPr>
            <a:xfrm>
              <a:off x="7384751" y="4147984"/>
              <a:ext cx="380012" cy="228382"/>
            </a:xfrm>
            <a:custGeom>
              <a:avLst/>
              <a:gdLst/>
              <a:ahLst/>
              <a:cxnLst/>
              <a:rect l="l" t="t" r="r" b="b"/>
              <a:pathLst>
                <a:path w="11967" h="7192" extrusionOk="0">
                  <a:moveTo>
                    <a:pt x="3144" y="0"/>
                  </a:moveTo>
                  <a:cubicBezTo>
                    <a:pt x="2227" y="0"/>
                    <a:pt x="1477" y="739"/>
                    <a:pt x="1477" y="1667"/>
                  </a:cubicBezTo>
                  <a:lnTo>
                    <a:pt x="1477" y="4132"/>
                  </a:lnTo>
                  <a:cubicBezTo>
                    <a:pt x="1108" y="4191"/>
                    <a:pt x="751" y="4358"/>
                    <a:pt x="477" y="4644"/>
                  </a:cubicBezTo>
                  <a:cubicBezTo>
                    <a:pt x="168" y="4965"/>
                    <a:pt x="1" y="5382"/>
                    <a:pt x="1" y="5823"/>
                  </a:cubicBezTo>
                  <a:lnTo>
                    <a:pt x="1" y="7013"/>
                  </a:lnTo>
                  <a:cubicBezTo>
                    <a:pt x="1" y="7097"/>
                    <a:pt x="84" y="7192"/>
                    <a:pt x="180" y="7192"/>
                  </a:cubicBezTo>
                  <a:cubicBezTo>
                    <a:pt x="275" y="7192"/>
                    <a:pt x="358" y="7108"/>
                    <a:pt x="358" y="7013"/>
                  </a:cubicBezTo>
                  <a:lnTo>
                    <a:pt x="358" y="5823"/>
                  </a:lnTo>
                  <a:cubicBezTo>
                    <a:pt x="358" y="5465"/>
                    <a:pt x="501" y="5132"/>
                    <a:pt x="751" y="4882"/>
                  </a:cubicBezTo>
                  <a:cubicBezTo>
                    <a:pt x="953" y="4668"/>
                    <a:pt x="1203" y="4537"/>
                    <a:pt x="1489" y="4477"/>
                  </a:cubicBezTo>
                  <a:lnTo>
                    <a:pt x="1489" y="5084"/>
                  </a:lnTo>
                  <a:cubicBezTo>
                    <a:pt x="1489" y="6013"/>
                    <a:pt x="2239" y="6751"/>
                    <a:pt x="3156" y="6751"/>
                  </a:cubicBezTo>
                  <a:lnTo>
                    <a:pt x="5240" y="6751"/>
                  </a:lnTo>
                  <a:cubicBezTo>
                    <a:pt x="5335" y="6751"/>
                    <a:pt x="5418" y="6680"/>
                    <a:pt x="5418" y="6573"/>
                  </a:cubicBezTo>
                  <a:cubicBezTo>
                    <a:pt x="5418" y="6489"/>
                    <a:pt x="5347" y="6394"/>
                    <a:pt x="5240" y="6394"/>
                  </a:cubicBezTo>
                  <a:lnTo>
                    <a:pt x="3156" y="6394"/>
                  </a:lnTo>
                  <a:cubicBezTo>
                    <a:pt x="2430" y="6394"/>
                    <a:pt x="1834" y="5799"/>
                    <a:pt x="1834" y="5073"/>
                  </a:cubicBezTo>
                  <a:lnTo>
                    <a:pt x="1834" y="1620"/>
                  </a:lnTo>
                  <a:cubicBezTo>
                    <a:pt x="1834" y="893"/>
                    <a:pt x="2430" y="298"/>
                    <a:pt x="3156" y="298"/>
                  </a:cubicBezTo>
                  <a:lnTo>
                    <a:pt x="10288" y="298"/>
                  </a:lnTo>
                  <a:cubicBezTo>
                    <a:pt x="11014" y="298"/>
                    <a:pt x="11610" y="893"/>
                    <a:pt x="11610" y="1620"/>
                  </a:cubicBezTo>
                  <a:lnTo>
                    <a:pt x="11610" y="1846"/>
                  </a:lnTo>
                  <a:cubicBezTo>
                    <a:pt x="11610" y="1929"/>
                    <a:pt x="11693" y="2025"/>
                    <a:pt x="11788" y="2025"/>
                  </a:cubicBezTo>
                  <a:cubicBezTo>
                    <a:pt x="11883" y="2025"/>
                    <a:pt x="11967" y="1953"/>
                    <a:pt x="11967" y="1846"/>
                  </a:cubicBezTo>
                  <a:lnTo>
                    <a:pt x="11967" y="1620"/>
                  </a:lnTo>
                  <a:cubicBezTo>
                    <a:pt x="11943" y="762"/>
                    <a:pt x="11193" y="0"/>
                    <a:pt x="10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1"/>
            <p:cNvSpPr/>
            <p:nvPr/>
          </p:nvSpPr>
          <p:spPr>
            <a:xfrm>
              <a:off x="7507642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39" y="358"/>
                    <a:pt x="834" y="465"/>
                    <a:pt x="834" y="596"/>
                  </a:cubicBezTo>
                  <a:cubicBezTo>
                    <a:pt x="834" y="739"/>
                    <a:pt x="739" y="834"/>
                    <a:pt x="596" y="834"/>
                  </a:cubicBezTo>
                  <a:cubicBezTo>
                    <a:pt x="465" y="834"/>
                    <a:pt x="358" y="739"/>
                    <a:pt x="358" y="596"/>
                  </a:cubicBezTo>
                  <a:cubicBezTo>
                    <a:pt x="358" y="465"/>
                    <a:pt x="465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6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1"/>
            <p:cNvSpPr/>
            <p:nvPr/>
          </p:nvSpPr>
          <p:spPr>
            <a:xfrm>
              <a:off x="7573820" y="4228134"/>
              <a:ext cx="37820" cy="37852"/>
            </a:xfrm>
            <a:custGeom>
              <a:avLst/>
              <a:gdLst/>
              <a:ahLst/>
              <a:cxnLst/>
              <a:rect l="l" t="t" r="r" b="b"/>
              <a:pathLst>
                <a:path w="1191" h="1192" extrusionOk="0">
                  <a:moveTo>
                    <a:pt x="595" y="358"/>
                  </a:moveTo>
                  <a:cubicBezTo>
                    <a:pt x="738" y="358"/>
                    <a:pt x="833" y="465"/>
                    <a:pt x="833" y="596"/>
                  </a:cubicBezTo>
                  <a:cubicBezTo>
                    <a:pt x="833" y="739"/>
                    <a:pt x="738" y="834"/>
                    <a:pt x="595" y="834"/>
                  </a:cubicBezTo>
                  <a:cubicBezTo>
                    <a:pt x="464" y="834"/>
                    <a:pt x="357" y="739"/>
                    <a:pt x="357" y="596"/>
                  </a:cubicBezTo>
                  <a:cubicBezTo>
                    <a:pt x="357" y="465"/>
                    <a:pt x="464" y="358"/>
                    <a:pt x="595" y="358"/>
                  </a:cubicBezTo>
                  <a:close/>
                  <a:moveTo>
                    <a:pt x="595" y="1"/>
                  </a:moveTo>
                  <a:cubicBezTo>
                    <a:pt x="274" y="1"/>
                    <a:pt x="0" y="274"/>
                    <a:pt x="0" y="596"/>
                  </a:cubicBezTo>
                  <a:cubicBezTo>
                    <a:pt x="0" y="929"/>
                    <a:pt x="274" y="1191"/>
                    <a:pt x="595" y="1191"/>
                  </a:cubicBezTo>
                  <a:cubicBezTo>
                    <a:pt x="929" y="1191"/>
                    <a:pt x="1191" y="929"/>
                    <a:pt x="1191" y="596"/>
                  </a:cubicBezTo>
                  <a:cubicBezTo>
                    <a:pt x="1191" y="274"/>
                    <a:pt x="929" y="1"/>
                    <a:pt x="5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1"/>
            <p:cNvSpPr/>
            <p:nvPr/>
          </p:nvSpPr>
          <p:spPr>
            <a:xfrm>
              <a:off x="7640728" y="4228134"/>
              <a:ext cx="37852" cy="37852"/>
            </a:xfrm>
            <a:custGeom>
              <a:avLst/>
              <a:gdLst/>
              <a:ahLst/>
              <a:cxnLst/>
              <a:rect l="l" t="t" r="r" b="b"/>
              <a:pathLst>
                <a:path w="1192" h="1192" extrusionOk="0">
                  <a:moveTo>
                    <a:pt x="596" y="358"/>
                  </a:moveTo>
                  <a:cubicBezTo>
                    <a:pt x="727" y="358"/>
                    <a:pt x="834" y="465"/>
                    <a:pt x="834" y="596"/>
                  </a:cubicBezTo>
                  <a:cubicBezTo>
                    <a:pt x="834" y="739"/>
                    <a:pt x="727" y="834"/>
                    <a:pt x="596" y="834"/>
                  </a:cubicBezTo>
                  <a:cubicBezTo>
                    <a:pt x="453" y="834"/>
                    <a:pt x="358" y="739"/>
                    <a:pt x="358" y="596"/>
                  </a:cubicBezTo>
                  <a:cubicBezTo>
                    <a:pt x="334" y="465"/>
                    <a:pt x="453" y="358"/>
                    <a:pt x="596" y="358"/>
                  </a:cubicBezTo>
                  <a:close/>
                  <a:moveTo>
                    <a:pt x="596" y="1"/>
                  </a:moveTo>
                  <a:cubicBezTo>
                    <a:pt x="262" y="1"/>
                    <a:pt x="0" y="274"/>
                    <a:pt x="0" y="596"/>
                  </a:cubicBezTo>
                  <a:cubicBezTo>
                    <a:pt x="0" y="929"/>
                    <a:pt x="262" y="1191"/>
                    <a:pt x="596" y="1191"/>
                  </a:cubicBezTo>
                  <a:cubicBezTo>
                    <a:pt x="917" y="1191"/>
                    <a:pt x="1191" y="929"/>
                    <a:pt x="1191" y="596"/>
                  </a:cubicBezTo>
                  <a:cubicBezTo>
                    <a:pt x="1191" y="274"/>
                    <a:pt x="917" y="1"/>
                    <a:pt x="5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1420;p74">
            <a:extLst>
              <a:ext uri="{FF2B5EF4-FFF2-40B4-BE49-F238E27FC236}">
                <a16:creationId xmlns:a16="http://schemas.microsoft.com/office/drawing/2014/main" id="{C4674576-3831-5AB8-5143-FC9B486ED5D9}"/>
              </a:ext>
            </a:extLst>
          </p:cNvPr>
          <p:cNvGrpSpPr/>
          <p:nvPr/>
        </p:nvGrpSpPr>
        <p:grpSpPr>
          <a:xfrm>
            <a:off x="1851138" y="2130525"/>
            <a:ext cx="319925" cy="429509"/>
            <a:chOff x="4063084" y="3364597"/>
            <a:chExt cx="319925" cy="429509"/>
          </a:xfrm>
          <a:solidFill>
            <a:schemeClr val="accent2"/>
          </a:solidFill>
        </p:grpSpPr>
        <p:sp>
          <p:nvSpPr>
            <p:cNvPr id="3" name="Google Shape;1421;p74">
              <a:extLst>
                <a:ext uri="{FF2B5EF4-FFF2-40B4-BE49-F238E27FC236}">
                  <a16:creationId xmlns:a16="http://schemas.microsoft.com/office/drawing/2014/main" id="{DF035C5C-D1C6-183F-406C-BC5ACC59C83A}"/>
                </a:ext>
              </a:extLst>
            </p:cNvPr>
            <p:cNvSpPr/>
            <p:nvPr/>
          </p:nvSpPr>
          <p:spPr>
            <a:xfrm>
              <a:off x="4121998" y="3525092"/>
              <a:ext cx="73652" cy="61251"/>
            </a:xfrm>
            <a:custGeom>
              <a:avLst/>
              <a:gdLst/>
              <a:ahLst/>
              <a:cxnLst/>
              <a:rect l="l" t="t" r="r" b="b"/>
              <a:pathLst>
                <a:path w="2144" h="1783" extrusionOk="0">
                  <a:moveTo>
                    <a:pt x="1072" y="663"/>
                  </a:moveTo>
                  <a:lnTo>
                    <a:pt x="786" y="925"/>
                  </a:lnTo>
                  <a:cubicBezTo>
                    <a:pt x="739" y="861"/>
                    <a:pt x="680" y="829"/>
                    <a:pt x="619" y="829"/>
                  </a:cubicBezTo>
                  <a:cubicBezTo>
                    <a:pt x="588" y="829"/>
                    <a:pt x="556" y="837"/>
                    <a:pt x="524" y="853"/>
                  </a:cubicBezTo>
                  <a:cubicBezTo>
                    <a:pt x="429" y="901"/>
                    <a:pt x="405" y="1020"/>
                    <a:pt x="453" y="1115"/>
                  </a:cubicBezTo>
                  <a:lnTo>
                    <a:pt x="572" y="1282"/>
                  </a:lnTo>
                  <a:cubicBezTo>
                    <a:pt x="596" y="1330"/>
                    <a:pt x="643" y="1353"/>
                    <a:pt x="691" y="1377"/>
                  </a:cubicBezTo>
                  <a:lnTo>
                    <a:pt x="739" y="1377"/>
                  </a:lnTo>
                  <a:cubicBezTo>
                    <a:pt x="762" y="1377"/>
                    <a:pt x="810" y="1353"/>
                    <a:pt x="858" y="1330"/>
                  </a:cubicBezTo>
                  <a:lnTo>
                    <a:pt x="1096" y="1115"/>
                  </a:lnTo>
                  <a:lnTo>
                    <a:pt x="1096" y="1425"/>
                  </a:lnTo>
                  <a:lnTo>
                    <a:pt x="358" y="1425"/>
                  </a:lnTo>
                  <a:lnTo>
                    <a:pt x="358" y="663"/>
                  </a:lnTo>
                  <a:close/>
                  <a:moveTo>
                    <a:pt x="1940" y="0"/>
                  </a:moveTo>
                  <a:cubicBezTo>
                    <a:pt x="1902" y="0"/>
                    <a:pt x="1864" y="14"/>
                    <a:pt x="1834" y="44"/>
                  </a:cubicBezTo>
                  <a:lnTo>
                    <a:pt x="1429" y="377"/>
                  </a:lnTo>
                  <a:cubicBezTo>
                    <a:pt x="1405" y="329"/>
                    <a:pt x="1334" y="306"/>
                    <a:pt x="1286" y="306"/>
                  </a:cubicBezTo>
                  <a:lnTo>
                    <a:pt x="167" y="306"/>
                  </a:lnTo>
                  <a:cubicBezTo>
                    <a:pt x="72" y="306"/>
                    <a:pt x="0" y="377"/>
                    <a:pt x="0" y="496"/>
                  </a:cubicBezTo>
                  <a:lnTo>
                    <a:pt x="0" y="1592"/>
                  </a:lnTo>
                  <a:cubicBezTo>
                    <a:pt x="0" y="1711"/>
                    <a:pt x="72" y="1782"/>
                    <a:pt x="167" y="1782"/>
                  </a:cubicBezTo>
                  <a:lnTo>
                    <a:pt x="1286" y="1782"/>
                  </a:lnTo>
                  <a:cubicBezTo>
                    <a:pt x="1382" y="1782"/>
                    <a:pt x="1477" y="1711"/>
                    <a:pt x="1477" y="1592"/>
                  </a:cubicBezTo>
                  <a:lnTo>
                    <a:pt x="1477" y="806"/>
                  </a:lnTo>
                  <a:lnTo>
                    <a:pt x="2048" y="329"/>
                  </a:lnTo>
                  <a:cubicBezTo>
                    <a:pt x="2144" y="258"/>
                    <a:pt x="2144" y="139"/>
                    <a:pt x="2072" y="67"/>
                  </a:cubicBezTo>
                  <a:cubicBezTo>
                    <a:pt x="2044" y="26"/>
                    <a:pt x="1993" y="0"/>
                    <a:pt x="19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422;p74">
              <a:extLst>
                <a:ext uri="{FF2B5EF4-FFF2-40B4-BE49-F238E27FC236}">
                  <a16:creationId xmlns:a16="http://schemas.microsoft.com/office/drawing/2014/main" id="{698744D9-52CF-9C5D-5083-AA2D67F60D5D}"/>
                </a:ext>
              </a:extLst>
            </p:cNvPr>
            <p:cNvSpPr/>
            <p:nvPr/>
          </p:nvSpPr>
          <p:spPr>
            <a:xfrm>
              <a:off x="4191528" y="3542921"/>
              <a:ext cx="37685" cy="13123"/>
            </a:xfrm>
            <a:custGeom>
              <a:avLst/>
              <a:gdLst/>
              <a:ahLst/>
              <a:cxnLst/>
              <a:rect l="l" t="t" r="r" b="b"/>
              <a:pathLst>
                <a:path w="1097" h="38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7"/>
                    <a:pt x="96" y="382"/>
                    <a:pt x="191" y="382"/>
                  </a:cubicBezTo>
                  <a:lnTo>
                    <a:pt x="905" y="382"/>
                  </a:lnTo>
                  <a:cubicBezTo>
                    <a:pt x="1001" y="382"/>
                    <a:pt x="1096" y="287"/>
                    <a:pt x="1096" y="191"/>
                  </a:cubicBezTo>
                  <a:cubicBezTo>
                    <a:pt x="1096" y="96"/>
                    <a:pt x="1001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423;p74">
              <a:extLst>
                <a:ext uri="{FF2B5EF4-FFF2-40B4-BE49-F238E27FC236}">
                  <a16:creationId xmlns:a16="http://schemas.microsoft.com/office/drawing/2014/main" id="{5C4F425C-C368-DBDC-1F0C-F300B3884009}"/>
                </a:ext>
              </a:extLst>
            </p:cNvPr>
            <p:cNvSpPr/>
            <p:nvPr/>
          </p:nvSpPr>
          <p:spPr>
            <a:xfrm>
              <a:off x="4191528" y="3565834"/>
              <a:ext cx="131742" cy="13123"/>
            </a:xfrm>
            <a:custGeom>
              <a:avLst/>
              <a:gdLst/>
              <a:ahLst/>
              <a:cxnLst/>
              <a:rect l="l" t="t" r="r" b="b"/>
              <a:pathLst>
                <a:path w="3835" h="38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2"/>
                    <a:pt x="191" y="382"/>
                  </a:cubicBezTo>
                  <a:lnTo>
                    <a:pt x="3644" y="382"/>
                  </a:lnTo>
                  <a:cubicBezTo>
                    <a:pt x="3763" y="382"/>
                    <a:pt x="3835" y="286"/>
                    <a:pt x="3835" y="191"/>
                  </a:cubicBezTo>
                  <a:cubicBezTo>
                    <a:pt x="3835" y="96"/>
                    <a:pt x="3763" y="1"/>
                    <a:pt x="36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424;p74">
              <a:extLst>
                <a:ext uri="{FF2B5EF4-FFF2-40B4-BE49-F238E27FC236}">
                  <a16:creationId xmlns:a16="http://schemas.microsoft.com/office/drawing/2014/main" id="{19DFC422-FB58-FA60-290F-EA99E4B55D50}"/>
                </a:ext>
              </a:extLst>
            </p:cNvPr>
            <p:cNvSpPr/>
            <p:nvPr/>
          </p:nvSpPr>
          <p:spPr>
            <a:xfrm>
              <a:off x="4121998" y="3598228"/>
              <a:ext cx="73652" cy="60907"/>
            </a:xfrm>
            <a:custGeom>
              <a:avLst/>
              <a:gdLst/>
              <a:ahLst/>
              <a:cxnLst/>
              <a:rect l="l" t="t" r="r" b="b"/>
              <a:pathLst>
                <a:path w="2144" h="1773" extrusionOk="0">
                  <a:moveTo>
                    <a:pt x="1072" y="677"/>
                  </a:moveTo>
                  <a:lnTo>
                    <a:pt x="786" y="915"/>
                  </a:lnTo>
                  <a:cubicBezTo>
                    <a:pt x="739" y="852"/>
                    <a:pt x="680" y="820"/>
                    <a:pt x="619" y="820"/>
                  </a:cubicBezTo>
                  <a:cubicBezTo>
                    <a:pt x="588" y="820"/>
                    <a:pt x="556" y="828"/>
                    <a:pt x="524" y="844"/>
                  </a:cubicBezTo>
                  <a:cubicBezTo>
                    <a:pt x="429" y="891"/>
                    <a:pt x="405" y="1010"/>
                    <a:pt x="453" y="1106"/>
                  </a:cubicBezTo>
                  <a:lnTo>
                    <a:pt x="572" y="1272"/>
                  </a:lnTo>
                  <a:cubicBezTo>
                    <a:pt x="596" y="1320"/>
                    <a:pt x="643" y="1368"/>
                    <a:pt x="691" y="1368"/>
                  </a:cubicBezTo>
                  <a:lnTo>
                    <a:pt x="739" y="1368"/>
                  </a:lnTo>
                  <a:cubicBezTo>
                    <a:pt x="762" y="1368"/>
                    <a:pt x="810" y="1344"/>
                    <a:pt x="858" y="1320"/>
                  </a:cubicBezTo>
                  <a:lnTo>
                    <a:pt x="1096" y="1106"/>
                  </a:lnTo>
                  <a:lnTo>
                    <a:pt x="1096" y="1415"/>
                  </a:lnTo>
                  <a:lnTo>
                    <a:pt x="358" y="1415"/>
                  </a:lnTo>
                  <a:lnTo>
                    <a:pt x="358" y="677"/>
                  </a:lnTo>
                  <a:close/>
                  <a:moveTo>
                    <a:pt x="1948" y="1"/>
                  </a:moveTo>
                  <a:cubicBezTo>
                    <a:pt x="1908" y="1"/>
                    <a:pt x="1866" y="13"/>
                    <a:pt x="1834" y="34"/>
                  </a:cubicBezTo>
                  <a:lnTo>
                    <a:pt x="1429" y="367"/>
                  </a:lnTo>
                  <a:cubicBezTo>
                    <a:pt x="1405" y="320"/>
                    <a:pt x="1334" y="296"/>
                    <a:pt x="1286" y="296"/>
                  </a:cubicBezTo>
                  <a:lnTo>
                    <a:pt x="167" y="296"/>
                  </a:lnTo>
                  <a:cubicBezTo>
                    <a:pt x="72" y="296"/>
                    <a:pt x="0" y="391"/>
                    <a:pt x="0" y="487"/>
                  </a:cubicBezTo>
                  <a:lnTo>
                    <a:pt x="0" y="1606"/>
                  </a:lnTo>
                  <a:cubicBezTo>
                    <a:pt x="0" y="1701"/>
                    <a:pt x="72" y="1773"/>
                    <a:pt x="167" y="1773"/>
                  </a:cubicBezTo>
                  <a:lnTo>
                    <a:pt x="1286" y="1773"/>
                  </a:lnTo>
                  <a:cubicBezTo>
                    <a:pt x="1382" y="1773"/>
                    <a:pt x="1477" y="1701"/>
                    <a:pt x="1477" y="1606"/>
                  </a:cubicBezTo>
                  <a:lnTo>
                    <a:pt x="1477" y="820"/>
                  </a:lnTo>
                  <a:lnTo>
                    <a:pt x="2048" y="320"/>
                  </a:lnTo>
                  <a:cubicBezTo>
                    <a:pt x="2144" y="272"/>
                    <a:pt x="2144" y="153"/>
                    <a:pt x="2072" y="58"/>
                  </a:cubicBezTo>
                  <a:cubicBezTo>
                    <a:pt x="2046" y="19"/>
                    <a:pt x="1998" y="1"/>
                    <a:pt x="19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25;p74">
              <a:extLst>
                <a:ext uri="{FF2B5EF4-FFF2-40B4-BE49-F238E27FC236}">
                  <a16:creationId xmlns:a16="http://schemas.microsoft.com/office/drawing/2014/main" id="{0FA521E5-6AB5-48DE-3C19-63E28A8D5B15}"/>
                </a:ext>
              </a:extLst>
            </p:cNvPr>
            <p:cNvSpPr/>
            <p:nvPr/>
          </p:nvSpPr>
          <p:spPr>
            <a:xfrm>
              <a:off x="4191528" y="3616572"/>
              <a:ext cx="37685" cy="12298"/>
            </a:xfrm>
            <a:custGeom>
              <a:avLst/>
              <a:gdLst/>
              <a:ahLst/>
              <a:cxnLst/>
              <a:rect l="l" t="t" r="r" b="b"/>
              <a:pathLst>
                <a:path w="1097" h="358" extrusionOk="0"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cubicBezTo>
                    <a:pt x="1" y="286"/>
                    <a:pt x="96" y="357"/>
                    <a:pt x="191" y="357"/>
                  </a:cubicBezTo>
                  <a:lnTo>
                    <a:pt x="905" y="357"/>
                  </a:lnTo>
                  <a:cubicBezTo>
                    <a:pt x="1001" y="357"/>
                    <a:pt x="1096" y="286"/>
                    <a:pt x="1096" y="167"/>
                  </a:cubicBezTo>
                  <a:cubicBezTo>
                    <a:pt x="1096" y="72"/>
                    <a:pt x="1001" y="0"/>
                    <a:pt x="9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26;p74">
              <a:extLst>
                <a:ext uri="{FF2B5EF4-FFF2-40B4-BE49-F238E27FC236}">
                  <a16:creationId xmlns:a16="http://schemas.microsoft.com/office/drawing/2014/main" id="{2D611868-D1E0-3E8E-3143-63A6C1CEA6D1}"/>
                </a:ext>
              </a:extLst>
            </p:cNvPr>
            <p:cNvSpPr/>
            <p:nvPr/>
          </p:nvSpPr>
          <p:spPr>
            <a:xfrm>
              <a:off x="4191528" y="3638661"/>
              <a:ext cx="131742" cy="13123"/>
            </a:xfrm>
            <a:custGeom>
              <a:avLst/>
              <a:gdLst/>
              <a:ahLst/>
              <a:cxnLst/>
              <a:rect l="l" t="t" r="r" b="b"/>
              <a:pathLst>
                <a:path w="3835" h="382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3644" y="381"/>
                  </a:lnTo>
                  <a:cubicBezTo>
                    <a:pt x="3763" y="381"/>
                    <a:pt x="3835" y="286"/>
                    <a:pt x="3835" y="191"/>
                  </a:cubicBezTo>
                  <a:cubicBezTo>
                    <a:pt x="3835" y="95"/>
                    <a:pt x="3763" y="0"/>
                    <a:pt x="3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27;p74">
              <a:extLst>
                <a:ext uri="{FF2B5EF4-FFF2-40B4-BE49-F238E27FC236}">
                  <a16:creationId xmlns:a16="http://schemas.microsoft.com/office/drawing/2014/main" id="{DFBE8517-0848-1ECC-26F5-3F3328B573F2}"/>
                </a:ext>
              </a:extLst>
            </p:cNvPr>
            <p:cNvSpPr/>
            <p:nvPr/>
          </p:nvSpPr>
          <p:spPr>
            <a:xfrm>
              <a:off x="4121998" y="3671262"/>
              <a:ext cx="73652" cy="60667"/>
            </a:xfrm>
            <a:custGeom>
              <a:avLst/>
              <a:gdLst/>
              <a:ahLst/>
              <a:cxnLst/>
              <a:rect l="l" t="t" r="r" b="b"/>
              <a:pathLst>
                <a:path w="2144" h="1766" extrusionOk="0">
                  <a:moveTo>
                    <a:pt x="1072" y="671"/>
                  </a:moveTo>
                  <a:lnTo>
                    <a:pt x="786" y="909"/>
                  </a:lnTo>
                  <a:cubicBezTo>
                    <a:pt x="739" y="845"/>
                    <a:pt x="680" y="813"/>
                    <a:pt x="619" y="813"/>
                  </a:cubicBezTo>
                  <a:cubicBezTo>
                    <a:pt x="588" y="813"/>
                    <a:pt x="556" y="821"/>
                    <a:pt x="524" y="837"/>
                  </a:cubicBezTo>
                  <a:cubicBezTo>
                    <a:pt x="429" y="909"/>
                    <a:pt x="405" y="1004"/>
                    <a:pt x="453" y="1099"/>
                  </a:cubicBezTo>
                  <a:lnTo>
                    <a:pt x="572" y="1290"/>
                  </a:lnTo>
                  <a:cubicBezTo>
                    <a:pt x="596" y="1314"/>
                    <a:pt x="643" y="1361"/>
                    <a:pt x="691" y="1361"/>
                  </a:cubicBezTo>
                  <a:lnTo>
                    <a:pt x="739" y="1361"/>
                  </a:lnTo>
                  <a:cubicBezTo>
                    <a:pt x="762" y="1361"/>
                    <a:pt x="810" y="1361"/>
                    <a:pt x="858" y="1337"/>
                  </a:cubicBezTo>
                  <a:lnTo>
                    <a:pt x="1096" y="1123"/>
                  </a:lnTo>
                  <a:lnTo>
                    <a:pt x="1096" y="1409"/>
                  </a:lnTo>
                  <a:lnTo>
                    <a:pt x="358" y="1409"/>
                  </a:lnTo>
                  <a:lnTo>
                    <a:pt x="358" y="671"/>
                  </a:lnTo>
                  <a:close/>
                  <a:moveTo>
                    <a:pt x="1952" y="0"/>
                  </a:moveTo>
                  <a:cubicBezTo>
                    <a:pt x="1911" y="0"/>
                    <a:pt x="1867" y="18"/>
                    <a:pt x="1834" y="51"/>
                  </a:cubicBezTo>
                  <a:lnTo>
                    <a:pt x="1429" y="361"/>
                  </a:lnTo>
                  <a:cubicBezTo>
                    <a:pt x="1405" y="337"/>
                    <a:pt x="1334" y="290"/>
                    <a:pt x="1286" y="290"/>
                  </a:cubicBezTo>
                  <a:lnTo>
                    <a:pt x="167" y="290"/>
                  </a:lnTo>
                  <a:cubicBezTo>
                    <a:pt x="72" y="290"/>
                    <a:pt x="0" y="385"/>
                    <a:pt x="0" y="480"/>
                  </a:cubicBezTo>
                  <a:lnTo>
                    <a:pt x="0" y="1599"/>
                  </a:lnTo>
                  <a:cubicBezTo>
                    <a:pt x="0" y="1695"/>
                    <a:pt x="72" y="1766"/>
                    <a:pt x="167" y="1766"/>
                  </a:cubicBezTo>
                  <a:lnTo>
                    <a:pt x="1286" y="1766"/>
                  </a:lnTo>
                  <a:cubicBezTo>
                    <a:pt x="1382" y="1766"/>
                    <a:pt x="1477" y="1695"/>
                    <a:pt x="1477" y="1599"/>
                  </a:cubicBezTo>
                  <a:lnTo>
                    <a:pt x="1477" y="813"/>
                  </a:lnTo>
                  <a:lnTo>
                    <a:pt x="2048" y="313"/>
                  </a:lnTo>
                  <a:cubicBezTo>
                    <a:pt x="2144" y="266"/>
                    <a:pt x="2144" y="147"/>
                    <a:pt x="2072" y="75"/>
                  </a:cubicBezTo>
                  <a:cubicBezTo>
                    <a:pt x="2047" y="24"/>
                    <a:pt x="2001" y="0"/>
                    <a:pt x="19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28;p74">
              <a:extLst>
                <a:ext uri="{FF2B5EF4-FFF2-40B4-BE49-F238E27FC236}">
                  <a16:creationId xmlns:a16="http://schemas.microsoft.com/office/drawing/2014/main" id="{8E4F6630-217D-E114-3EE8-6F869771C256}"/>
                </a:ext>
              </a:extLst>
            </p:cNvPr>
            <p:cNvSpPr/>
            <p:nvPr/>
          </p:nvSpPr>
          <p:spPr>
            <a:xfrm>
              <a:off x="4191528" y="3689365"/>
              <a:ext cx="37685" cy="12298"/>
            </a:xfrm>
            <a:custGeom>
              <a:avLst/>
              <a:gdLst/>
              <a:ahLst/>
              <a:cxnLst/>
              <a:rect l="l" t="t" r="r" b="b"/>
              <a:pathLst>
                <a:path w="1097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905" y="358"/>
                  </a:lnTo>
                  <a:cubicBezTo>
                    <a:pt x="1001" y="358"/>
                    <a:pt x="1096" y="286"/>
                    <a:pt x="1096" y="191"/>
                  </a:cubicBezTo>
                  <a:cubicBezTo>
                    <a:pt x="1096" y="72"/>
                    <a:pt x="1001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29;p74">
              <a:extLst>
                <a:ext uri="{FF2B5EF4-FFF2-40B4-BE49-F238E27FC236}">
                  <a16:creationId xmlns:a16="http://schemas.microsoft.com/office/drawing/2014/main" id="{1CC2A736-6C37-AE53-16EB-E32B594DFD0C}"/>
                </a:ext>
              </a:extLst>
            </p:cNvPr>
            <p:cNvSpPr/>
            <p:nvPr/>
          </p:nvSpPr>
          <p:spPr>
            <a:xfrm>
              <a:off x="4191528" y="3712278"/>
              <a:ext cx="131742" cy="12298"/>
            </a:xfrm>
            <a:custGeom>
              <a:avLst/>
              <a:gdLst/>
              <a:ahLst/>
              <a:cxnLst/>
              <a:rect l="l" t="t" r="r" b="b"/>
              <a:pathLst>
                <a:path w="3835" h="358" extrusionOk="0"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3644" y="358"/>
                  </a:lnTo>
                  <a:cubicBezTo>
                    <a:pt x="3763" y="358"/>
                    <a:pt x="3835" y="286"/>
                    <a:pt x="3835" y="167"/>
                  </a:cubicBezTo>
                  <a:cubicBezTo>
                    <a:pt x="3835" y="72"/>
                    <a:pt x="3763" y="0"/>
                    <a:pt x="3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30;p74">
              <a:extLst>
                <a:ext uri="{FF2B5EF4-FFF2-40B4-BE49-F238E27FC236}">
                  <a16:creationId xmlns:a16="http://schemas.microsoft.com/office/drawing/2014/main" id="{02D619BB-819D-F97D-4161-28CBA3D247C3}"/>
                </a:ext>
              </a:extLst>
            </p:cNvPr>
            <p:cNvSpPr/>
            <p:nvPr/>
          </p:nvSpPr>
          <p:spPr>
            <a:xfrm>
              <a:off x="4195616" y="3391598"/>
              <a:ext cx="54861" cy="12298"/>
            </a:xfrm>
            <a:custGeom>
              <a:avLst/>
              <a:gdLst/>
              <a:ahLst/>
              <a:cxnLst/>
              <a:rect l="l" t="t" r="r" b="b"/>
              <a:pathLst>
                <a:path w="1597" h="358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86"/>
                    <a:pt x="72" y="357"/>
                    <a:pt x="167" y="357"/>
                  </a:cubicBezTo>
                  <a:lnTo>
                    <a:pt x="1429" y="357"/>
                  </a:lnTo>
                  <a:cubicBezTo>
                    <a:pt x="1525" y="357"/>
                    <a:pt x="1596" y="286"/>
                    <a:pt x="1596" y="167"/>
                  </a:cubicBezTo>
                  <a:cubicBezTo>
                    <a:pt x="1596" y="72"/>
                    <a:pt x="1525" y="0"/>
                    <a:pt x="14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31;p74">
              <a:extLst>
                <a:ext uri="{FF2B5EF4-FFF2-40B4-BE49-F238E27FC236}">
                  <a16:creationId xmlns:a16="http://schemas.microsoft.com/office/drawing/2014/main" id="{703ADF64-1DB5-4CF5-E695-01A84080B30E}"/>
                </a:ext>
              </a:extLst>
            </p:cNvPr>
            <p:cNvSpPr/>
            <p:nvPr/>
          </p:nvSpPr>
          <p:spPr>
            <a:xfrm>
              <a:off x="4063084" y="3364597"/>
              <a:ext cx="319925" cy="429509"/>
            </a:xfrm>
            <a:custGeom>
              <a:avLst/>
              <a:gdLst/>
              <a:ahLst/>
              <a:cxnLst/>
              <a:rect l="l" t="t" r="r" b="b"/>
              <a:pathLst>
                <a:path w="9313" h="12503" extrusionOk="0">
                  <a:moveTo>
                    <a:pt x="644" y="0"/>
                  </a:moveTo>
                  <a:cubicBezTo>
                    <a:pt x="286" y="0"/>
                    <a:pt x="1" y="286"/>
                    <a:pt x="1" y="643"/>
                  </a:cubicBezTo>
                  <a:lnTo>
                    <a:pt x="1" y="11860"/>
                  </a:lnTo>
                  <a:cubicBezTo>
                    <a:pt x="1" y="12217"/>
                    <a:pt x="286" y="12503"/>
                    <a:pt x="644" y="12503"/>
                  </a:cubicBezTo>
                  <a:lnTo>
                    <a:pt x="8669" y="12503"/>
                  </a:lnTo>
                  <a:cubicBezTo>
                    <a:pt x="9026" y="12503"/>
                    <a:pt x="9312" y="12217"/>
                    <a:pt x="9312" y="11860"/>
                  </a:cubicBezTo>
                  <a:lnTo>
                    <a:pt x="9312" y="5216"/>
                  </a:lnTo>
                  <a:cubicBezTo>
                    <a:pt x="9312" y="5120"/>
                    <a:pt x="9241" y="5049"/>
                    <a:pt x="9122" y="5049"/>
                  </a:cubicBezTo>
                  <a:cubicBezTo>
                    <a:pt x="9026" y="5049"/>
                    <a:pt x="8955" y="5120"/>
                    <a:pt x="8955" y="5216"/>
                  </a:cubicBezTo>
                  <a:lnTo>
                    <a:pt x="8955" y="11860"/>
                  </a:lnTo>
                  <a:cubicBezTo>
                    <a:pt x="8955" y="12027"/>
                    <a:pt x="8836" y="12146"/>
                    <a:pt x="8669" y="12146"/>
                  </a:cubicBezTo>
                  <a:lnTo>
                    <a:pt x="644" y="12146"/>
                  </a:lnTo>
                  <a:cubicBezTo>
                    <a:pt x="477" y="12146"/>
                    <a:pt x="358" y="12027"/>
                    <a:pt x="358" y="11860"/>
                  </a:cubicBezTo>
                  <a:lnTo>
                    <a:pt x="358" y="643"/>
                  </a:lnTo>
                  <a:cubicBezTo>
                    <a:pt x="358" y="477"/>
                    <a:pt x="477" y="358"/>
                    <a:pt x="644" y="358"/>
                  </a:cubicBezTo>
                  <a:lnTo>
                    <a:pt x="2763" y="358"/>
                  </a:lnTo>
                  <a:lnTo>
                    <a:pt x="2882" y="739"/>
                  </a:lnTo>
                  <a:lnTo>
                    <a:pt x="906" y="739"/>
                  </a:lnTo>
                  <a:cubicBezTo>
                    <a:pt x="810" y="739"/>
                    <a:pt x="739" y="810"/>
                    <a:pt x="739" y="905"/>
                  </a:cubicBezTo>
                  <a:lnTo>
                    <a:pt x="739" y="10145"/>
                  </a:lnTo>
                  <a:cubicBezTo>
                    <a:pt x="739" y="10264"/>
                    <a:pt x="810" y="10336"/>
                    <a:pt x="906" y="10336"/>
                  </a:cubicBezTo>
                  <a:cubicBezTo>
                    <a:pt x="1025" y="10336"/>
                    <a:pt x="1096" y="10264"/>
                    <a:pt x="1096" y="10145"/>
                  </a:cubicBezTo>
                  <a:lnTo>
                    <a:pt x="1096" y="1096"/>
                  </a:lnTo>
                  <a:lnTo>
                    <a:pt x="3001" y="1096"/>
                  </a:lnTo>
                  <a:lnTo>
                    <a:pt x="3120" y="1429"/>
                  </a:lnTo>
                  <a:cubicBezTo>
                    <a:pt x="3216" y="1715"/>
                    <a:pt x="3501" y="1929"/>
                    <a:pt x="3835" y="1929"/>
                  </a:cubicBezTo>
                  <a:lnTo>
                    <a:pt x="4311" y="1929"/>
                  </a:lnTo>
                  <a:cubicBezTo>
                    <a:pt x="4430" y="1929"/>
                    <a:pt x="4502" y="1834"/>
                    <a:pt x="4502" y="1739"/>
                  </a:cubicBezTo>
                  <a:cubicBezTo>
                    <a:pt x="4502" y="1644"/>
                    <a:pt x="4430" y="1572"/>
                    <a:pt x="4311" y="1572"/>
                  </a:cubicBezTo>
                  <a:lnTo>
                    <a:pt x="3835" y="1572"/>
                  </a:lnTo>
                  <a:cubicBezTo>
                    <a:pt x="3668" y="1572"/>
                    <a:pt x="3525" y="1453"/>
                    <a:pt x="3478" y="1310"/>
                  </a:cubicBezTo>
                  <a:lnTo>
                    <a:pt x="3144" y="358"/>
                  </a:lnTo>
                  <a:lnTo>
                    <a:pt x="6169" y="358"/>
                  </a:lnTo>
                  <a:lnTo>
                    <a:pt x="5835" y="1310"/>
                  </a:lnTo>
                  <a:cubicBezTo>
                    <a:pt x="5788" y="1453"/>
                    <a:pt x="5645" y="1572"/>
                    <a:pt x="5478" y="1572"/>
                  </a:cubicBezTo>
                  <a:lnTo>
                    <a:pt x="5049" y="1572"/>
                  </a:lnTo>
                  <a:cubicBezTo>
                    <a:pt x="4954" y="1572"/>
                    <a:pt x="4883" y="1644"/>
                    <a:pt x="4883" y="1739"/>
                  </a:cubicBezTo>
                  <a:cubicBezTo>
                    <a:pt x="4883" y="1834"/>
                    <a:pt x="4954" y="1929"/>
                    <a:pt x="5049" y="1929"/>
                  </a:cubicBezTo>
                  <a:lnTo>
                    <a:pt x="5478" y="1929"/>
                  </a:lnTo>
                  <a:cubicBezTo>
                    <a:pt x="5811" y="1929"/>
                    <a:pt x="6073" y="1739"/>
                    <a:pt x="6192" y="1429"/>
                  </a:cubicBezTo>
                  <a:lnTo>
                    <a:pt x="6312" y="1096"/>
                  </a:lnTo>
                  <a:lnTo>
                    <a:pt x="8217" y="1096"/>
                  </a:lnTo>
                  <a:lnTo>
                    <a:pt x="8217" y="11407"/>
                  </a:lnTo>
                  <a:lnTo>
                    <a:pt x="1096" y="11407"/>
                  </a:lnTo>
                  <a:lnTo>
                    <a:pt x="1096" y="10884"/>
                  </a:lnTo>
                  <a:cubicBezTo>
                    <a:pt x="1096" y="10788"/>
                    <a:pt x="1025" y="10693"/>
                    <a:pt x="906" y="10693"/>
                  </a:cubicBezTo>
                  <a:cubicBezTo>
                    <a:pt x="810" y="10693"/>
                    <a:pt x="739" y="10788"/>
                    <a:pt x="739" y="10884"/>
                  </a:cubicBezTo>
                  <a:lnTo>
                    <a:pt x="739" y="11598"/>
                  </a:lnTo>
                  <a:cubicBezTo>
                    <a:pt x="739" y="11693"/>
                    <a:pt x="810" y="11765"/>
                    <a:pt x="906" y="11765"/>
                  </a:cubicBezTo>
                  <a:lnTo>
                    <a:pt x="8407" y="11765"/>
                  </a:lnTo>
                  <a:cubicBezTo>
                    <a:pt x="8502" y="11765"/>
                    <a:pt x="8574" y="11693"/>
                    <a:pt x="8574" y="11598"/>
                  </a:cubicBezTo>
                  <a:lnTo>
                    <a:pt x="8574" y="905"/>
                  </a:lnTo>
                  <a:cubicBezTo>
                    <a:pt x="8574" y="810"/>
                    <a:pt x="8502" y="739"/>
                    <a:pt x="8407" y="739"/>
                  </a:cubicBezTo>
                  <a:lnTo>
                    <a:pt x="6431" y="739"/>
                  </a:lnTo>
                  <a:lnTo>
                    <a:pt x="6550" y="358"/>
                  </a:lnTo>
                  <a:lnTo>
                    <a:pt x="8669" y="358"/>
                  </a:lnTo>
                  <a:cubicBezTo>
                    <a:pt x="8836" y="358"/>
                    <a:pt x="8955" y="477"/>
                    <a:pt x="8955" y="643"/>
                  </a:cubicBezTo>
                  <a:lnTo>
                    <a:pt x="8955" y="4501"/>
                  </a:lnTo>
                  <a:cubicBezTo>
                    <a:pt x="8955" y="4597"/>
                    <a:pt x="9026" y="4668"/>
                    <a:pt x="9122" y="4668"/>
                  </a:cubicBezTo>
                  <a:cubicBezTo>
                    <a:pt x="9241" y="4668"/>
                    <a:pt x="9312" y="4597"/>
                    <a:pt x="9312" y="4501"/>
                  </a:cubicBezTo>
                  <a:lnTo>
                    <a:pt x="9312" y="643"/>
                  </a:lnTo>
                  <a:cubicBezTo>
                    <a:pt x="9312" y="286"/>
                    <a:pt x="9026" y="0"/>
                    <a:pt x="86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32;p74">
              <a:extLst>
                <a:ext uri="{FF2B5EF4-FFF2-40B4-BE49-F238E27FC236}">
                  <a16:creationId xmlns:a16="http://schemas.microsoft.com/office/drawing/2014/main" id="{E3E7810B-66D5-B81A-D92F-3D6BDCA9DFD6}"/>
                </a:ext>
              </a:extLst>
            </p:cNvPr>
            <p:cNvSpPr/>
            <p:nvPr/>
          </p:nvSpPr>
          <p:spPr>
            <a:xfrm>
              <a:off x="4173527" y="3447215"/>
              <a:ext cx="99038" cy="69564"/>
            </a:xfrm>
            <a:custGeom>
              <a:avLst/>
              <a:gdLst/>
              <a:ahLst/>
              <a:cxnLst/>
              <a:rect l="l" t="t" r="r" b="b"/>
              <a:pathLst>
                <a:path w="2883" h="2025" extrusionOk="0">
                  <a:moveTo>
                    <a:pt x="2690" y="1"/>
                  </a:moveTo>
                  <a:cubicBezTo>
                    <a:pt x="2660" y="1"/>
                    <a:pt x="2628" y="9"/>
                    <a:pt x="2596" y="24"/>
                  </a:cubicBezTo>
                  <a:lnTo>
                    <a:pt x="1691" y="525"/>
                  </a:lnTo>
                  <a:lnTo>
                    <a:pt x="715" y="72"/>
                  </a:lnTo>
                  <a:cubicBezTo>
                    <a:pt x="688" y="59"/>
                    <a:pt x="662" y="53"/>
                    <a:pt x="636" y="53"/>
                  </a:cubicBezTo>
                  <a:cubicBezTo>
                    <a:pt x="570" y="53"/>
                    <a:pt x="511" y="92"/>
                    <a:pt x="477" y="143"/>
                  </a:cubicBezTo>
                  <a:cubicBezTo>
                    <a:pt x="429" y="239"/>
                    <a:pt x="477" y="358"/>
                    <a:pt x="572" y="405"/>
                  </a:cubicBezTo>
                  <a:lnTo>
                    <a:pt x="1310" y="739"/>
                  </a:lnTo>
                  <a:lnTo>
                    <a:pt x="596" y="1144"/>
                  </a:lnTo>
                  <a:lnTo>
                    <a:pt x="358" y="667"/>
                  </a:lnTo>
                  <a:cubicBezTo>
                    <a:pt x="326" y="604"/>
                    <a:pt x="273" y="572"/>
                    <a:pt x="213" y="572"/>
                  </a:cubicBezTo>
                  <a:cubicBezTo>
                    <a:pt x="183" y="572"/>
                    <a:pt x="151" y="580"/>
                    <a:pt x="120" y="596"/>
                  </a:cubicBezTo>
                  <a:cubicBezTo>
                    <a:pt x="24" y="620"/>
                    <a:pt x="1" y="739"/>
                    <a:pt x="48" y="834"/>
                  </a:cubicBezTo>
                  <a:lnTo>
                    <a:pt x="358" y="1477"/>
                  </a:lnTo>
                  <a:cubicBezTo>
                    <a:pt x="382" y="1525"/>
                    <a:pt x="405" y="1549"/>
                    <a:pt x="453" y="1572"/>
                  </a:cubicBezTo>
                  <a:lnTo>
                    <a:pt x="525" y="1572"/>
                  </a:lnTo>
                  <a:cubicBezTo>
                    <a:pt x="548" y="1572"/>
                    <a:pt x="572" y="1572"/>
                    <a:pt x="596" y="1549"/>
                  </a:cubicBezTo>
                  <a:lnTo>
                    <a:pt x="1429" y="1096"/>
                  </a:lnTo>
                  <a:lnTo>
                    <a:pt x="1429" y="1096"/>
                  </a:lnTo>
                  <a:lnTo>
                    <a:pt x="1239" y="1810"/>
                  </a:lnTo>
                  <a:cubicBezTo>
                    <a:pt x="1215" y="1906"/>
                    <a:pt x="1287" y="2001"/>
                    <a:pt x="1382" y="2025"/>
                  </a:cubicBezTo>
                  <a:lnTo>
                    <a:pt x="1429" y="2025"/>
                  </a:lnTo>
                  <a:cubicBezTo>
                    <a:pt x="1501" y="2025"/>
                    <a:pt x="1572" y="1977"/>
                    <a:pt x="1596" y="1906"/>
                  </a:cubicBezTo>
                  <a:lnTo>
                    <a:pt x="1882" y="834"/>
                  </a:lnTo>
                  <a:lnTo>
                    <a:pt x="2763" y="334"/>
                  </a:lnTo>
                  <a:cubicBezTo>
                    <a:pt x="2858" y="286"/>
                    <a:pt x="2882" y="167"/>
                    <a:pt x="2835" y="96"/>
                  </a:cubicBezTo>
                  <a:cubicBezTo>
                    <a:pt x="2803" y="32"/>
                    <a:pt x="2750" y="1"/>
                    <a:pt x="26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6"/>
          <p:cNvSpPr txBox="1">
            <a:spLocks noGrp="1"/>
          </p:cNvSpPr>
          <p:nvPr>
            <p:ph type="title"/>
          </p:nvPr>
        </p:nvSpPr>
        <p:spPr>
          <a:xfrm>
            <a:off x="713100" y="3351688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sp>
        <p:nvSpPr>
          <p:cNvPr id="652" name="Google Shape;652;p56"/>
          <p:cNvSpPr txBox="1">
            <a:spLocks noGrp="1"/>
          </p:cNvSpPr>
          <p:nvPr>
            <p:ph type="title" idx="2"/>
          </p:nvPr>
        </p:nvSpPr>
        <p:spPr>
          <a:xfrm>
            <a:off x="713100" y="2534189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53" name="Google Shape;653;p56"/>
          <p:cNvSpPr txBox="1">
            <a:spLocks noGrp="1"/>
          </p:cNvSpPr>
          <p:nvPr>
            <p:ph type="subTitle" idx="1"/>
          </p:nvPr>
        </p:nvSpPr>
        <p:spPr>
          <a:xfrm>
            <a:off x="713100" y="4199388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Data Analysis &amp; Insights</a:t>
            </a:r>
          </a:p>
        </p:txBody>
      </p:sp>
      <p:pic>
        <p:nvPicPr>
          <p:cNvPr id="654" name="Google Shape;65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75821">
            <a:off x="2624915" y="809738"/>
            <a:ext cx="6100942" cy="19883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>
            <a:spLocks noGrp="1"/>
          </p:cNvSpPr>
          <p:nvPr>
            <p:ph type="title"/>
          </p:nvPr>
        </p:nvSpPr>
        <p:spPr>
          <a:xfrm>
            <a:off x="143691" y="24231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Satisfaction Overview</a:t>
            </a:r>
            <a:endParaRPr/>
          </a:p>
        </p:txBody>
      </p:sp>
      <p:sp>
        <p:nvSpPr>
          <p:cNvPr id="412" name="Google Shape;412;p50"/>
          <p:cNvSpPr txBox="1"/>
          <p:nvPr/>
        </p:nvSpPr>
        <p:spPr>
          <a:xfrm>
            <a:off x="688452" y="1176937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Recorded Passengers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3" name="Google Shape;413;p50"/>
          <p:cNvSpPr txBox="1"/>
          <p:nvPr/>
        </p:nvSpPr>
        <p:spPr>
          <a:xfrm>
            <a:off x="688458" y="1539435"/>
            <a:ext cx="3334902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Total passengers analyzed: 103,904</a:t>
            </a:r>
          </a:p>
        </p:txBody>
      </p:sp>
      <p:sp>
        <p:nvSpPr>
          <p:cNvPr id="414" name="Google Shape;414;p50"/>
          <p:cNvSpPr txBox="1"/>
          <p:nvPr/>
        </p:nvSpPr>
        <p:spPr>
          <a:xfrm>
            <a:off x="682342" y="2385550"/>
            <a:ext cx="1943724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Satisfaction (%)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15" name="Google Shape;415;p50"/>
          <p:cNvSpPr txBox="1"/>
          <p:nvPr/>
        </p:nvSpPr>
        <p:spPr>
          <a:xfrm>
            <a:off x="682347" y="2748048"/>
            <a:ext cx="3334901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43% of passengers are satisfied and 57% are neutral or dissatisfied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6" name="Google Shape;416;p50"/>
          <p:cNvSpPr/>
          <p:nvPr/>
        </p:nvSpPr>
        <p:spPr>
          <a:xfrm>
            <a:off x="328135" y="1229444"/>
            <a:ext cx="274200" cy="27420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50"/>
          <p:cNvSpPr/>
          <p:nvPr/>
        </p:nvSpPr>
        <p:spPr>
          <a:xfrm>
            <a:off x="322025" y="2438057"/>
            <a:ext cx="274200" cy="27420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7F726-0DDE-AC24-5C42-B3C2E7F46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697" y="242310"/>
            <a:ext cx="4450612" cy="6418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6F212E-6574-648E-C60A-589D59278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140" y="1007121"/>
            <a:ext cx="4081725" cy="34346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Google Shape;414;p50">
            <a:extLst>
              <a:ext uri="{FF2B5EF4-FFF2-40B4-BE49-F238E27FC236}">
                <a16:creationId xmlns:a16="http://schemas.microsoft.com/office/drawing/2014/main" id="{491D33B1-1C9F-C0B8-7AB2-0B199FAB3037}"/>
              </a:ext>
            </a:extLst>
          </p:cNvPr>
          <p:cNvSpPr txBox="1"/>
          <p:nvPr/>
        </p:nvSpPr>
        <p:spPr>
          <a:xfrm>
            <a:off x="682343" y="3646670"/>
            <a:ext cx="2616028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Average Service Score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" name="Google Shape;415;p50">
            <a:extLst>
              <a:ext uri="{FF2B5EF4-FFF2-40B4-BE49-F238E27FC236}">
                <a16:creationId xmlns:a16="http://schemas.microsoft.com/office/drawing/2014/main" id="{EE8D9E14-6975-8350-04DC-2B8DE1640B56}"/>
              </a:ext>
            </a:extLst>
          </p:cNvPr>
          <p:cNvSpPr txBox="1"/>
          <p:nvPr/>
        </p:nvSpPr>
        <p:spPr>
          <a:xfrm>
            <a:off x="682347" y="4009168"/>
            <a:ext cx="3334901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Average rating score of all service type is 3.21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" name="Google Shape;417;p50">
            <a:extLst>
              <a:ext uri="{FF2B5EF4-FFF2-40B4-BE49-F238E27FC236}">
                <a16:creationId xmlns:a16="http://schemas.microsoft.com/office/drawing/2014/main" id="{B47E1C59-BE0F-C387-731B-D6EEEE15BCB3}"/>
              </a:ext>
            </a:extLst>
          </p:cNvPr>
          <p:cNvSpPr/>
          <p:nvPr/>
        </p:nvSpPr>
        <p:spPr>
          <a:xfrm>
            <a:off x="322025" y="3699177"/>
            <a:ext cx="274200" cy="27420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>
            <a:spLocks noGrp="1"/>
          </p:cNvSpPr>
          <p:nvPr>
            <p:ph type="title"/>
          </p:nvPr>
        </p:nvSpPr>
        <p:spPr>
          <a:xfrm>
            <a:off x="143691" y="24231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Customer Satisfaction Varies Significantly Across Segments</a:t>
            </a:r>
            <a:endParaRPr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5763A9-4AEF-D4E1-E758-CB13E5A51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308" y="1118409"/>
            <a:ext cx="5801862" cy="3295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412;p50">
            <a:extLst>
              <a:ext uri="{FF2B5EF4-FFF2-40B4-BE49-F238E27FC236}">
                <a16:creationId xmlns:a16="http://schemas.microsoft.com/office/drawing/2014/main" id="{1B2EBD9D-D481-ACF3-DE70-902FE5A90DB7}"/>
              </a:ext>
            </a:extLst>
          </p:cNvPr>
          <p:cNvSpPr txBox="1"/>
          <p:nvPr/>
        </p:nvSpPr>
        <p:spPr>
          <a:xfrm>
            <a:off x="390600" y="1261912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" name="Google Shape;413;p50">
            <a:extLst>
              <a:ext uri="{FF2B5EF4-FFF2-40B4-BE49-F238E27FC236}">
                <a16:creationId xmlns:a16="http://schemas.microsoft.com/office/drawing/2014/main" id="{D9B1DC84-459E-1315-4F8D-2FCA92507906}"/>
              </a:ext>
            </a:extLst>
          </p:cNvPr>
          <p:cNvSpPr txBox="1"/>
          <p:nvPr/>
        </p:nvSpPr>
        <p:spPr>
          <a:xfrm>
            <a:off x="390600" y="1635971"/>
            <a:ext cx="2564199" cy="57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travelers in business class show the highest satisfaction level</a:t>
            </a:r>
          </a:p>
        </p:txBody>
      </p:sp>
      <p:sp>
        <p:nvSpPr>
          <p:cNvPr id="13" name="Google Shape;416;p50">
            <a:extLst>
              <a:ext uri="{FF2B5EF4-FFF2-40B4-BE49-F238E27FC236}">
                <a16:creationId xmlns:a16="http://schemas.microsoft.com/office/drawing/2014/main" id="{FFFDAE24-4E72-82D2-6D5E-8C939F54BCF1}"/>
              </a:ext>
            </a:extLst>
          </p:cNvPr>
          <p:cNvSpPr/>
          <p:nvPr/>
        </p:nvSpPr>
        <p:spPr>
          <a:xfrm>
            <a:off x="213830" y="1360072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412;p50">
            <a:extLst>
              <a:ext uri="{FF2B5EF4-FFF2-40B4-BE49-F238E27FC236}">
                <a16:creationId xmlns:a16="http://schemas.microsoft.com/office/drawing/2014/main" id="{F0703809-20F8-36E5-049E-C332FC56DEA0}"/>
              </a:ext>
            </a:extLst>
          </p:cNvPr>
          <p:cNvSpPr txBox="1"/>
          <p:nvPr/>
        </p:nvSpPr>
        <p:spPr>
          <a:xfrm>
            <a:off x="390600" y="2207623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413;p50">
            <a:extLst>
              <a:ext uri="{FF2B5EF4-FFF2-40B4-BE49-F238E27FC236}">
                <a16:creationId xmlns:a16="http://schemas.microsoft.com/office/drawing/2014/main" id="{A39CBD61-0634-A8EC-DF4A-BEA330EC8BAB}"/>
              </a:ext>
            </a:extLst>
          </p:cNvPr>
          <p:cNvSpPr txBox="1"/>
          <p:nvPr/>
        </p:nvSpPr>
        <p:spPr>
          <a:xfrm>
            <a:off x="390600" y="2581682"/>
            <a:ext cx="2564199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Personal travelers in business segments show the lowest satisfaction</a:t>
            </a:r>
          </a:p>
        </p:txBody>
      </p:sp>
      <p:sp>
        <p:nvSpPr>
          <p:cNvPr id="20" name="Google Shape;416;p50">
            <a:extLst>
              <a:ext uri="{FF2B5EF4-FFF2-40B4-BE49-F238E27FC236}">
                <a16:creationId xmlns:a16="http://schemas.microsoft.com/office/drawing/2014/main" id="{03876625-EC18-A7C9-7BAA-00952AD2AA23}"/>
              </a:ext>
            </a:extLst>
          </p:cNvPr>
          <p:cNvSpPr/>
          <p:nvPr/>
        </p:nvSpPr>
        <p:spPr>
          <a:xfrm>
            <a:off x="213830" y="2305783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412;p50">
            <a:extLst>
              <a:ext uri="{FF2B5EF4-FFF2-40B4-BE49-F238E27FC236}">
                <a16:creationId xmlns:a16="http://schemas.microsoft.com/office/drawing/2014/main" id="{41DF3A74-541F-A6A0-6984-33EADFB9E4BC}"/>
              </a:ext>
            </a:extLst>
          </p:cNvPr>
          <p:cNvSpPr txBox="1"/>
          <p:nvPr/>
        </p:nvSpPr>
        <p:spPr>
          <a:xfrm>
            <a:off x="390600" y="3251494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" name="Google Shape;413;p50">
            <a:extLst>
              <a:ext uri="{FF2B5EF4-FFF2-40B4-BE49-F238E27FC236}">
                <a16:creationId xmlns:a16="http://schemas.microsoft.com/office/drawing/2014/main" id="{BAFF6491-85B4-EADC-5682-8EF3E321A4AA}"/>
              </a:ext>
            </a:extLst>
          </p:cNvPr>
          <p:cNvSpPr txBox="1"/>
          <p:nvPr/>
        </p:nvSpPr>
        <p:spPr>
          <a:xfrm>
            <a:off x="390600" y="3625553"/>
            <a:ext cx="2564199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Significant variation indicates different customer expectations across segments</a:t>
            </a:r>
          </a:p>
        </p:txBody>
      </p:sp>
      <p:sp>
        <p:nvSpPr>
          <p:cNvPr id="26" name="Google Shape;416;p50">
            <a:extLst>
              <a:ext uri="{FF2B5EF4-FFF2-40B4-BE49-F238E27FC236}">
                <a16:creationId xmlns:a16="http://schemas.microsoft.com/office/drawing/2014/main" id="{A6A73282-CC0D-91AE-142A-6FED8BF0BC19}"/>
              </a:ext>
            </a:extLst>
          </p:cNvPr>
          <p:cNvSpPr/>
          <p:nvPr/>
        </p:nvSpPr>
        <p:spPr>
          <a:xfrm>
            <a:off x="213830" y="3349654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58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>
            <a:spLocks noGrp="1"/>
          </p:cNvSpPr>
          <p:nvPr>
            <p:ph type="title"/>
          </p:nvPr>
        </p:nvSpPr>
        <p:spPr>
          <a:xfrm>
            <a:off x="143691" y="24231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Travel Type and Class Strongly Influence Satisfaction</a:t>
            </a:r>
            <a:endParaRPr sz="2000"/>
          </a:p>
        </p:txBody>
      </p:sp>
      <p:sp>
        <p:nvSpPr>
          <p:cNvPr id="9" name="Google Shape;412;p50">
            <a:extLst>
              <a:ext uri="{FF2B5EF4-FFF2-40B4-BE49-F238E27FC236}">
                <a16:creationId xmlns:a16="http://schemas.microsoft.com/office/drawing/2014/main" id="{1B2EBD9D-D481-ACF3-DE70-902FE5A90DB7}"/>
              </a:ext>
            </a:extLst>
          </p:cNvPr>
          <p:cNvSpPr txBox="1"/>
          <p:nvPr/>
        </p:nvSpPr>
        <p:spPr>
          <a:xfrm>
            <a:off x="373321" y="1438260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" name="Google Shape;413;p50">
            <a:extLst>
              <a:ext uri="{FF2B5EF4-FFF2-40B4-BE49-F238E27FC236}">
                <a16:creationId xmlns:a16="http://schemas.microsoft.com/office/drawing/2014/main" id="{D9B1DC84-459E-1315-4F8D-2FCA92507906}"/>
              </a:ext>
            </a:extLst>
          </p:cNvPr>
          <p:cNvSpPr txBox="1"/>
          <p:nvPr/>
        </p:nvSpPr>
        <p:spPr>
          <a:xfrm>
            <a:off x="373321" y="1812319"/>
            <a:ext cx="3629490" cy="57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travelers tend to have higher satisfaction than personal travelers</a:t>
            </a:r>
          </a:p>
        </p:txBody>
      </p:sp>
      <p:sp>
        <p:nvSpPr>
          <p:cNvPr id="13" name="Google Shape;416;p50">
            <a:extLst>
              <a:ext uri="{FF2B5EF4-FFF2-40B4-BE49-F238E27FC236}">
                <a16:creationId xmlns:a16="http://schemas.microsoft.com/office/drawing/2014/main" id="{FFFDAE24-4E72-82D2-6D5E-8C939F54BCF1}"/>
              </a:ext>
            </a:extLst>
          </p:cNvPr>
          <p:cNvSpPr/>
          <p:nvPr/>
        </p:nvSpPr>
        <p:spPr>
          <a:xfrm>
            <a:off x="196551" y="1536420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412;p50">
            <a:extLst>
              <a:ext uri="{FF2B5EF4-FFF2-40B4-BE49-F238E27FC236}">
                <a16:creationId xmlns:a16="http://schemas.microsoft.com/office/drawing/2014/main" id="{F0703809-20F8-36E5-049E-C332FC56DEA0}"/>
              </a:ext>
            </a:extLst>
          </p:cNvPr>
          <p:cNvSpPr txBox="1"/>
          <p:nvPr/>
        </p:nvSpPr>
        <p:spPr>
          <a:xfrm>
            <a:off x="373321" y="2383971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413;p50">
            <a:extLst>
              <a:ext uri="{FF2B5EF4-FFF2-40B4-BE49-F238E27FC236}">
                <a16:creationId xmlns:a16="http://schemas.microsoft.com/office/drawing/2014/main" id="{A39CBD61-0634-A8EC-DF4A-BEA330EC8BAB}"/>
              </a:ext>
            </a:extLst>
          </p:cNvPr>
          <p:cNvSpPr txBox="1"/>
          <p:nvPr/>
        </p:nvSpPr>
        <p:spPr>
          <a:xfrm>
            <a:off x="373321" y="2758030"/>
            <a:ext cx="3629490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class passengers show significantly higher satisfaction than economy class</a:t>
            </a:r>
          </a:p>
        </p:txBody>
      </p:sp>
      <p:sp>
        <p:nvSpPr>
          <p:cNvPr id="20" name="Google Shape;416;p50">
            <a:extLst>
              <a:ext uri="{FF2B5EF4-FFF2-40B4-BE49-F238E27FC236}">
                <a16:creationId xmlns:a16="http://schemas.microsoft.com/office/drawing/2014/main" id="{03876625-EC18-A7C9-7BAA-00952AD2AA23}"/>
              </a:ext>
            </a:extLst>
          </p:cNvPr>
          <p:cNvSpPr/>
          <p:nvPr/>
        </p:nvSpPr>
        <p:spPr>
          <a:xfrm>
            <a:off x="196551" y="2482131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412;p50">
            <a:extLst>
              <a:ext uri="{FF2B5EF4-FFF2-40B4-BE49-F238E27FC236}">
                <a16:creationId xmlns:a16="http://schemas.microsoft.com/office/drawing/2014/main" id="{41DF3A74-541F-A6A0-6984-33EADFB9E4BC}"/>
              </a:ext>
            </a:extLst>
          </p:cNvPr>
          <p:cNvSpPr txBox="1"/>
          <p:nvPr/>
        </p:nvSpPr>
        <p:spPr>
          <a:xfrm>
            <a:off x="373321" y="3427842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" name="Google Shape;413;p50">
            <a:extLst>
              <a:ext uri="{FF2B5EF4-FFF2-40B4-BE49-F238E27FC236}">
                <a16:creationId xmlns:a16="http://schemas.microsoft.com/office/drawing/2014/main" id="{BAFF6491-85B4-EADC-5682-8EF3E321A4AA}"/>
              </a:ext>
            </a:extLst>
          </p:cNvPr>
          <p:cNvSpPr txBox="1"/>
          <p:nvPr/>
        </p:nvSpPr>
        <p:spPr>
          <a:xfrm>
            <a:off x="373321" y="3801901"/>
            <a:ext cx="3629490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Travel type and class are key differentiators in customer experience</a:t>
            </a:r>
          </a:p>
        </p:txBody>
      </p:sp>
      <p:sp>
        <p:nvSpPr>
          <p:cNvPr id="26" name="Google Shape;416;p50">
            <a:extLst>
              <a:ext uri="{FF2B5EF4-FFF2-40B4-BE49-F238E27FC236}">
                <a16:creationId xmlns:a16="http://schemas.microsoft.com/office/drawing/2014/main" id="{A6A73282-CC0D-91AE-142A-6FED8BF0BC19}"/>
              </a:ext>
            </a:extLst>
          </p:cNvPr>
          <p:cNvSpPr/>
          <p:nvPr/>
        </p:nvSpPr>
        <p:spPr>
          <a:xfrm>
            <a:off x="196551" y="3526002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AA71F-A6BD-9E1D-5EE4-E709347BE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210" y="722995"/>
            <a:ext cx="3566508" cy="21031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91B7CB1-40B1-2DB7-85FB-21295F69B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210" y="2942729"/>
            <a:ext cx="3569296" cy="21031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054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>
            <a:spLocks noGrp="1"/>
          </p:cNvSpPr>
          <p:nvPr>
            <p:ph type="title"/>
          </p:nvPr>
        </p:nvSpPr>
        <p:spPr>
          <a:xfrm>
            <a:off x="143691" y="24231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Service Quality Strongly Influences Customer Satisfaction</a:t>
            </a:r>
            <a:endParaRPr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563F4-FBD5-3483-5DFF-F3B71848E1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966923"/>
            <a:ext cx="5891347" cy="32096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Google Shape;412;p50">
            <a:extLst>
              <a:ext uri="{FF2B5EF4-FFF2-40B4-BE49-F238E27FC236}">
                <a16:creationId xmlns:a16="http://schemas.microsoft.com/office/drawing/2014/main" id="{DB26BA5E-13CD-0D3F-962F-028A5DCEB6F6}"/>
              </a:ext>
            </a:extLst>
          </p:cNvPr>
          <p:cNvSpPr txBox="1"/>
          <p:nvPr/>
        </p:nvSpPr>
        <p:spPr>
          <a:xfrm>
            <a:off x="390600" y="1261912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" name="Google Shape;413;p50">
            <a:extLst>
              <a:ext uri="{FF2B5EF4-FFF2-40B4-BE49-F238E27FC236}">
                <a16:creationId xmlns:a16="http://schemas.microsoft.com/office/drawing/2014/main" id="{FF7EDF85-456F-5AAB-3098-46955F4A8296}"/>
              </a:ext>
            </a:extLst>
          </p:cNvPr>
          <p:cNvSpPr txBox="1"/>
          <p:nvPr/>
        </p:nvSpPr>
        <p:spPr>
          <a:xfrm>
            <a:off x="390600" y="1635971"/>
            <a:ext cx="2564199" cy="57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Higher service ratings are associated with higher satisfaction</a:t>
            </a:r>
          </a:p>
        </p:txBody>
      </p:sp>
      <p:sp>
        <p:nvSpPr>
          <p:cNvPr id="6" name="Google Shape;416;p50">
            <a:extLst>
              <a:ext uri="{FF2B5EF4-FFF2-40B4-BE49-F238E27FC236}">
                <a16:creationId xmlns:a16="http://schemas.microsoft.com/office/drawing/2014/main" id="{A4F18E18-605C-51B3-6345-A563D41139E6}"/>
              </a:ext>
            </a:extLst>
          </p:cNvPr>
          <p:cNvSpPr/>
          <p:nvPr/>
        </p:nvSpPr>
        <p:spPr>
          <a:xfrm>
            <a:off x="213830" y="1360072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12;p50">
            <a:extLst>
              <a:ext uri="{FF2B5EF4-FFF2-40B4-BE49-F238E27FC236}">
                <a16:creationId xmlns:a16="http://schemas.microsoft.com/office/drawing/2014/main" id="{76CC7277-8931-A2D7-3CDD-FBD86E1CD078}"/>
              </a:ext>
            </a:extLst>
          </p:cNvPr>
          <p:cNvSpPr txBox="1"/>
          <p:nvPr/>
        </p:nvSpPr>
        <p:spPr>
          <a:xfrm>
            <a:off x="390600" y="2207623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" name="Google Shape;413;p50">
            <a:extLst>
              <a:ext uri="{FF2B5EF4-FFF2-40B4-BE49-F238E27FC236}">
                <a16:creationId xmlns:a16="http://schemas.microsoft.com/office/drawing/2014/main" id="{9AB59E81-7AB8-CAF2-D980-4793C12EF130}"/>
              </a:ext>
            </a:extLst>
          </p:cNvPr>
          <p:cNvSpPr txBox="1"/>
          <p:nvPr/>
        </p:nvSpPr>
        <p:spPr>
          <a:xfrm>
            <a:off x="390600" y="2581682"/>
            <a:ext cx="2564199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Key service attributes with strong impact include: Inflight entertainment, Cleanliness, and Online boarding.</a:t>
            </a:r>
          </a:p>
        </p:txBody>
      </p:sp>
      <p:sp>
        <p:nvSpPr>
          <p:cNvPr id="12" name="Google Shape;416;p50">
            <a:extLst>
              <a:ext uri="{FF2B5EF4-FFF2-40B4-BE49-F238E27FC236}">
                <a16:creationId xmlns:a16="http://schemas.microsoft.com/office/drawing/2014/main" id="{0857B7DB-66DA-4286-ED42-1EFAE614AAC8}"/>
              </a:ext>
            </a:extLst>
          </p:cNvPr>
          <p:cNvSpPr/>
          <p:nvPr/>
        </p:nvSpPr>
        <p:spPr>
          <a:xfrm>
            <a:off x="213830" y="2305783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12;p50">
            <a:extLst>
              <a:ext uri="{FF2B5EF4-FFF2-40B4-BE49-F238E27FC236}">
                <a16:creationId xmlns:a16="http://schemas.microsoft.com/office/drawing/2014/main" id="{2BE54B1C-94C5-D04E-9909-C44777B86C0B}"/>
              </a:ext>
            </a:extLst>
          </p:cNvPr>
          <p:cNvSpPr txBox="1"/>
          <p:nvPr/>
        </p:nvSpPr>
        <p:spPr>
          <a:xfrm>
            <a:off x="390600" y="3251494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" name="Google Shape;413;p50">
            <a:extLst>
              <a:ext uri="{FF2B5EF4-FFF2-40B4-BE49-F238E27FC236}">
                <a16:creationId xmlns:a16="http://schemas.microsoft.com/office/drawing/2014/main" id="{3668A859-E59B-D7F9-6126-8048D9862AD2}"/>
              </a:ext>
            </a:extLst>
          </p:cNvPr>
          <p:cNvSpPr txBox="1"/>
          <p:nvPr/>
        </p:nvSpPr>
        <p:spPr>
          <a:xfrm>
            <a:off x="390600" y="3625553"/>
            <a:ext cx="2564199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Indicates that service quality plays a critical role in shaping customer experience</a:t>
            </a:r>
          </a:p>
        </p:txBody>
      </p:sp>
      <p:sp>
        <p:nvSpPr>
          <p:cNvPr id="16" name="Google Shape;416;p50">
            <a:extLst>
              <a:ext uri="{FF2B5EF4-FFF2-40B4-BE49-F238E27FC236}">
                <a16:creationId xmlns:a16="http://schemas.microsoft.com/office/drawing/2014/main" id="{D0D2FA6A-F6D7-D30F-2FAE-AFA072AFF9FE}"/>
              </a:ext>
            </a:extLst>
          </p:cNvPr>
          <p:cNvSpPr/>
          <p:nvPr/>
        </p:nvSpPr>
        <p:spPr>
          <a:xfrm>
            <a:off x="213830" y="3349654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119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>
            <a:spLocks noGrp="1"/>
          </p:cNvSpPr>
          <p:nvPr>
            <p:ph type="title"/>
          </p:nvPr>
        </p:nvSpPr>
        <p:spPr>
          <a:xfrm>
            <a:off x="143691" y="24231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Different Customer Segments Value Different Services</a:t>
            </a:r>
            <a:endParaRPr sz="2000"/>
          </a:p>
        </p:txBody>
      </p:sp>
      <p:sp>
        <p:nvSpPr>
          <p:cNvPr id="4" name="Google Shape;412;p50">
            <a:extLst>
              <a:ext uri="{FF2B5EF4-FFF2-40B4-BE49-F238E27FC236}">
                <a16:creationId xmlns:a16="http://schemas.microsoft.com/office/drawing/2014/main" id="{DB26BA5E-13CD-0D3F-962F-028A5DCEB6F6}"/>
              </a:ext>
            </a:extLst>
          </p:cNvPr>
          <p:cNvSpPr txBox="1"/>
          <p:nvPr/>
        </p:nvSpPr>
        <p:spPr>
          <a:xfrm>
            <a:off x="465392" y="3702143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" name="Google Shape;413;p50">
            <a:extLst>
              <a:ext uri="{FF2B5EF4-FFF2-40B4-BE49-F238E27FC236}">
                <a16:creationId xmlns:a16="http://schemas.microsoft.com/office/drawing/2014/main" id="{FF7EDF85-456F-5AAB-3098-46955F4A8296}"/>
              </a:ext>
            </a:extLst>
          </p:cNvPr>
          <p:cNvSpPr txBox="1"/>
          <p:nvPr/>
        </p:nvSpPr>
        <p:spPr>
          <a:xfrm>
            <a:off x="465392" y="4076202"/>
            <a:ext cx="2564199" cy="90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Business travelers show strong differences in service ratings between satisfied and dissatisfied groups</a:t>
            </a:r>
          </a:p>
        </p:txBody>
      </p:sp>
      <p:sp>
        <p:nvSpPr>
          <p:cNvPr id="6" name="Google Shape;416;p50">
            <a:extLst>
              <a:ext uri="{FF2B5EF4-FFF2-40B4-BE49-F238E27FC236}">
                <a16:creationId xmlns:a16="http://schemas.microsoft.com/office/drawing/2014/main" id="{A4F18E18-605C-51B3-6345-A563D41139E6}"/>
              </a:ext>
            </a:extLst>
          </p:cNvPr>
          <p:cNvSpPr/>
          <p:nvPr/>
        </p:nvSpPr>
        <p:spPr>
          <a:xfrm>
            <a:off x="288622" y="3800303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12;p50">
            <a:extLst>
              <a:ext uri="{FF2B5EF4-FFF2-40B4-BE49-F238E27FC236}">
                <a16:creationId xmlns:a16="http://schemas.microsoft.com/office/drawing/2014/main" id="{76CC7277-8931-A2D7-3CDD-FBD86E1CD078}"/>
              </a:ext>
            </a:extLst>
          </p:cNvPr>
          <p:cNvSpPr txBox="1"/>
          <p:nvPr/>
        </p:nvSpPr>
        <p:spPr>
          <a:xfrm>
            <a:off x="3383131" y="3702143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" name="Google Shape;413;p50">
            <a:extLst>
              <a:ext uri="{FF2B5EF4-FFF2-40B4-BE49-F238E27FC236}">
                <a16:creationId xmlns:a16="http://schemas.microsoft.com/office/drawing/2014/main" id="{9AB59E81-7AB8-CAF2-D980-4793C12EF130}"/>
              </a:ext>
            </a:extLst>
          </p:cNvPr>
          <p:cNvSpPr txBox="1"/>
          <p:nvPr/>
        </p:nvSpPr>
        <p:spPr>
          <a:xfrm>
            <a:off x="3383131" y="4081343"/>
            <a:ext cx="2564199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Personal travelers show relatively small differences across service attributes</a:t>
            </a:r>
          </a:p>
        </p:txBody>
      </p:sp>
      <p:sp>
        <p:nvSpPr>
          <p:cNvPr id="12" name="Google Shape;416;p50">
            <a:extLst>
              <a:ext uri="{FF2B5EF4-FFF2-40B4-BE49-F238E27FC236}">
                <a16:creationId xmlns:a16="http://schemas.microsoft.com/office/drawing/2014/main" id="{0857B7DB-66DA-4286-ED42-1EFAE614AAC8}"/>
              </a:ext>
            </a:extLst>
          </p:cNvPr>
          <p:cNvSpPr/>
          <p:nvPr/>
        </p:nvSpPr>
        <p:spPr>
          <a:xfrm>
            <a:off x="3206361" y="3797733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12;p50">
            <a:extLst>
              <a:ext uri="{FF2B5EF4-FFF2-40B4-BE49-F238E27FC236}">
                <a16:creationId xmlns:a16="http://schemas.microsoft.com/office/drawing/2014/main" id="{2BE54B1C-94C5-D04E-9909-C44777B86C0B}"/>
              </a:ext>
            </a:extLst>
          </p:cNvPr>
          <p:cNvSpPr txBox="1"/>
          <p:nvPr/>
        </p:nvSpPr>
        <p:spPr>
          <a:xfrm>
            <a:off x="6300870" y="3707284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" name="Google Shape;413;p50">
            <a:extLst>
              <a:ext uri="{FF2B5EF4-FFF2-40B4-BE49-F238E27FC236}">
                <a16:creationId xmlns:a16="http://schemas.microsoft.com/office/drawing/2014/main" id="{3668A859-E59B-D7F9-6126-8048D9862AD2}"/>
              </a:ext>
            </a:extLst>
          </p:cNvPr>
          <p:cNvSpPr txBox="1"/>
          <p:nvPr/>
        </p:nvSpPr>
        <p:spPr>
          <a:xfrm>
            <a:off x="6300870" y="4081343"/>
            <a:ext cx="2564199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Indicates varying sensitivity to service quality across segments</a:t>
            </a:r>
          </a:p>
        </p:txBody>
      </p:sp>
      <p:sp>
        <p:nvSpPr>
          <p:cNvPr id="16" name="Google Shape;416;p50">
            <a:extLst>
              <a:ext uri="{FF2B5EF4-FFF2-40B4-BE49-F238E27FC236}">
                <a16:creationId xmlns:a16="http://schemas.microsoft.com/office/drawing/2014/main" id="{D0D2FA6A-F6D7-D30F-2FAE-AFA072AFF9FE}"/>
              </a:ext>
            </a:extLst>
          </p:cNvPr>
          <p:cNvSpPr/>
          <p:nvPr/>
        </p:nvSpPr>
        <p:spPr>
          <a:xfrm>
            <a:off x="6124100" y="3805444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5F7CC6-B61B-A900-9E26-AD95F7B13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31" y="1179443"/>
            <a:ext cx="8682189" cy="2292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939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0"/>
          <p:cNvSpPr txBox="1">
            <a:spLocks noGrp="1"/>
          </p:cNvSpPr>
          <p:nvPr>
            <p:ph type="title"/>
          </p:nvPr>
        </p:nvSpPr>
        <p:spPr>
          <a:xfrm>
            <a:off x="143691" y="24231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Flight Delays Affect Satisfaction, But Are Not the Primary Driver</a:t>
            </a:r>
            <a:endParaRPr sz="2000"/>
          </a:p>
        </p:txBody>
      </p:sp>
      <p:sp>
        <p:nvSpPr>
          <p:cNvPr id="4" name="Google Shape;412;p50">
            <a:extLst>
              <a:ext uri="{FF2B5EF4-FFF2-40B4-BE49-F238E27FC236}">
                <a16:creationId xmlns:a16="http://schemas.microsoft.com/office/drawing/2014/main" id="{DB26BA5E-13CD-0D3F-962F-028A5DCEB6F6}"/>
              </a:ext>
            </a:extLst>
          </p:cNvPr>
          <p:cNvSpPr txBox="1"/>
          <p:nvPr/>
        </p:nvSpPr>
        <p:spPr>
          <a:xfrm>
            <a:off x="496809" y="3976459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" name="Google Shape;413;p50">
            <a:extLst>
              <a:ext uri="{FF2B5EF4-FFF2-40B4-BE49-F238E27FC236}">
                <a16:creationId xmlns:a16="http://schemas.microsoft.com/office/drawing/2014/main" id="{FF7EDF85-456F-5AAB-3098-46955F4A8296}"/>
              </a:ext>
            </a:extLst>
          </p:cNvPr>
          <p:cNvSpPr txBox="1"/>
          <p:nvPr/>
        </p:nvSpPr>
        <p:spPr>
          <a:xfrm>
            <a:off x="496809" y="4350518"/>
            <a:ext cx="2564199" cy="908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Increased delay is associated with lower satisfaction</a:t>
            </a:r>
          </a:p>
        </p:txBody>
      </p:sp>
      <p:sp>
        <p:nvSpPr>
          <p:cNvPr id="6" name="Google Shape;416;p50">
            <a:extLst>
              <a:ext uri="{FF2B5EF4-FFF2-40B4-BE49-F238E27FC236}">
                <a16:creationId xmlns:a16="http://schemas.microsoft.com/office/drawing/2014/main" id="{A4F18E18-605C-51B3-6345-A563D41139E6}"/>
              </a:ext>
            </a:extLst>
          </p:cNvPr>
          <p:cNvSpPr/>
          <p:nvPr/>
        </p:nvSpPr>
        <p:spPr>
          <a:xfrm>
            <a:off x="320039" y="4074619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412;p50">
            <a:extLst>
              <a:ext uri="{FF2B5EF4-FFF2-40B4-BE49-F238E27FC236}">
                <a16:creationId xmlns:a16="http://schemas.microsoft.com/office/drawing/2014/main" id="{76CC7277-8931-A2D7-3CDD-FBD86E1CD078}"/>
              </a:ext>
            </a:extLst>
          </p:cNvPr>
          <p:cNvSpPr txBox="1"/>
          <p:nvPr/>
        </p:nvSpPr>
        <p:spPr>
          <a:xfrm>
            <a:off x="3414548" y="3976459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" name="Google Shape;413;p50">
            <a:extLst>
              <a:ext uri="{FF2B5EF4-FFF2-40B4-BE49-F238E27FC236}">
                <a16:creationId xmlns:a16="http://schemas.microsoft.com/office/drawing/2014/main" id="{9AB59E81-7AB8-CAF2-D980-4793C12EF130}"/>
              </a:ext>
            </a:extLst>
          </p:cNvPr>
          <p:cNvSpPr txBox="1"/>
          <p:nvPr/>
        </p:nvSpPr>
        <p:spPr>
          <a:xfrm>
            <a:off x="3414548" y="4350518"/>
            <a:ext cx="2564199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However, the impact is smaller compared to service quality and class differences</a:t>
            </a:r>
          </a:p>
        </p:txBody>
      </p:sp>
      <p:sp>
        <p:nvSpPr>
          <p:cNvPr id="12" name="Google Shape;416;p50">
            <a:extLst>
              <a:ext uri="{FF2B5EF4-FFF2-40B4-BE49-F238E27FC236}">
                <a16:creationId xmlns:a16="http://schemas.microsoft.com/office/drawing/2014/main" id="{0857B7DB-66DA-4286-ED42-1EFAE614AAC8}"/>
              </a:ext>
            </a:extLst>
          </p:cNvPr>
          <p:cNvSpPr/>
          <p:nvPr/>
        </p:nvSpPr>
        <p:spPr>
          <a:xfrm>
            <a:off x="3237778" y="4072049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12;p50">
            <a:extLst>
              <a:ext uri="{FF2B5EF4-FFF2-40B4-BE49-F238E27FC236}">
                <a16:creationId xmlns:a16="http://schemas.microsoft.com/office/drawing/2014/main" id="{2BE54B1C-94C5-D04E-9909-C44777B86C0B}"/>
              </a:ext>
            </a:extLst>
          </p:cNvPr>
          <p:cNvSpPr txBox="1"/>
          <p:nvPr/>
        </p:nvSpPr>
        <p:spPr>
          <a:xfrm>
            <a:off x="6332287" y="3976459"/>
            <a:ext cx="2564199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sz="1800">
              <a:solidFill>
                <a:schemeClr val="dk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" name="Google Shape;413;p50">
            <a:extLst>
              <a:ext uri="{FF2B5EF4-FFF2-40B4-BE49-F238E27FC236}">
                <a16:creationId xmlns:a16="http://schemas.microsoft.com/office/drawing/2014/main" id="{3668A859-E59B-D7F9-6126-8048D9862AD2}"/>
              </a:ext>
            </a:extLst>
          </p:cNvPr>
          <p:cNvSpPr txBox="1"/>
          <p:nvPr/>
        </p:nvSpPr>
        <p:spPr>
          <a:xfrm>
            <a:off x="6332287" y="4355659"/>
            <a:ext cx="2564199" cy="66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Delay contributes to dissatisfaction but is not the dominant factor</a:t>
            </a:r>
          </a:p>
        </p:txBody>
      </p:sp>
      <p:sp>
        <p:nvSpPr>
          <p:cNvPr id="16" name="Google Shape;416;p50">
            <a:extLst>
              <a:ext uri="{FF2B5EF4-FFF2-40B4-BE49-F238E27FC236}">
                <a16:creationId xmlns:a16="http://schemas.microsoft.com/office/drawing/2014/main" id="{D0D2FA6A-F6D7-D30F-2FAE-AFA072AFF9FE}"/>
              </a:ext>
            </a:extLst>
          </p:cNvPr>
          <p:cNvSpPr/>
          <p:nvPr/>
        </p:nvSpPr>
        <p:spPr>
          <a:xfrm>
            <a:off x="6155517" y="4074619"/>
            <a:ext cx="182880" cy="182880"/>
          </a:xfrm>
          <a:prstGeom prst="ellipse">
            <a:avLst/>
          </a:pr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B7D4C-C47F-341E-4ED0-5E7FD3F76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44" y="725251"/>
            <a:ext cx="6810311" cy="30924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715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62"/>
          <p:cNvSpPr txBox="1">
            <a:spLocks noGrp="1"/>
          </p:cNvSpPr>
          <p:nvPr>
            <p:ph type="title"/>
          </p:nvPr>
        </p:nvSpPr>
        <p:spPr>
          <a:xfrm>
            <a:off x="1592702" y="3355099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BUSINESS INSIGHT SUMMARY</a:t>
            </a:r>
            <a:endParaRPr sz="3200"/>
          </a:p>
        </p:txBody>
      </p:sp>
      <p:sp>
        <p:nvSpPr>
          <p:cNvPr id="866" name="Google Shape;866;p62"/>
          <p:cNvSpPr txBox="1">
            <a:spLocks noGrp="1"/>
          </p:cNvSpPr>
          <p:nvPr>
            <p:ph type="subTitle" idx="1"/>
          </p:nvPr>
        </p:nvSpPr>
        <p:spPr>
          <a:xfrm>
            <a:off x="2350652" y="4202799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Key Business Insights</a:t>
            </a:r>
            <a:endParaRPr sz="1400"/>
          </a:p>
        </p:txBody>
      </p:sp>
      <p:sp>
        <p:nvSpPr>
          <p:cNvPr id="867" name="Google Shape;867;p62"/>
          <p:cNvSpPr txBox="1">
            <a:spLocks noGrp="1"/>
          </p:cNvSpPr>
          <p:nvPr>
            <p:ph type="title" idx="2"/>
          </p:nvPr>
        </p:nvSpPr>
        <p:spPr>
          <a:xfrm>
            <a:off x="3889202" y="2537600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pic>
        <p:nvPicPr>
          <p:cNvPr id="868" name="Google Shape;86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802" y="302275"/>
            <a:ext cx="5509899" cy="1825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Business Insights</a:t>
            </a:r>
            <a:endParaRPr/>
          </a:p>
        </p:txBody>
      </p:sp>
      <p:sp>
        <p:nvSpPr>
          <p:cNvPr id="953" name="Google Shape;953;p66"/>
          <p:cNvSpPr txBox="1">
            <a:spLocks noGrp="1"/>
          </p:cNvSpPr>
          <p:nvPr>
            <p:ph type="title" idx="2"/>
          </p:nvPr>
        </p:nvSpPr>
        <p:spPr>
          <a:xfrm>
            <a:off x="1665433" y="1517171"/>
            <a:ext cx="3304983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Segment-Driven Satisfaction</a:t>
            </a:r>
            <a:endParaRPr/>
          </a:p>
        </p:txBody>
      </p:sp>
      <p:sp>
        <p:nvSpPr>
          <p:cNvPr id="954" name="Google Shape;954;p66"/>
          <p:cNvSpPr txBox="1">
            <a:spLocks noGrp="1"/>
          </p:cNvSpPr>
          <p:nvPr>
            <p:ph type="subTitle" idx="1"/>
          </p:nvPr>
        </p:nvSpPr>
        <p:spPr>
          <a:xfrm>
            <a:off x="1665434" y="1881259"/>
            <a:ext cx="6765466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Customer satisfaction is highly dependent on passenger segment, with significant gaps across travel type and class</a:t>
            </a:r>
            <a:endParaRPr/>
          </a:p>
        </p:txBody>
      </p:sp>
      <p:sp>
        <p:nvSpPr>
          <p:cNvPr id="959" name="Google Shape;959;p66"/>
          <p:cNvSpPr txBox="1">
            <a:spLocks noGrp="1"/>
          </p:cNvSpPr>
          <p:nvPr>
            <p:ph type="title" idx="7"/>
          </p:nvPr>
        </p:nvSpPr>
        <p:spPr>
          <a:xfrm>
            <a:off x="1665434" y="2627736"/>
            <a:ext cx="3304982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Service as a Primary Driver</a:t>
            </a:r>
            <a:endParaRPr/>
          </a:p>
        </p:txBody>
      </p:sp>
      <p:sp>
        <p:nvSpPr>
          <p:cNvPr id="960" name="Google Shape;960;p66"/>
          <p:cNvSpPr txBox="1">
            <a:spLocks noGrp="1"/>
          </p:cNvSpPr>
          <p:nvPr>
            <p:ph type="subTitle" idx="8"/>
          </p:nvPr>
        </p:nvSpPr>
        <p:spPr>
          <a:xfrm>
            <a:off x="1665434" y="2992109"/>
            <a:ext cx="6765466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Service quality is a strong driver of satisfaction, particularly for business travelers</a:t>
            </a:r>
            <a:endParaRPr/>
          </a:p>
        </p:txBody>
      </p:sp>
      <p:sp>
        <p:nvSpPr>
          <p:cNvPr id="961" name="Google Shape;961;p66"/>
          <p:cNvSpPr txBox="1">
            <a:spLocks noGrp="1"/>
          </p:cNvSpPr>
          <p:nvPr>
            <p:ph type="title" idx="9"/>
          </p:nvPr>
        </p:nvSpPr>
        <p:spPr>
          <a:xfrm>
            <a:off x="1665434" y="3738301"/>
            <a:ext cx="4160600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 Sensitivity in Personal Segment</a:t>
            </a:r>
            <a:endParaRPr/>
          </a:p>
        </p:txBody>
      </p:sp>
      <p:sp>
        <p:nvSpPr>
          <p:cNvPr id="962" name="Google Shape;962;p66"/>
          <p:cNvSpPr txBox="1">
            <a:spLocks noGrp="1"/>
          </p:cNvSpPr>
          <p:nvPr>
            <p:ph type="subTitle" idx="13"/>
          </p:nvPr>
        </p:nvSpPr>
        <p:spPr>
          <a:xfrm>
            <a:off x="1665433" y="4102960"/>
            <a:ext cx="6765465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Personal travelers show relatively low sensitivity to service improvements</a:t>
            </a:r>
            <a:endParaRPr/>
          </a:p>
        </p:txBody>
      </p:sp>
      <p:sp>
        <p:nvSpPr>
          <p:cNvPr id="965" name="Google Shape;965;p66"/>
          <p:cNvSpPr/>
          <p:nvPr/>
        </p:nvSpPr>
        <p:spPr>
          <a:xfrm>
            <a:off x="712374" y="162870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66"/>
          <p:cNvSpPr/>
          <p:nvPr/>
        </p:nvSpPr>
        <p:spPr>
          <a:xfrm>
            <a:off x="712374" y="2740031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6"/>
          <p:cNvSpPr/>
          <p:nvPr/>
        </p:nvSpPr>
        <p:spPr>
          <a:xfrm>
            <a:off x="712374" y="385135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66"/>
          <p:cNvGrpSpPr/>
          <p:nvPr/>
        </p:nvGrpSpPr>
        <p:grpSpPr>
          <a:xfrm>
            <a:off x="873633" y="1777958"/>
            <a:ext cx="404982" cy="428994"/>
            <a:chOff x="6761953" y="2720487"/>
            <a:chExt cx="404982" cy="428994"/>
          </a:xfrm>
        </p:grpSpPr>
        <p:sp>
          <p:nvSpPr>
            <p:cNvPr id="996" name="Google Shape;996;p66"/>
            <p:cNvSpPr/>
            <p:nvPr/>
          </p:nvSpPr>
          <p:spPr>
            <a:xfrm>
              <a:off x="7002490" y="2756901"/>
              <a:ext cx="98179" cy="76778"/>
            </a:xfrm>
            <a:custGeom>
              <a:avLst/>
              <a:gdLst/>
              <a:ahLst/>
              <a:cxnLst/>
              <a:rect l="l" t="t" r="r" b="b"/>
              <a:pathLst>
                <a:path w="2858" h="2235" extrusionOk="0">
                  <a:moveTo>
                    <a:pt x="1845" y="1"/>
                  </a:moveTo>
                  <a:cubicBezTo>
                    <a:pt x="1807" y="1"/>
                    <a:pt x="1768" y="14"/>
                    <a:pt x="1739" y="44"/>
                  </a:cubicBezTo>
                  <a:lnTo>
                    <a:pt x="834" y="758"/>
                  </a:lnTo>
                  <a:lnTo>
                    <a:pt x="238" y="639"/>
                  </a:lnTo>
                  <a:cubicBezTo>
                    <a:pt x="143" y="639"/>
                    <a:pt x="48" y="687"/>
                    <a:pt x="24" y="806"/>
                  </a:cubicBezTo>
                  <a:cubicBezTo>
                    <a:pt x="0" y="901"/>
                    <a:pt x="72" y="996"/>
                    <a:pt x="167" y="1020"/>
                  </a:cubicBezTo>
                  <a:lnTo>
                    <a:pt x="762" y="1116"/>
                  </a:lnTo>
                  <a:lnTo>
                    <a:pt x="1334" y="2140"/>
                  </a:lnTo>
                  <a:cubicBezTo>
                    <a:pt x="1358" y="2187"/>
                    <a:pt x="1429" y="2235"/>
                    <a:pt x="1477" y="2235"/>
                  </a:cubicBezTo>
                  <a:cubicBezTo>
                    <a:pt x="1524" y="2235"/>
                    <a:pt x="1548" y="2211"/>
                    <a:pt x="1572" y="2211"/>
                  </a:cubicBezTo>
                  <a:cubicBezTo>
                    <a:pt x="1667" y="2163"/>
                    <a:pt x="1691" y="2044"/>
                    <a:pt x="1643" y="1949"/>
                  </a:cubicBezTo>
                  <a:lnTo>
                    <a:pt x="1238" y="1211"/>
                  </a:lnTo>
                  <a:lnTo>
                    <a:pt x="2001" y="1378"/>
                  </a:lnTo>
                  <a:lnTo>
                    <a:pt x="2334" y="1806"/>
                  </a:lnTo>
                  <a:cubicBezTo>
                    <a:pt x="2358" y="1878"/>
                    <a:pt x="2405" y="1901"/>
                    <a:pt x="2477" y="1901"/>
                  </a:cubicBezTo>
                  <a:cubicBezTo>
                    <a:pt x="2501" y="1901"/>
                    <a:pt x="2548" y="1878"/>
                    <a:pt x="2572" y="1854"/>
                  </a:cubicBezTo>
                  <a:cubicBezTo>
                    <a:pt x="2667" y="1806"/>
                    <a:pt x="2691" y="1687"/>
                    <a:pt x="2620" y="1616"/>
                  </a:cubicBezTo>
                  <a:lnTo>
                    <a:pt x="2382" y="1258"/>
                  </a:lnTo>
                  <a:lnTo>
                    <a:pt x="2739" y="1020"/>
                  </a:lnTo>
                  <a:cubicBezTo>
                    <a:pt x="2834" y="973"/>
                    <a:pt x="2858" y="854"/>
                    <a:pt x="2786" y="758"/>
                  </a:cubicBezTo>
                  <a:cubicBezTo>
                    <a:pt x="2756" y="712"/>
                    <a:pt x="2695" y="686"/>
                    <a:pt x="2637" y="686"/>
                  </a:cubicBezTo>
                  <a:cubicBezTo>
                    <a:pt x="2605" y="686"/>
                    <a:pt x="2574" y="694"/>
                    <a:pt x="2548" y="711"/>
                  </a:cubicBezTo>
                  <a:lnTo>
                    <a:pt x="2072" y="1020"/>
                  </a:lnTo>
                  <a:lnTo>
                    <a:pt x="1310" y="854"/>
                  </a:lnTo>
                  <a:lnTo>
                    <a:pt x="1953" y="330"/>
                  </a:lnTo>
                  <a:cubicBezTo>
                    <a:pt x="2048" y="258"/>
                    <a:pt x="2048" y="139"/>
                    <a:pt x="1977" y="68"/>
                  </a:cubicBezTo>
                  <a:cubicBezTo>
                    <a:pt x="1949" y="26"/>
                    <a:pt x="1897" y="1"/>
                    <a:pt x="18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6"/>
            <p:cNvSpPr/>
            <p:nvPr/>
          </p:nvSpPr>
          <p:spPr>
            <a:xfrm>
              <a:off x="7049930" y="2850821"/>
              <a:ext cx="20474" cy="46685"/>
            </a:xfrm>
            <a:custGeom>
              <a:avLst/>
              <a:gdLst/>
              <a:ahLst/>
              <a:cxnLst/>
              <a:rect l="l" t="t" r="r" b="b"/>
              <a:pathLst>
                <a:path w="596" h="1359" extrusionOk="0">
                  <a:moveTo>
                    <a:pt x="429" y="1"/>
                  </a:moveTo>
                  <a:cubicBezTo>
                    <a:pt x="334" y="1"/>
                    <a:pt x="239" y="49"/>
                    <a:pt x="215" y="144"/>
                  </a:cubicBezTo>
                  <a:lnTo>
                    <a:pt x="24" y="1144"/>
                  </a:lnTo>
                  <a:cubicBezTo>
                    <a:pt x="0" y="1239"/>
                    <a:pt x="72" y="1335"/>
                    <a:pt x="167" y="1358"/>
                  </a:cubicBezTo>
                  <a:lnTo>
                    <a:pt x="215" y="1358"/>
                  </a:lnTo>
                  <a:cubicBezTo>
                    <a:pt x="286" y="1358"/>
                    <a:pt x="381" y="1287"/>
                    <a:pt x="381" y="1215"/>
                  </a:cubicBezTo>
                  <a:lnTo>
                    <a:pt x="572" y="215"/>
                  </a:lnTo>
                  <a:cubicBezTo>
                    <a:pt x="596" y="120"/>
                    <a:pt x="548" y="25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6"/>
            <p:cNvSpPr/>
            <p:nvPr/>
          </p:nvSpPr>
          <p:spPr>
            <a:xfrm>
              <a:off x="7072844" y="2855596"/>
              <a:ext cx="20474" cy="45998"/>
            </a:xfrm>
            <a:custGeom>
              <a:avLst/>
              <a:gdLst/>
              <a:ahLst/>
              <a:cxnLst/>
              <a:rect l="l" t="t" r="r" b="b"/>
              <a:pathLst>
                <a:path w="596" h="1339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24"/>
                  </a:lnTo>
                  <a:cubicBezTo>
                    <a:pt x="0" y="1219"/>
                    <a:pt x="72" y="1315"/>
                    <a:pt x="167" y="1338"/>
                  </a:cubicBezTo>
                  <a:lnTo>
                    <a:pt x="191" y="1338"/>
                  </a:lnTo>
                  <a:cubicBezTo>
                    <a:pt x="286" y="1338"/>
                    <a:pt x="357" y="1291"/>
                    <a:pt x="381" y="1196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6"/>
            <p:cNvSpPr/>
            <p:nvPr/>
          </p:nvSpPr>
          <p:spPr>
            <a:xfrm>
              <a:off x="7094932" y="2859684"/>
              <a:ext cx="20474" cy="46822"/>
            </a:xfrm>
            <a:custGeom>
              <a:avLst/>
              <a:gdLst/>
              <a:ahLst/>
              <a:cxnLst/>
              <a:rect l="l" t="t" r="r" b="b"/>
              <a:pathLst>
                <a:path w="596" h="1363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48"/>
                  </a:lnTo>
                  <a:cubicBezTo>
                    <a:pt x="0" y="1243"/>
                    <a:pt x="72" y="1338"/>
                    <a:pt x="167" y="1362"/>
                  </a:cubicBezTo>
                  <a:lnTo>
                    <a:pt x="214" y="1362"/>
                  </a:lnTo>
                  <a:cubicBezTo>
                    <a:pt x="286" y="1362"/>
                    <a:pt x="381" y="1291"/>
                    <a:pt x="381" y="1219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6"/>
            <p:cNvSpPr/>
            <p:nvPr/>
          </p:nvSpPr>
          <p:spPr>
            <a:xfrm>
              <a:off x="7049106" y="2958653"/>
              <a:ext cx="34387" cy="117176"/>
            </a:xfrm>
            <a:custGeom>
              <a:avLst/>
              <a:gdLst/>
              <a:ahLst/>
              <a:cxnLst/>
              <a:rect l="l" t="t" r="r" b="b"/>
              <a:pathLst>
                <a:path w="1001" h="3411" extrusionOk="0">
                  <a:moveTo>
                    <a:pt x="797" y="1"/>
                  </a:moveTo>
                  <a:cubicBezTo>
                    <a:pt x="715" y="1"/>
                    <a:pt x="640" y="66"/>
                    <a:pt x="620" y="148"/>
                  </a:cubicBezTo>
                  <a:lnTo>
                    <a:pt x="24" y="3197"/>
                  </a:lnTo>
                  <a:cubicBezTo>
                    <a:pt x="1" y="3292"/>
                    <a:pt x="72" y="3387"/>
                    <a:pt x="167" y="3411"/>
                  </a:cubicBezTo>
                  <a:lnTo>
                    <a:pt x="215" y="3411"/>
                  </a:lnTo>
                  <a:cubicBezTo>
                    <a:pt x="286" y="3411"/>
                    <a:pt x="358" y="3363"/>
                    <a:pt x="382" y="3268"/>
                  </a:cubicBezTo>
                  <a:lnTo>
                    <a:pt x="977" y="220"/>
                  </a:lnTo>
                  <a:cubicBezTo>
                    <a:pt x="1001" y="124"/>
                    <a:pt x="929" y="29"/>
                    <a:pt x="834" y="5"/>
                  </a:cubicBezTo>
                  <a:cubicBezTo>
                    <a:pt x="822" y="2"/>
                    <a:pt x="809" y="1"/>
                    <a:pt x="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6"/>
            <p:cNvSpPr/>
            <p:nvPr/>
          </p:nvSpPr>
          <p:spPr>
            <a:xfrm>
              <a:off x="6818395" y="2871295"/>
              <a:ext cx="137479" cy="137479"/>
            </a:xfrm>
            <a:custGeom>
              <a:avLst/>
              <a:gdLst/>
              <a:ahLst/>
              <a:cxnLst/>
              <a:rect l="l" t="t" r="r" b="b"/>
              <a:pathLst>
                <a:path w="4002" h="4002" extrusionOk="0">
                  <a:moveTo>
                    <a:pt x="2001" y="357"/>
                  </a:moveTo>
                  <a:cubicBezTo>
                    <a:pt x="2049" y="357"/>
                    <a:pt x="2168" y="477"/>
                    <a:pt x="2287" y="762"/>
                  </a:cubicBezTo>
                  <a:cubicBezTo>
                    <a:pt x="2335" y="929"/>
                    <a:pt x="2382" y="1096"/>
                    <a:pt x="2406" y="1310"/>
                  </a:cubicBezTo>
                  <a:cubicBezTo>
                    <a:pt x="2263" y="1286"/>
                    <a:pt x="2144" y="1286"/>
                    <a:pt x="2001" y="1286"/>
                  </a:cubicBezTo>
                  <a:cubicBezTo>
                    <a:pt x="1858" y="1286"/>
                    <a:pt x="1715" y="1286"/>
                    <a:pt x="1573" y="1310"/>
                  </a:cubicBezTo>
                  <a:cubicBezTo>
                    <a:pt x="1620" y="1096"/>
                    <a:pt x="1668" y="929"/>
                    <a:pt x="1715" y="762"/>
                  </a:cubicBezTo>
                  <a:cubicBezTo>
                    <a:pt x="1811" y="477"/>
                    <a:pt x="1930" y="357"/>
                    <a:pt x="2001" y="357"/>
                  </a:cubicBezTo>
                  <a:close/>
                  <a:moveTo>
                    <a:pt x="1454" y="453"/>
                  </a:moveTo>
                  <a:lnTo>
                    <a:pt x="1454" y="453"/>
                  </a:lnTo>
                  <a:cubicBezTo>
                    <a:pt x="1334" y="691"/>
                    <a:pt x="1263" y="1000"/>
                    <a:pt x="1215" y="1334"/>
                  </a:cubicBezTo>
                  <a:cubicBezTo>
                    <a:pt x="1001" y="1358"/>
                    <a:pt x="811" y="1405"/>
                    <a:pt x="668" y="1453"/>
                  </a:cubicBezTo>
                  <a:cubicBezTo>
                    <a:pt x="572" y="1477"/>
                    <a:pt x="501" y="1501"/>
                    <a:pt x="430" y="1524"/>
                  </a:cubicBezTo>
                  <a:cubicBezTo>
                    <a:pt x="572" y="1024"/>
                    <a:pt x="953" y="619"/>
                    <a:pt x="1454" y="453"/>
                  </a:cubicBezTo>
                  <a:close/>
                  <a:moveTo>
                    <a:pt x="2549" y="453"/>
                  </a:moveTo>
                  <a:cubicBezTo>
                    <a:pt x="3025" y="619"/>
                    <a:pt x="3406" y="1024"/>
                    <a:pt x="3573" y="1524"/>
                  </a:cubicBezTo>
                  <a:cubicBezTo>
                    <a:pt x="3502" y="1501"/>
                    <a:pt x="3406" y="1477"/>
                    <a:pt x="3335" y="1453"/>
                  </a:cubicBezTo>
                  <a:cubicBezTo>
                    <a:pt x="3168" y="1405"/>
                    <a:pt x="2978" y="1358"/>
                    <a:pt x="2787" y="1334"/>
                  </a:cubicBezTo>
                  <a:cubicBezTo>
                    <a:pt x="2740" y="1000"/>
                    <a:pt x="2668" y="691"/>
                    <a:pt x="2549" y="453"/>
                  </a:cubicBezTo>
                  <a:close/>
                  <a:moveTo>
                    <a:pt x="1168" y="1715"/>
                  </a:moveTo>
                  <a:cubicBezTo>
                    <a:pt x="1168" y="1810"/>
                    <a:pt x="1168" y="1905"/>
                    <a:pt x="1168" y="2001"/>
                  </a:cubicBezTo>
                  <a:cubicBezTo>
                    <a:pt x="1168" y="2096"/>
                    <a:pt x="1168" y="2191"/>
                    <a:pt x="1168" y="2263"/>
                  </a:cubicBezTo>
                  <a:cubicBezTo>
                    <a:pt x="1049" y="2263"/>
                    <a:pt x="930" y="2239"/>
                    <a:pt x="834" y="2191"/>
                  </a:cubicBezTo>
                  <a:cubicBezTo>
                    <a:pt x="501" y="2120"/>
                    <a:pt x="382" y="2025"/>
                    <a:pt x="358" y="2001"/>
                  </a:cubicBezTo>
                  <a:cubicBezTo>
                    <a:pt x="382" y="1953"/>
                    <a:pt x="501" y="1858"/>
                    <a:pt x="834" y="1786"/>
                  </a:cubicBezTo>
                  <a:cubicBezTo>
                    <a:pt x="930" y="1763"/>
                    <a:pt x="1049" y="1739"/>
                    <a:pt x="1168" y="1715"/>
                  </a:cubicBezTo>
                  <a:close/>
                  <a:moveTo>
                    <a:pt x="2811" y="1715"/>
                  </a:moveTo>
                  <a:lnTo>
                    <a:pt x="2811" y="1715"/>
                  </a:lnTo>
                  <a:cubicBezTo>
                    <a:pt x="2930" y="1739"/>
                    <a:pt x="3049" y="1763"/>
                    <a:pt x="3168" y="1786"/>
                  </a:cubicBezTo>
                  <a:cubicBezTo>
                    <a:pt x="3478" y="1858"/>
                    <a:pt x="3597" y="1953"/>
                    <a:pt x="3621" y="2001"/>
                  </a:cubicBezTo>
                  <a:cubicBezTo>
                    <a:pt x="3597" y="2025"/>
                    <a:pt x="3478" y="2120"/>
                    <a:pt x="3168" y="2191"/>
                  </a:cubicBezTo>
                  <a:cubicBezTo>
                    <a:pt x="3049" y="2239"/>
                    <a:pt x="2930" y="2263"/>
                    <a:pt x="2811" y="2263"/>
                  </a:cubicBezTo>
                  <a:cubicBezTo>
                    <a:pt x="2811" y="2191"/>
                    <a:pt x="2835" y="2096"/>
                    <a:pt x="2835" y="2001"/>
                  </a:cubicBezTo>
                  <a:cubicBezTo>
                    <a:pt x="2835" y="1905"/>
                    <a:pt x="2811" y="1810"/>
                    <a:pt x="2811" y="1715"/>
                  </a:cubicBezTo>
                  <a:close/>
                  <a:moveTo>
                    <a:pt x="2001" y="1643"/>
                  </a:moveTo>
                  <a:cubicBezTo>
                    <a:pt x="2144" y="1643"/>
                    <a:pt x="2311" y="1667"/>
                    <a:pt x="2454" y="1667"/>
                  </a:cubicBezTo>
                  <a:cubicBezTo>
                    <a:pt x="2454" y="1786"/>
                    <a:pt x="2454" y="1882"/>
                    <a:pt x="2454" y="2001"/>
                  </a:cubicBezTo>
                  <a:cubicBezTo>
                    <a:pt x="2454" y="2096"/>
                    <a:pt x="2454" y="2215"/>
                    <a:pt x="2454" y="2310"/>
                  </a:cubicBezTo>
                  <a:cubicBezTo>
                    <a:pt x="2311" y="2334"/>
                    <a:pt x="2144" y="2334"/>
                    <a:pt x="2001" y="2334"/>
                  </a:cubicBezTo>
                  <a:cubicBezTo>
                    <a:pt x="1835" y="2334"/>
                    <a:pt x="1692" y="2334"/>
                    <a:pt x="1549" y="2310"/>
                  </a:cubicBezTo>
                  <a:cubicBezTo>
                    <a:pt x="1549" y="2215"/>
                    <a:pt x="1525" y="2096"/>
                    <a:pt x="1525" y="2001"/>
                  </a:cubicBezTo>
                  <a:cubicBezTo>
                    <a:pt x="1525" y="1882"/>
                    <a:pt x="1549" y="1786"/>
                    <a:pt x="1549" y="1667"/>
                  </a:cubicBezTo>
                  <a:cubicBezTo>
                    <a:pt x="1692" y="1667"/>
                    <a:pt x="1835" y="1643"/>
                    <a:pt x="2001" y="1643"/>
                  </a:cubicBezTo>
                  <a:close/>
                  <a:moveTo>
                    <a:pt x="430" y="2453"/>
                  </a:moveTo>
                  <a:lnTo>
                    <a:pt x="430" y="2453"/>
                  </a:lnTo>
                  <a:cubicBezTo>
                    <a:pt x="501" y="2477"/>
                    <a:pt x="572" y="2525"/>
                    <a:pt x="668" y="2548"/>
                  </a:cubicBezTo>
                  <a:cubicBezTo>
                    <a:pt x="834" y="2572"/>
                    <a:pt x="1001" y="2620"/>
                    <a:pt x="1215" y="2644"/>
                  </a:cubicBezTo>
                  <a:cubicBezTo>
                    <a:pt x="1263" y="2977"/>
                    <a:pt x="1334" y="3287"/>
                    <a:pt x="1454" y="3525"/>
                  </a:cubicBezTo>
                  <a:cubicBezTo>
                    <a:pt x="953" y="3358"/>
                    <a:pt x="572" y="2953"/>
                    <a:pt x="430" y="2453"/>
                  </a:cubicBezTo>
                  <a:close/>
                  <a:moveTo>
                    <a:pt x="3573" y="2453"/>
                  </a:moveTo>
                  <a:cubicBezTo>
                    <a:pt x="3406" y="2953"/>
                    <a:pt x="3025" y="3358"/>
                    <a:pt x="2549" y="3525"/>
                  </a:cubicBezTo>
                  <a:cubicBezTo>
                    <a:pt x="2668" y="3287"/>
                    <a:pt x="2740" y="2977"/>
                    <a:pt x="2787" y="2644"/>
                  </a:cubicBezTo>
                  <a:cubicBezTo>
                    <a:pt x="2978" y="2620"/>
                    <a:pt x="3168" y="2572"/>
                    <a:pt x="3335" y="2548"/>
                  </a:cubicBezTo>
                  <a:cubicBezTo>
                    <a:pt x="3406" y="2501"/>
                    <a:pt x="3502" y="2477"/>
                    <a:pt x="3573" y="2453"/>
                  </a:cubicBezTo>
                  <a:close/>
                  <a:moveTo>
                    <a:pt x="2406" y="2691"/>
                  </a:moveTo>
                  <a:cubicBezTo>
                    <a:pt x="2382" y="2882"/>
                    <a:pt x="2335" y="3072"/>
                    <a:pt x="2287" y="3215"/>
                  </a:cubicBezTo>
                  <a:cubicBezTo>
                    <a:pt x="2168" y="3525"/>
                    <a:pt x="2049" y="3620"/>
                    <a:pt x="2001" y="3620"/>
                  </a:cubicBezTo>
                  <a:cubicBezTo>
                    <a:pt x="1930" y="3620"/>
                    <a:pt x="1811" y="3525"/>
                    <a:pt x="1715" y="3215"/>
                  </a:cubicBezTo>
                  <a:cubicBezTo>
                    <a:pt x="1668" y="3072"/>
                    <a:pt x="1620" y="2882"/>
                    <a:pt x="1573" y="2691"/>
                  </a:cubicBezTo>
                  <a:close/>
                  <a:moveTo>
                    <a:pt x="2001" y="0"/>
                  </a:moveTo>
                  <a:cubicBezTo>
                    <a:pt x="882" y="0"/>
                    <a:pt x="1" y="881"/>
                    <a:pt x="1" y="2001"/>
                  </a:cubicBezTo>
                  <a:cubicBezTo>
                    <a:pt x="1" y="3096"/>
                    <a:pt x="882" y="4001"/>
                    <a:pt x="2001" y="4001"/>
                  </a:cubicBezTo>
                  <a:cubicBezTo>
                    <a:pt x="3097" y="4001"/>
                    <a:pt x="4002" y="3096"/>
                    <a:pt x="4002" y="2001"/>
                  </a:cubicBezTo>
                  <a:cubicBezTo>
                    <a:pt x="4002" y="881"/>
                    <a:pt x="3097" y="0"/>
                    <a:pt x="2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6"/>
            <p:cNvSpPr/>
            <p:nvPr/>
          </p:nvSpPr>
          <p:spPr>
            <a:xfrm>
              <a:off x="6820044" y="3018530"/>
              <a:ext cx="133391" cy="48403"/>
            </a:xfrm>
            <a:custGeom>
              <a:avLst/>
              <a:gdLst/>
              <a:ahLst/>
              <a:cxnLst/>
              <a:rect l="l" t="t" r="r" b="b"/>
              <a:pathLst>
                <a:path w="3883" h="1409" extrusionOk="0">
                  <a:moveTo>
                    <a:pt x="3525" y="382"/>
                  </a:moveTo>
                  <a:lnTo>
                    <a:pt x="3525" y="1049"/>
                  </a:lnTo>
                  <a:lnTo>
                    <a:pt x="382" y="1049"/>
                  </a:lnTo>
                  <a:lnTo>
                    <a:pt x="382" y="382"/>
                  </a:lnTo>
                  <a:close/>
                  <a:moveTo>
                    <a:pt x="382" y="1"/>
                  </a:moveTo>
                  <a:cubicBezTo>
                    <a:pt x="167" y="1"/>
                    <a:pt x="0" y="168"/>
                    <a:pt x="0" y="382"/>
                  </a:cubicBezTo>
                  <a:lnTo>
                    <a:pt x="0" y="1049"/>
                  </a:lnTo>
                  <a:cubicBezTo>
                    <a:pt x="0" y="1263"/>
                    <a:pt x="167" y="1406"/>
                    <a:pt x="382" y="1406"/>
                  </a:cubicBezTo>
                  <a:lnTo>
                    <a:pt x="3525" y="1406"/>
                  </a:lnTo>
                  <a:cubicBezTo>
                    <a:pt x="3537" y="1407"/>
                    <a:pt x="3549" y="1408"/>
                    <a:pt x="3561" y="1408"/>
                  </a:cubicBezTo>
                  <a:cubicBezTo>
                    <a:pt x="3736" y="1408"/>
                    <a:pt x="3882" y="1249"/>
                    <a:pt x="3882" y="1049"/>
                  </a:cubicBezTo>
                  <a:lnTo>
                    <a:pt x="3882" y="382"/>
                  </a:lnTo>
                  <a:cubicBezTo>
                    <a:pt x="3882" y="168"/>
                    <a:pt x="3716" y="1"/>
                    <a:pt x="35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6"/>
            <p:cNvSpPr/>
            <p:nvPr/>
          </p:nvSpPr>
          <p:spPr>
            <a:xfrm>
              <a:off x="6836395" y="3081532"/>
              <a:ext cx="101477" cy="12298"/>
            </a:xfrm>
            <a:custGeom>
              <a:avLst/>
              <a:gdLst/>
              <a:ahLst/>
              <a:cxnLst/>
              <a:rect l="l" t="t" r="r" b="b"/>
              <a:pathLst>
                <a:path w="2954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2763" y="358"/>
                  </a:lnTo>
                  <a:cubicBezTo>
                    <a:pt x="2859" y="358"/>
                    <a:pt x="2954" y="286"/>
                    <a:pt x="2954" y="191"/>
                  </a:cubicBezTo>
                  <a:cubicBezTo>
                    <a:pt x="2954" y="72"/>
                    <a:pt x="2859" y="1"/>
                    <a:pt x="2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6"/>
            <p:cNvSpPr/>
            <p:nvPr/>
          </p:nvSpPr>
          <p:spPr>
            <a:xfrm>
              <a:off x="6861782" y="3108533"/>
              <a:ext cx="50739" cy="12298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91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62"/>
                    <a:pt x="71" y="358"/>
                    <a:pt x="191" y="358"/>
                  </a:cubicBezTo>
                  <a:lnTo>
                    <a:pt x="1286" y="358"/>
                  </a:lnTo>
                  <a:cubicBezTo>
                    <a:pt x="1381" y="358"/>
                    <a:pt x="1477" y="262"/>
                    <a:pt x="1477" y="167"/>
                  </a:cubicBezTo>
                  <a:cubicBezTo>
                    <a:pt x="1477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6"/>
            <p:cNvSpPr/>
            <p:nvPr/>
          </p:nvSpPr>
          <p:spPr>
            <a:xfrm>
              <a:off x="6761953" y="2720487"/>
              <a:ext cx="404982" cy="428994"/>
            </a:xfrm>
            <a:custGeom>
              <a:avLst/>
              <a:gdLst/>
              <a:ahLst/>
              <a:cxnLst/>
              <a:rect l="l" t="t" r="r" b="b"/>
              <a:pathLst>
                <a:path w="11789" h="12488" extrusionOk="0">
                  <a:moveTo>
                    <a:pt x="6818" y="0"/>
                  </a:moveTo>
                  <a:cubicBezTo>
                    <a:pt x="6588" y="0"/>
                    <a:pt x="6375" y="160"/>
                    <a:pt x="6311" y="413"/>
                  </a:cubicBezTo>
                  <a:lnTo>
                    <a:pt x="5716" y="3438"/>
                  </a:lnTo>
                  <a:lnTo>
                    <a:pt x="834" y="3438"/>
                  </a:lnTo>
                  <a:cubicBezTo>
                    <a:pt x="382" y="3438"/>
                    <a:pt x="1" y="3819"/>
                    <a:pt x="1" y="4271"/>
                  </a:cubicBezTo>
                  <a:lnTo>
                    <a:pt x="1" y="10320"/>
                  </a:lnTo>
                  <a:cubicBezTo>
                    <a:pt x="1" y="10415"/>
                    <a:pt x="72" y="10511"/>
                    <a:pt x="191" y="10511"/>
                  </a:cubicBezTo>
                  <a:cubicBezTo>
                    <a:pt x="286" y="10511"/>
                    <a:pt x="358" y="10415"/>
                    <a:pt x="358" y="10320"/>
                  </a:cubicBezTo>
                  <a:lnTo>
                    <a:pt x="358" y="4271"/>
                  </a:lnTo>
                  <a:cubicBezTo>
                    <a:pt x="358" y="4009"/>
                    <a:pt x="572" y="3819"/>
                    <a:pt x="834" y="3819"/>
                  </a:cubicBezTo>
                  <a:lnTo>
                    <a:pt x="6907" y="3819"/>
                  </a:lnTo>
                  <a:lnTo>
                    <a:pt x="6907" y="12130"/>
                  </a:lnTo>
                  <a:lnTo>
                    <a:pt x="834" y="12130"/>
                  </a:lnTo>
                  <a:cubicBezTo>
                    <a:pt x="572" y="12130"/>
                    <a:pt x="358" y="11916"/>
                    <a:pt x="358" y="11677"/>
                  </a:cubicBezTo>
                  <a:lnTo>
                    <a:pt x="358" y="11058"/>
                  </a:lnTo>
                  <a:cubicBezTo>
                    <a:pt x="358" y="10963"/>
                    <a:pt x="286" y="10868"/>
                    <a:pt x="191" y="10868"/>
                  </a:cubicBezTo>
                  <a:cubicBezTo>
                    <a:pt x="72" y="10868"/>
                    <a:pt x="1" y="10963"/>
                    <a:pt x="1" y="11058"/>
                  </a:cubicBezTo>
                  <a:lnTo>
                    <a:pt x="1" y="11677"/>
                  </a:lnTo>
                  <a:cubicBezTo>
                    <a:pt x="1" y="12130"/>
                    <a:pt x="382" y="12487"/>
                    <a:pt x="834" y="12487"/>
                  </a:cubicBezTo>
                  <a:lnTo>
                    <a:pt x="7097" y="12487"/>
                  </a:lnTo>
                  <a:cubicBezTo>
                    <a:pt x="7193" y="12487"/>
                    <a:pt x="7288" y="12416"/>
                    <a:pt x="7288" y="12320"/>
                  </a:cubicBezTo>
                  <a:lnTo>
                    <a:pt x="7288" y="12130"/>
                  </a:lnTo>
                  <a:lnTo>
                    <a:pt x="9074" y="12487"/>
                  </a:lnTo>
                  <a:lnTo>
                    <a:pt x="9169" y="12487"/>
                  </a:lnTo>
                  <a:cubicBezTo>
                    <a:pt x="9407" y="12487"/>
                    <a:pt x="9622" y="12320"/>
                    <a:pt x="9669" y="12082"/>
                  </a:cubicBezTo>
                  <a:lnTo>
                    <a:pt x="11741" y="1461"/>
                  </a:lnTo>
                  <a:cubicBezTo>
                    <a:pt x="11789" y="1199"/>
                    <a:pt x="11598" y="913"/>
                    <a:pt x="11336" y="866"/>
                  </a:cubicBezTo>
                  <a:lnTo>
                    <a:pt x="10836" y="770"/>
                  </a:lnTo>
                  <a:cubicBezTo>
                    <a:pt x="10824" y="767"/>
                    <a:pt x="10811" y="766"/>
                    <a:pt x="10799" y="766"/>
                  </a:cubicBezTo>
                  <a:cubicBezTo>
                    <a:pt x="10717" y="766"/>
                    <a:pt x="10643" y="831"/>
                    <a:pt x="10622" y="913"/>
                  </a:cubicBezTo>
                  <a:cubicBezTo>
                    <a:pt x="10598" y="1009"/>
                    <a:pt x="10670" y="1104"/>
                    <a:pt x="10765" y="1128"/>
                  </a:cubicBezTo>
                  <a:lnTo>
                    <a:pt x="11265" y="1223"/>
                  </a:lnTo>
                  <a:cubicBezTo>
                    <a:pt x="11336" y="1247"/>
                    <a:pt x="11384" y="1318"/>
                    <a:pt x="11384" y="1390"/>
                  </a:cubicBezTo>
                  <a:lnTo>
                    <a:pt x="9312" y="12011"/>
                  </a:lnTo>
                  <a:cubicBezTo>
                    <a:pt x="9293" y="12070"/>
                    <a:pt x="9241" y="12112"/>
                    <a:pt x="9183" y="12112"/>
                  </a:cubicBezTo>
                  <a:cubicBezTo>
                    <a:pt x="9171" y="12112"/>
                    <a:pt x="9158" y="12110"/>
                    <a:pt x="9145" y="12106"/>
                  </a:cubicBezTo>
                  <a:lnTo>
                    <a:pt x="7288" y="11749"/>
                  </a:lnTo>
                  <a:lnTo>
                    <a:pt x="7288" y="11130"/>
                  </a:lnTo>
                  <a:lnTo>
                    <a:pt x="7717" y="11225"/>
                  </a:lnTo>
                  <a:cubicBezTo>
                    <a:pt x="7764" y="11225"/>
                    <a:pt x="7812" y="11225"/>
                    <a:pt x="7859" y="11177"/>
                  </a:cubicBezTo>
                  <a:cubicBezTo>
                    <a:pt x="7883" y="11154"/>
                    <a:pt x="7907" y="11106"/>
                    <a:pt x="7931" y="11058"/>
                  </a:cubicBezTo>
                  <a:lnTo>
                    <a:pt x="8645" y="7319"/>
                  </a:lnTo>
                  <a:cubicBezTo>
                    <a:pt x="8669" y="7224"/>
                    <a:pt x="8622" y="7129"/>
                    <a:pt x="8502" y="7105"/>
                  </a:cubicBezTo>
                  <a:cubicBezTo>
                    <a:pt x="8490" y="7102"/>
                    <a:pt x="8477" y="7101"/>
                    <a:pt x="8465" y="7101"/>
                  </a:cubicBezTo>
                  <a:cubicBezTo>
                    <a:pt x="8383" y="7101"/>
                    <a:pt x="8309" y="7165"/>
                    <a:pt x="8288" y="7248"/>
                  </a:cubicBezTo>
                  <a:lnTo>
                    <a:pt x="7597" y="10820"/>
                  </a:lnTo>
                  <a:lnTo>
                    <a:pt x="7288" y="10749"/>
                  </a:lnTo>
                  <a:lnTo>
                    <a:pt x="7288" y="5914"/>
                  </a:lnTo>
                  <a:lnTo>
                    <a:pt x="8502" y="6153"/>
                  </a:lnTo>
                  <a:lnTo>
                    <a:pt x="8431" y="6534"/>
                  </a:lnTo>
                  <a:cubicBezTo>
                    <a:pt x="8407" y="6629"/>
                    <a:pt x="8479" y="6724"/>
                    <a:pt x="8574" y="6748"/>
                  </a:cubicBezTo>
                  <a:lnTo>
                    <a:pt x="8622" y="6748"/>
                  </a:lnTo>
                  <a:cubicBezTo>
                    <a:pt x="8693" y="6748"/>
                    <a:pt x="8788" y="6700"/>
                    <a:pt x="8788" y="6605"/>
                  </a:cubicBezTo>
                  <a:lnTo>
                    <a:pt x="8907" y="6057"/>
                  </a:lnTo>
                  <a:cubicBezTo>
                    <a:pt x="8931" y="5938"/>
                    <a:pt x="8860" y="5843"/>
                    <a:pt x="8764" y="5843"/>
                  </a:cubicBezTo>
                  <a:lnTo>
                    <a:pt x="7288" y="5557"/>
                  </a:lnTo>
                  <a:lnTo>
                    <a:pt x="7288" y="3628"/>
                  </a:lnTo>
                  <a:cubicBezTo>
                    <a:pt x="7288" y="3533"/>
                    <a:pt x="7193" y="3438"/>
                    <a:pt x="7097" y="3438"/>
                  </a:cubicBezTo>
                  <a:lnTo>
                    <a:pt x="6097" y="3438"/>
                  </a:lnTo>
                  <a:lnTo>
                    <a:pt x="6669" y="485"/>
                  </a:lnTo>
                  <a:cubicBezTo>
                    <a:pt x="6688" y="406"/>
                    <a:pt x="6741" y="360"/>
                    <a:pt x="6799" y="360"/>
                  </a:cubicBezTo>
                  <a:cubicBezTo>
                    <a:pt x="6811" y="360"/>
                    <a:pt x="6823" y="362"/>
                    <a:pt x="6835" y="366"/>
                  </a:cubicBezTo>
                  <a:lnTo>
                    <a:pt x="10050" y="985"/>
                  </a:lnTo>
                  <a:cubicBezTo>
                    <a:pt x="10063" y="988"/>
                    <a:pt x="10075" y="989"/>
                    <a:pt x="10088" y="989"/>
                  </a:cubicBezTo>
                  <a:cubicBezTo>
                    <a:pt x="10169" y="989"/>
                    <a:pt x="10244" y="925"/>
                    <a:pt x="10265" y="842"/>
                  </a:cubicBezTo>
                  <a:cubicBezTo>
                    <a:pt x="10289" y="747"/>
                    <a:pt x="10217" y="651"/>
                    <a:pt x="10122" y="628"/>
                  </a:cubicBezTo>
                  <a:lnTo>
                    <a:pt x="6907" y="8"/>
                  </a:lnTo>
                  <a:cubicBezTo>
                    <a:pt x="6877" y="3"/>
                    <a:pt x="6847" y="0"/>
                    <a:pt x="68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1420;p74">
            <a:extLst>
              <a:ext uri="{FF2B5EF4-FFF2-40B4-BE49-F238E27FC236}">
                <a16:creationId xmlns:a16="http://schemas.microsoft.com/office/drawing/2014/main" id="{035EE2AC-9721-DB0C-BE1A-02793E9F81DF}"/>
              </a:ext>
            </a:extLst>
          </p:cNvPr>
          <p:cNvGrpSpPr/>
          <p:nvPr/>
        </p:nvGrpSpPr>
        <p:grpSpPr>
          <a:xfrm>
            <a:off x="920249" y="2889026"/>
            <a:ext cx="319925" cy="429509"/>
            <a:chOff x="4063084" y="3364597"/>
            <a:chExt cx="319925" cy="429509"/>
          </a:xfrm>
          <a:solidFill>
            <a:schemeClr val="bg1"/>
          </a:solidFill>
        </p:grpSpPr>
        <p:sp>
          <p:nvSpPr>
            <p:cNvPr id="27" name="Google Shape;1421;p74">
              <a:extLst>
                <a:ext uri="{FF2B5EF4-FFF2-40B4-BE49-F238E27FC236}">
                  <a16:creationId xmlns:a16="http://schemas.microsoft.com/office/drawing/2014/main" id="{2F1B1A31-E60B-2661-2F13-DC5F7DE0B3A7}"/>
                </a:ext>
              </a:extLst>
            </p:cNvPr>
            <p:cNvSpPr/>
            <p:nvPr/>
          </p:nvSpPr>
          <p:spPr>
            <a:xfrm>
              <a:off x="4121998" y="3525092"/>
              <a:ext cx="73652" cy="61251"/>
            </a:xfrm>
            <a:custGeom>
              <a:avLst/>
              <a:gdLst/>
              <a:ahLst/>
              <a:cxnLst/>
              <a:rect l="l" t="t" r="r" b="b"/>
              <a:pathLst>
                <a:path w="2144" h="1783" extrusionOk="0">
                  <a:moveTo>
                    <a:pt x="1072" y="663"/>
                  </a:moveTo>
                  <a:lnTo>
                    <a:pt x="786" y="925"/>
                  </a:lnTo>
                  <a:cubicBezTo>
                    <a:pt x="739" y="861"/>
                    <a:pt x="680" y="829"/>
                    <a:pt x="619" y="829"/>
                  </a:cubicBezTo>
                  <a:cubicBezTo>
                    <a:pt x="588" y="829"/>
                    <a:pt x="556" y="837"/>
                    <a:pt x="524" y="853"/>
                  </a:cubicBezTo>
                  <a:cubicBezTo>
                    <a:pt x="429" y="901"/>
                    <a:pt x="405" y="1020"/>
                    <a:pt x="453" y="1115"/>
                  </a:cubicBezTo>
                  <a:lnTo>
                    <a:pt x="572" y="1282"/>
                  </a:lnTo>
                  <a:cubicBezTo>
                    <a:pt x="596" y="1330"/>
                    <a:pt x="643" y="1353"/>
                    <a:pt x="691" y="1377"/>
                  </a:cubicBezTo>
                  <a:lnTo>
                    <a:pt x="739" y="1377"/>
                  </a:lnTo>
                  <a:cubicBezTo>
                    <a:pt x="762" y="1377"/>
                    <a:pt x="810" y="1353"/>
                    <a:pt x="858" y="1330"/>
                  </a:cubicBezTo>
                  <a:lnTo>
                    <a:pt x="1096" y="1115"/>
                  </a:lnTo>
                  <a:lnTo>
                    <a:pt x="1096" y="1425"/>
                  </a:lnTo>
                  <a:lnTo>
                    <a:pt x="358" y="1425"/>
                  </a:lnTo>
                  <a:lnTo>
                    <a:pt x="358" y="663"/>
                  </a:lnTo>
                  <a:close/>
                  <a:moveTo>
                    <a:pt x="1940" y="0"/>
                  </a:moveTo>
                  <a:cubicBezTo>
                    <a:pt x="1902" y="0"/>
                    <a:pt x="1864" y="14"/>
                    <a:pt x="1834" y="44"/>
                  </a:cubicBezTo>
                  <a:lnTo>
                    <a:pt x="1429" y="377"/>
                  </a:lnTo>
                  <a:cubicBezTo>
                    <a:pt x="1405" y="329"/>
                    <a:pt x="1334" y="306"/>
                    <a:pt x="1286" y="306"/>
                  </a:cubicBezTo>
                  <a:lnTo>
                    <a:pt x="167" y="306"/>
                  </a:lnTo>
                  <a:cubicBezTo>
                    <a:pt x="72" y="306"/>
                    <a:pt x="0" y="377"/>
                    <a:pt x="0" y="496"/>
                  </a:cubicBezTo>
                  <a:lnTo>
                    <a:pt x="0" y="1592"/>
                  </a:lnTo>
                  <a:cubicBezTo>
                    <a:pt x="0" y="1711"/>
                    <a:pt x="72" y="1782"/>
                    <a:pt x="167" y="1782"/>
                  </a:cubicBezTo>
                  <a:lnTo>
                    <a:pt x="1286" y="1782"/>
                  </a:lnTo>
                  <a:cubicBezTo>
                    <a:pt x="1382" y="1782"/>
                    <a:pt x="1477" y="1711"/>
                    <a:pt x="1477" y="1592"/>
                  </a:cubicBezTo>
                  <a:lnTo>
                    <a:pt x="1477" y="806"/>
                  </a:lnTo>
                  <a:lnTo>
                    <a:pt x="2048" y="329"/>
                  </a:lnTo>
                  <a:cubicBezTo>
                    <a:pt x="2144" y="258"/>
                    <a:pt x="2144" y="139"/>
                    <a:pt x="2072" y="67"/>
                  </a:cubicBezTo>
                  <a:cubicBezTo>
                    <a:pt x="2044" y="26"/>
                    <a:pt x="1993" y="0"/>
                    <a:pt x="19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22;p74">
              <a:extLst>
                <a:ext uri="{FF2B5EF4-FFF2-40B4-BE49-F238E27FC236}">
                  <a16:creationId xmlns:a16="http://schemas.microsoft.com/office/drawing/2014/main" id="{84D657C2-4235-8F86-8539-86DB35ED8EEB}"/>
                </a:ext>
              </a:extLst>
            </p:cNvPr>
            <p:cNvSpPr/>
            <p:nvPr/>
          </p:nvSpPr>
          <p:spPr>
            <a:xfrm>
              <a:off x="4191528" y="3542921"/>
              <a:ext cx="37685" cy="13123"/>
            </a:xfrm>
            <a:custGeom>
              <a:avLst/>
              <a:gdLst/>
              <a:ahLst/>
              <a:cxnLst/>
              <a:rect l="l" t="t" r="r" b="b"/>
              <a:pathLst>
                <a:path w="1097" h="38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7"/>
                    <a:pt x="96" y="382"/>
                    <a:pt x="191" y="382"/>
                  </a:cubicBezTo>
                  <a:lnTo>
                    <a:pt x="905" y="382"/>
                  </a:lnTo>
                  <a:cubicBezTo>
                    <a:pt x="1001" y="382"/>
                    <a:pt x="1096" y="287"/>
                    <a:pt x="1096" y="191"/>
                  </a:cubicBezTo>
                  <a:cubicBezTo>
                    <a:pt x="1096" y="96"/>
                    <a:pt x="1001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23;p74">
              <a:extLst>
                <a:ext uri="{FF2B5EF4-FFF2-40B4-BE49-F238E27FC236}">
                  <a16:creationId xmlns:a16="http://schemas.microsoft.com/office/drawing/2014/main" id="{CEBE849D-24B0-3656-B033-5811CD545070}"/>
                </a:ext>
              </a:extLst>
            </p:cNvPr>
            <p:cNvSpPr/>
            <p:nvPr/>
          </p:nvSpPr>
          <p:spPr>
            <a:xfrm>
              <a:off x="4191528" y="3565834"/>
              <a:ext cx="131742" cy="13123"/>
            </a:xfrm>
            <a:custGeom>
              <a:avLst/>
              <a:gdLst/>
              <a:ahLst/>
              <a:cxnLst/>
              <a:rect l="l" t="t" r="r" b="b"/>
              <a:pathLst>
                <a:path w="3835" h="38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2"/>
                    <a:pt x="191" y="382"/>
                  </a:cubicBezTo>
                  <a:lnTo>
                    <a:pt x="3644" y="382"/>
                  </a:lnTo>
                  <a:cubicBezTo>
                    <a:pt x="3763" y="382"/>
                    <a:pt x="3835" y="286"/>
                    <a:pt x="3835" y="191"/>
                  </a:cubicBezTo>
                  <a:cubicBezTo>
                    <a:pt x="3835" y="96"/>
                    <a:pt x="3763" y="1"/>
                    <a:pt x="36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24;p74">
              <a:extLst>
                <a:ext uri="{FF2B5EF4-FFF2-40B4-BE49-F238E27FC236}">
                  <a16:creationId xmlns:a16="http://schemas.microsoft.com/office/drawing/2014/main" id="{77E66962-0EEC-3C59-9269-5606B267326D}"/>
                </a:ext>
              </a:extLst>
            </p:cNvPr>
            <p:cNvSpPr/>
            <p:nvPr/>
          </p:nvSpPr>
          <p:spPr>
            <a:xfrm>
              <a:off x="4121998" y="3598228"/>
              <a:ext cx="73652" cy="60907"/>
            </a:xfrm>
            <a:custGeom>
              <a:avLst/>
              <a:gdLst/>
              <a:ahLst/>
              <a:cxnLst/>
              <a:rect l="l" t="t" r="r" b="b"/>
              <a:pathLst>
                <a:path w="2144" h="1773" extrusionOk="0">
                  <a:moveTo>
                    <a:pt x="1072" y="677"/>
                  </a:moveTo>
                  <a:lnTo>
                    <a:pt x="786" y="915"/>
                  </a:lnTo>
                  <a:cubicBezTo>
                    <a:pt x="739" y="852"/>
                    <a:pt x="680" y="820"/>
                    <a:pt x="619" y="820"/>
                  </a:cubicBezTo>
                  <a:cubicBezTo>
                    <a:pt x="588" y="820"/>
                    <a:pt x="556" y="828"/>
                    <a:pt x="524" y="844"/>
                  </a:cubicBezTo>
                  <a:cubicBezTo>
                    <a:pt x="429" y="891"/>
                    <a:pt x="405" y="1010"/>
                    <a:pt x="453" y="1106"/>
                  </a:cubicBezTo>
                  <a:lnTo>
                    <a:pt x="572" y="1272"/>
                  </a:lnTo>
                  <a:cubicBezTo>
                    <a:pt x="596" y="1320"/>
                    <a:pt x="643" y="1368"/>
                    <a:pt x="691" y="1368"/>
                  </a:cubicBezTo>
                  <a:lnTo>
                    <a:pt x="739" y="1368"/>
                  </a:lnTo>
                  <a:cubicBezTo>
                    <a:pt x="762" y="1368"/>
                    <a:pt x="810" y="1344"/>
                    <a:pt x="858" y="1320"/>
                  </a:cubicBezTo>
                  <a:lnTo>
                    <a:pt x="1096" y="1106"/>
                  </a:lnTo>
                  <a:lnTo>
                    <a:pt x="1096" y="1415"/>
                  </a:lnTo>
                  <a:lnTo>
                    <a:pt x="358" y="1415"/>
                  </a:lnTo>
                  <a:lnTo>
                    <a:pt x="358" y="677"/>
                  </a:lnTo>
                  <a:close/>
                  <a:moveTo>
                    <a:pt x="1948" y="1"/>
                  </a:moveTo>
                  <a:cubicBezTo>
                    <a:pt x="1908" y="1"/>
                    <a:pt x="1866" y="13"/>
                    <a:pt x="1834" y="34"/>
                  </a:cubicBezTo>
                  <a:lnTo>
                    <a:pt x="1429" y="367"/>
                  </a:lnTo>
                  <a:cubicBezTo>
                    <a:pt x="1405" y="320"/>
                    <a:pt x="1334" y="296"/>
                    <a:pt x="1286" y="296"/>
                  </a:cubicBezTo>
                  <a:lnTo>
                    <a:pt x="167" y="296"/>
                  </a:lnTo>
                  <a:cubicBezTo>
                    <a:pt x="72" y="296"/>
                    <a:pt x="0" y="391"/>
                    <a:pt x="0" y="487"/>
                  </a:cubicBezTo>
                  <a:lnTo>
                    <a:pt x="0" y="1606"/>
                  </a:lnTo>
                  <a:cubicBezTo>
                    <a:pt x="0" y="1701"/>
                    <a:pt x="72" y="1773"/>
                    <a:pt x="167" y="1773"/>
                  </a:cubicBezTo>
                  <a:lnTo>
                    <a:pt x="1286" y="1773"/>
                  </a:lnTo>
                  <a:cubicBezTo>
                    <a:pt x="1382" y="1773"/>
                    <a:pt x="1477" y="1701"/>
                    <a:pt x="1477" y="1606"/>
                  </a:cubicBezTo>
                  <a:lnTo>
                    <a:pt x="1477" y="820"/>
                  </a:lnTo>
                  <a:lnTo>
                    <a:pt x="2048" y="320"/>
                  </a:lnTo>
                  <a:cubicBezTo>
                    <a:pt x="2144" y="272"/>
                    <a:pt x="2144" y="153"/>
                    <a:pt x="2072" y="58"/>
                  </a:cubicBezTo>
                  <a:cubicBezTo>
                    <a:pt x="2046" y="19"/>
                    <a:pt x="1998" y="1"/>
                    <a:pt x="19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25;p74">
              <a:extLst>
                <a:ext uri="{FF2B5EF4-FFF2-40B4-BE49-F238E27FC236}">
                  <a16:creationId xmlns:a16="http://schemas.microsoft.com/office/drawing/2014/main" id="{A49283C9-9B5E-F0CD-ADC1-B937A5DC56DD}"/>
                </a:ext>
              </a:extLst>
            </p:cNvPr>
            <p:cNvSpPr/>
            <p:nvPr/>
          </p:nvSpPr>
          <p:spPr>
            <a:xfrm>
              <a:off x="4191528" y="3616572"/>
              <a:ext cx="37685" cy="12298"/>
            </a:xfrm>
            <a:custGeom>
              <a:avLst/>
              <a:gdLst/>
              <a:ahLst/>
              <a:cxnLst/>
              <a:rect l="l" t="t" r="r" b="b"/>
              <a:pathLst>
                <a:path w="1097" h="358" extrusionOk="0"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cubicBezTo>
                    <a:pt x="1" y="286"/>
                    <a:pt x="96" y="357"/>
                    <a:pt x="191" y="357"/>
                  </a:cubicBezTo>
                  <a:lnTo>
                    <a:pt x="905" y="357"/>
                  </a:lnTo>
                  <a:cubicBezTo>
                    <a:pt x="1001" y="357"/>
                    <a:pt x="1096" y="286"/>
                    <a:pt x="1096" y="167"/>
                  </a:cubicBezTo>
                  <a:cubicBezTo>
                    <a:pt x="1096" y="72"/>
                    <a:pt x="1001" y="0"/>
                    <a:pt x="9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26;p74">
              <a:extLst>
                <a:ext uri="{FF2B5EF4-FFF2-40B4-BE49-F238E27FC236}">
                  <a16:creationId xmlns:a16="http://schemas.microsoft.com/office/drawing/2014/main" id="{8280ED39-3C79-E8E9-5BCD-7066FC4DFDB4}"/>
                </a:ext>
              </a:extLst>
            </p:cNvPr>
            <p:cNvSpPr/>
            <p:nvPr/>
          </p:nvSpPr>
          <p:spPr>
            <a:xfrm>
              <a:off x="4191528" y="3638661"/>
              <a:ext cx="131742" cy="13123"/>
            </a:xfrm>
            <a:custGeom>
              <a:avLst/>
              <a:gdLst/>
              <a:ahLst/>
              <a:cxnLst/>
              <a:rect l="l" t="t" r="r" b="b"/>
              <a:pathLst>
                <a:path w="3835" h="382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3644" y="381"/>
                  </a:lnTo>
                  <a:cubicBezTo>
                    <a:pt x="3763" y="381"/>
                    <a:pt x="3835" y="286"/>
                    <a:pt x="3835" y="191"/>
                  </a:cubicBezTo>
                  <a:cubicBezTo>
                    <a:pt x="3835" y="95"/>
                    <a:pt x="3763" y="0"/>
                    <a:pt x="3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27;p74">
              <a:extLst>
                <a:ext uri="{FF2B5EF4-FFF2-40B4-BE49-F238E27FC236}">
                  <a16:creationId xmlns:a16="http://schemas.microsoft.com/office/drawing/2014/main" id="{E4A5D9B2-626E-8523-1277-FA19EBA8AB83}"/>
                </a:ext>
              </a:extLst>
            </p:cNvPr>
            <p:cNvSpPr/>
            <p:nvPr/>
          </p:nvSpPr>
          <p:spPr>
            <a:xfrm>
              <a:off x="4121998" y="3671262"/>
              <a:ext cx="73652" cy="60667"/>
            </a:xfrm>
            <a:custGeom>
              <a:avLst/>
              <a:gdLst/>
              <a:ahLst/>
              <a:cxnLst/>
              <a:rect l="l" t="t" r="r" b="b"/>
              <a:pathLst>
                <a:path w="2144" h="1766" extrusionOk="0">
                  <a:moveTo>
                    <a:pt x="1072" y="671"/>
                  </a:moveTo>
                  <a:lnTo>
                    <a:pt x="786" y="909"/>
                  </a:lnTo>
                  <a:cubicBezTo>
                    <a:pt x="739" y="845"/>
                    <a:pt x="680" y="813"/>
                    <a:pt x="619" y="813"/>
                  </a:cubicBezTo>
                  <a:cubicBezTo>
                    <a:pt x="588" y="813"/>
                    <a:pt x="556" y="821"/>
                    <a:pt x="524" y="837"/>
                  </a:cubicBezTo>
                  <a:cubicBezTo>
                    <a:pt x="429" y="909"/>
                    <a:pt x="405" y="1004"/>
                    <a:pt x="453" y="1099"/>
                  </a:cubicBezTo>
                  <a:lnTo>
                    <a:pt x="572" y="1290"/>
                  </a:lnTo>
                  <a:cubicBezTo>
                    <a:pt x="596" y="1314"/>
                    <a:pt x="643" y="1361"/>
                    <a:pt x="691" y="1361"/>
                  </a:cubicBezTo>
                  <a:lnTo>
                    <a:pt x="739" y="1361"/>
                  </a:lnTo>
                  <a:cubicBezTo>
                    <a:pt x="762" y="1361"/>
                    <a:pt x="810" y="1361"/>
                    <a:pt x="858" y="1337"/>
                  </a:cubicBezTo>
                  <a:lnTo>
                    <a:pt x="1096" y="1123"/>
                  </a:lnTo>
                  <a:lnTo>
                    <a:pt x="1096" y="1409"/>
                  </a:lnTo>
                  <a:lnTo>
                    <a:pt x="358" y="1409"/>
                  </a:lnTo>
                  <a:lnTo>
                    <a:pt x="358" y="671"/>
                  </a:lnTo>
                  <a:close/>
                  <a:moveTo>
                    <a:pt x="1952" y="0"/>
                  </a:moveTo>
                  <a:cubicBezTo>
                    <a:pt x="1911" y="0"/>
                    <a:pt x="1867" y="18"/>
                    <a:pt x="1834" y="51"/>
                  </a:cubicBezTo>
                  <a:lnTo>
                    <a:pt x="1429" y="361"/>
                  </a:lnTo>
                  <a:cubicBezTo>
                    <a:pt x="1405" y="337"/>
                    <a:pt x="1334" y="290"/>
                    <a:pt x="1286" y="290"/>
                  </a:cubicBezTo>
                  <a:lnTo>
                    <a:pt x="167" y="290"/>
                  </a:lnTo>
                  <a:cubicBezTo>
                    <a:pt x="72" y="290"/>
                    <a:pt x="0" y="385"/>
                    <a:pt x="0" y="480"/>
                  </a:cubicBezTo>
                  <a:lnTo>
                    <a:pt x="0" y="1599"/>
                  </a:lnTo>
                  <a:cubicBezTo>
                    <a:pt x="0" y="1695"/>
                    <a:pt x="72" y="1766"/>
                    <a:pt x="167" y="1766"/>
                  </a:cubicBezTo>
                  <a:lnTo>
                    <a:pt x="1286" y="1766"/>
                  </a:lnTo>
                  <a:cubicBezTo>
                    <a:pt x="1382" y="1766"/>
                    <a:pt x="1477" y="1695"/>
                    <a:pt x="1477" y="1599"/>
                  </a:cubicBezTo>
                  <a:lnTo>
                    <a:pt x="1477" y="813"/>
                  </a:lnTo>
                  <a:lnTo>
                    <a:pt x="2048" y="313"/>
                  </a:lnTo>
                  <a:cubicBezTo>
                    <a:pt x="2144" y="266"/>
                    <a:pt x="2144" y="147"/>
                    <a:pt x="2072" y="75"/>
                  </a:cubicBezTo>
                  <a:cubicBezTo>
                    <a:pt x="2047" y="24"/>
                    <a:pt x="2001" y="0"/>
                    <a:pt x="19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28;p74">
              <a:extLst>
                <a:ext uri="{FF2B5EF4-FFF2-40B4-BE49-F238E27FC236}">
                  <a16:creationId xmlns:a16="http://schemas.microsoft.com/office/drawing/2014/main" id="{6316F3FB-8BE0-7ADB-26E7-5583D8177844}"/>
                </a:ext>
              </a:extLst>
            </p:cNvPr>
            <p:cNvSpPr/>
            <p:nvPr/>
          </p:nvSpPr>
          <p:spPr>
            <a:xfrm>
              <a:off x="4191528" y="3689365"/>
              <a:ext cx="37685" cy="12298"/>
            </a:xfrm>
            <a:custGeom>
              <a:avLst/>
              <a:gdLst/>
              <a:ahLst/>
              <a:cxnLst/>
              <a:rect l="l" t="t" r="r" b="b"/>
              <a:pathLst>
                <a:path w="1097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905" y="358"/>
                  </a:lnTo>
                  <a:cubicBezTo>
                    <a:pt x="1001" y="358"/>
                    <a:pt x="1096" y="286"/>
                    <a:pt x="1096" y="191"/>
                  </a:cubicBezTo>
                  <a:cubicBezTo>
                    <a:pt x="1096" y="72"/>
                    <a:pt x="1001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29;p74">
              <a:extLst>
                <a:ext uri="{FF2B5EF4-FFF2-40B4-BE49-F238E27FC236}">
                  <a16:creationId xmlns:a16="http://schemas.microsoft.com/office/drawing/2014/main" id="{CE6CD4D8-8BE0-2CB1-806B-1C80B3C56EC8}"/>
                </a:ext>
              </a:extLst>
            </p:cNvPr>
            <p:cNvSpPr/>
            <p:nvPr/>
          </p:nvSpPr>
          <p:spPr>
            <a:xfrm>
              <a:off x="4191528" y="3712278"/>
              <a:ext cx="131742" cy="12298"/>
            </a:xfrm>
            <a:custGeom>
              <a:avLst/>
              <a:gdLst/>
              <a:ahLst/>
              <a:cxnLst/>
              <a:rect l="l" t="t" r="r" b="b"/>
              <a:pathLst>
                <a:path w="3835" h="358" extrusionOk="0">
                  <a:moveTo>
                    <a:pt x="191" y="0"/>
                  </a:moveTo>
                  <a:cubicBezTo>
                    <a:pt x="96" y="0"/>
                    <a:pt x="1" y="72"/>
                    <a:pt x="1" y="167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3644" y="358"/>
                  </a:lnTo>
                  <a:cubicBezTo>
                    <a:pt x="3763" y="358"/>
                    <a:pt x="3835" y="286"/>
                    <a:pt x="3835" y="167"/>
                  </a:cubicBezTo>
                  <a:cubicBezTo>
                    <a:pt x="3835" y="72"/>
                    <a:pt x="3763" y="0"/>
                    <a:pt x="3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30;p74">
              <a:extLst>
                <a:ext uri="{FF2B5EF4-FFF2-40B4-BE49-F238E27FC236}">
                  <a16:creationId xmlns:a16="http://schemas.microsoft.com/office/drawing/2014/main" id="{842371F0-1CFB-C2E2-4D4A-6035B386E65C}"/>
                </a:ext>
              </a:extLst>
            </p:cNvPr>
            <p:cNvSpPr/>
            <p:nvPr/>
          </p:nvSpPr>
          <p:spPr>
            <a:xfrm>
              <a:off x="4195616" y="3391598"/>
              <a:ext cx="54861" cy="12298"/>
            </a:xfrm>
            <a:custGeom>
              <a:avLst/>
              <a:gdLst/>
              <a:ahLst/>
              <a:cxnLst/>
              <a:rect l="l" t="t" r="r" b="b"/>
              <a:pathLst>
                <a:path w="1597" h="358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86"/>
                    <a:pt x="72" y="357"/>
                    <a:pt x="167" y="357"/>
                  </a:cubicBezTo>
                  <a:lnTo>
                    <a:pt x="1429" y="357"/>
                  </a:lnTo>
                  <a:cubicBezTo>
                    <a:pt x="1525" y="357"/>
                    <a:pt x="1596" y="286"/>
                    <a:pt x="1596" y="167"/>
                  </a:cubicBezTo>
                  <a:cubicBezTo>
                    <a:pt x="1596" y="72"/>
                    <a:pt x="1525" y="0"/>
                    <a:pt x="14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31;p74">
              <a:extLst>
                <a:ext uri="{FF2B5EF4-FFF2-40B4-BE49-F238E27FC236}">
                  <a16:creationId xmlns:a16="http://schemas.microsoft.com/office/drawing/2014/main" id="{BB113877-FA0F-A95A-0D83-73E6B02FCC4E}"/>
                </a:ext>
              </a:extLst>
            </p:cNvPr>
            <p:cNvSpPr/>
            <p:nvPr/>
          </p:nvSpPr>
          <p:spPr>
            <a:xfrm>
              <a:off x="4063084" y="3364597"/>
              <a:ext cx="319925" cy="429509"/>
            </a:xfrm>
            <a:custGeom>
              <a:avLst/>
              <a:gdLst/>
              <a:ahLst/>
              <a:cxnLst/>
              <a:rect l="l" t="t" r="r" b="b"/>
              <a:pathLst>
                <a:path w="9313" h="12503" extrusionOk="0">
                  <a:moveTo>
                    <a:pt x="644" y="0"/>
                  </a:moveTo>
                  <a:cubicBezTo>
                    <a:pt x="286" y="0"/>
                    <a:pt x="1" y="286"/>
                    <a:pt x="1" y="643"/>
                  </a:cubicBezTo>
                  <a:lnTo>
                    <a:pt x="1" y="11860"/>
                  </a:lnTo>
                  <a:cubicBezTo>
                    <a:pt x="1" y="12217"/>
                    <a:pt x="286" y="12503"/>
                    <a:pt x="644" y="12503"/>
                  </a:cubicBezTo>
                  <a:lnTo>
                    <a:pt x="8669" y="12503"/>
                  </a:lnTo>
                  <a:cubicBezTo>
                    <a:pt x="9026" y="12503"/>
                    <a:pt x="9312" y="12217"/>
                    <a:pt x="9312" y="11860"/>
                  </a:cubicBezTo>
                  <a:lnTo>
                    <a:pt x="9312" y="5216"/>
                  </a:lnTo>
                  <a:cubicBezTo>
                    <a:pt x="9312" y="5120"/>
                    <a:pt x="9241" y="5049"/>
                    <a:pt x="9122" y="5049"/>
                  </a:cubicBezTo>
                  <a:cubicBezTo>
                    <a:pt x="9026" y="5049"/>
                    <a:pt x="8955" y="5120"/>
                    <a:pt x="8955" y="5216"/>
                  </a:cubicBezTo>
                  <a:lnTo>
                    <a:pt x="8955" y="11860"/>
                  </a:lnTo>
                  <a:cubicBezTo>
                    <a:pt x="8955" y="12027"/>
                    <a:pt x="8836" y="12146"/>
                    <a:pt x="8669" y="12146"/>
                  </a:cubicBezTo>
                  <a:lnTo>
                    <a:pt x="644" y="12146"/>
                  </a:lnTo>
                  <a:cubicBezTo>
                    <a:pt x="477" y="12146"/>
                    <a:pt x="358" y="12027"/>
                    <a:pt x="358" y="11860"/>
                  </a:cubicBezTo>
                  <a:lnTo>
                    <a:pt x="358" y="643"/>
                  </a:lnTo>
                  <a:cubicBezTo>
                    <a:pt x="358" y="477"/>
                    <a:pt x="477" y="358"/>
                    <a:pt x="644" y="358"/>
                  </a:cubicBezTo>
                  <a:lnTo>
                    <a:pt x="2763" y="358"/>
                  </a:lnTo>
                  <a:lnTo>
                    <a:pt x="2882" y="739"/>
                  </a:lnTo>
                  <a:lnTo>
                    <a:pt x="906" y="739"/>
                  </a:lnTo>
                  <a:cubicBezTo>
                    <a:pt x="810" y="739"/>
                    <a:pt x="739" y="810"/>
                    <a:pt x="739" y="905"/>
                  </a:cubicBezTo>
                  <a:lnTo>
                    <a:pt x="739" y="10145"/>
                  </a:lnTo>
                  <a:cubicBezTo>
                    <a:pt x="739" y="10264"/>
                    <a:pt x="810" y="10336"/>
                    <a:pt x="906" y="10336"/>
                  </a:cubicBezTo>
                  <a:cubicBezTo>
                    <a:pt x="1025" y="10336"/>
                    <a:pt x="1096" y="10264"/>
                    <a:pt x="1096" y="10145"/>
                  </a:cubicBezTo>
                  <a:lnTo>
                    <a:pt x="1096" y="1096"/>
                  </a:lnTo>
                  <a:lnTo>
                    <a:pt x="3001" y="1096"/>
                  </a:lnTo>
                  <a:lnTo>
                    <a:pt x="3120" y="1429"/>
                  </a:lnTo>
                  <a:cubicBezTo>
                    <a:pt x="3216" y="1715"/>
                    <a:pt x="3501" y="1929"/>
                    <a:pt x="3835" y="1929"/>
                  </a:cubicBezTo>
                  <a:lnTo>
                    <a:pt x="4311" y="1929"/>
                  </a:lnTo>
                  <a:cubicBezTo>
                    <a:pt x="4430" y="1929"/>
                    <a:pt x="4502" y="1834"/>
                    <a:pt x="4502" y="1739"/>
                  </a:cubicBezTo>
                  <a:cubicBezTo>
                    <a:pt x="4502" y="1644"/>
                    <a:pt x="4430" y="1572"/>
                    <a:pt x="4311" y="1572"/>
                  </a:cubicBezTo>
                  <a:lnTo>
                    <a:pt x="3835" y="1572"/>
                  </a:lnTo>
                  <a:cubicBezTo>
                    <a:pt x="3668" y="1572"/>
                    <a:pt x="3525" y="1453"/>
                    <a:pt x="3478" y="1310"/>
                  </a:cubicBezTo>
                  <a:lnTo>
                    <a:pt x="3144" y="358"/>
                  </a:lnTo>
                  <a:lnTo>
                    <a:pt x="6169" y="358"/>
                  </a:lnTo>
                  <a:lnTo>
                    <a:pt x="5835" y="1310"/>
                  </a:lnTo>
                  <a:cubicBezTo>
                    <a:pt x="5788" y="1453"/>
                    <a:pt x="5645" y="1572"/>
                    <a:pt x="5478" y="1572"/>
                  </a:cubicBezTo>
                  <a:lnTo>
                    <a:pt x="5049" y="1572"/>
                  </a:lnTo>
                  <a:cubicBezTo>
                    <a:pt x="4954" y="1572"/>
                    <a:pt x="4883" y="1644"/>
                    <a:pt x="4883" y="1739"/>
                  </a:cubicBezTo>
                  <a:cubicBezTo>
                    <a:pt x="4883" y="1834"/>
                    <a:pt x="4954" y="1929"/>
                    <a:pt x="5049" y="1929"/>
                  </a:cubicBezTo>
                  <a:lnTo>
                    <a:pt x="5478" y="1929"/>
                  </a:lnTo>
                  <a:cubicBezTo>
                    <a:pt x="5811" y="1929"/>
                    <a:pt x="6073" y="1739"/>
                    <a:pt x="6192" y="1429"/>
                  </a:cubicBezTo>
                  <a:lnTo>
                    <a:pt x="6312" y="1096"/>
                  </a:lnTo>
                  <a:lnTo>
                    <a:pt x="8217" y="1096"/>
                  </a:lnTo>
                  <a:lnTo>
                    <a:pt x="8217" y="11407"/>
                  </a:lnTo>
                  <a:lnTo>
                    <a:pt x="1096" y="11407"/>
                  </a:lnTo>
                  <a:lnTo>
                    <a:pt x="1096" y="10884"/>
                  </a:lnTo>
                  <a:cubicBezTo>
                    <a:pt x="1096" y="10788"/>
                    <a:pt x="1025" y="10693"/>
                    <a:pt x="906" y="10693"/>
                  </a:cubicBezTo>
                  <a:cubicBezTo>
                    <a:pt x="810" y="10693"/>
                    <a:pt x="739" y="10788"/>
                    <a:pt x="739" y="10884"/>
                  </a:cubicBezTo>
                  <a:lnTo>
                    <a:pt x="739" y="11598"/>
                  </a:lnTo>
                  <a:cubicBezTo>
                    <a:pt x="739" y="11693"/>
                    <a:pt x="810" y="11765"/>
                    <a:pt x="906" y="11765"/>
                  </a:cubicBezTo>
                  <a:lnTo>
                    <a:pt x="8407" y="11765"/>
                  </a:lnTo>
                  <a:cubicBezTo>
                    <a:pt x="8502" y="11765"/>
                    <a:pt x="8574" y="11693"/>
                    <a:pt x="8574" y="11598"/>
                  </a:cubicBezTo>
                  <a:lnTo>
                    <a:pt x="8574" y="905"/>
                  </a:lnTo>
                  <a:cubicBezTo>
                    <a:pt x="8574" y="810"/>
                    <a:pt x="8502" y="739"/>
                    <a:pt x="8407" y="739"/>
                  </a:cubicBezTo>
                  <a:lnTo>
                    <a:pt x="6431" y="739"/>
                  </a:lnTo>
                  <a:lnTo>
                    <a:pt x="6550" y="358"/>
                  </a:lnTo>
                  <a:lnTo>
                    <a:pt x="8669" y="358"/>
                  </a:lnTo>
                  <a:cubicBezTo>
                    <a:pt x="8836" y="358"/>
                    <a:pt x="8955" y="477"/>
                    <a:pt x="8955" y="643"/>
                  </a:cubicBezTo>
                  <a:lnTo>
                    <a:pt x="8955" y="4501"/>
                  </a:lnTo>
                  <a:cubicBezTo>
                    <a:pt x="8955" y="4597"/>
                    <a:pt x="9026" y="4668"/>
                    <a:pt x="9122" y="4668"/>
                  </a:cubicBezTo>
                  <a:cubicBezTo>
                    <a:pt x="9241" y="4668"/>
                    <a:pt x="9312" y="4597"/>
                    <a:pt x="9312" y="4501"/>
                  </a:cubicBezTo>
                  <a:lnTo>
                    <a:pt x="9312" y="643"/>
                  </a:lnTo>
                  <a:cubicBezTo>
                    <a:pt x="9312" y="286"/>
                    <a:pt x="9026" y="0"/>
                    <a:pt x="86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32;p74">
              <a:extLst>
                <a:ext uri="{FF2B5EF4-FFF2-40B4-BE49-F238E27FC236}">
                  <a16:creationId xmlns:a16="http://schemas.microsoft.com/office/drawing/2014/main" id="{C9D61052-CBAF-658C-018E-5482734FB4E0}"/>
                </a:ext>
              </a:extLst>
            </p:cNvPr>
            <p:cNvSpPr/>
            <p:nvPr/>
          </p:nvSpPr>
          <p:spPr>
            <a:xfrm>
              <a:off x="4173527" y="3447215"/>
              <a:ext cx="99038" cy="69564"/>
            </a:xfrm>
            <a:custGeom>
              <a:avLst/>
              <a:gdLst/>
              <a:ahLst/>
              <a:cxnLst/>
              <a:rect l="l" t="t" r="r" b="b"/>
              <a:pathLst>
                <a:path w="2883" h="2025" extrusionOk="0">
                  <a:moveTo>
                    <a:pt x="2690" y="1"/>
                  </a:moveTo>
                  <a:cubicBezTo>
                    <a:pt x="2660" y="1"/>
                    <a:pt x="2628" y="9"/>
                    <a:pt x="2596" y="24"/>
                  </a:cubicBezTo>
                  <a:lnTo>
                    <a:pt x="1691" y="525"/>
                  </a:lnTo>
                  <a:lnTo>
                    <a:pt x="715" y="72"/>
                  </a:lnTo>
                  <a:cubicBezTo>
                    <a:pt x="688" y="59"/>
                    <a:pt x="662" y="53"/>
                    <a:pt x="636" y="53"/>
                  </a:cubicBezTo>
                  <a:cubicBezTo>
                    <a:pt x="570" y="53"/>
                    <a:pt x="511" y="92"/>
                    <a:pt x="477" y="143"/>
                  </a:cubicBezTo>
                  <a:cubicBezTo>
                    <a:pt x="429" y="239"/>
                    <a:pt x="477" y="358"/>
                    <a:pt x="572" y="405"/>
                  </a:cubicBezTo>
                  <a:lnTo>
                    <a:pt x="1310" y="739"/>
                  </a:lnTo>
                  <a:lnTo>
                    <a:pt x="596" y="1144"/>
                  </a:lnTo>
                  <a:lnTo>
                    <a:pt x="358" y="667"/>
                  </a:lnTo>
                  <a:cubicBezTo>
                    <a:pt x="326" y="604"/>
                    <a:pt x="273" y="572"/>
                    <a:pt x="213" y="572"/>
                  </a:cubicBezTo>
                  <a:cubicBezTo>
                    <a:pt x="183" y="572"/>
                    <a:pt x="151" y="580"/>
                    <a:pt x="120" y="596"/>
                  </a:cubicBezTo>
                  <a:cubicBezTo>
                    <a:pt x="24" y="620"/>
                    <a:pt x="1" y="739"/>
                    <a:pt x="48" y="834"/>
                  </a:cubicBezTo>
                  <a:lnTo>
                    <a:pt x="358" y="1477"/>
                  </a:lnTo>
                  <a:cubicBezTo>
                    <a:pt x="382" y="1525"/>
                    <a:pt x="405" y="1549"/>
                    <a:pt x="453" y="1572"/>
                  </a:cubicBezTo>
                  <a:lnTo>
                    <a:pt x="525" y="1572"/>
                  </a:lnTo>
                  <a:cubicBezTo>
                    <a:pt x="548" y="1572"/>
                    <a:pt x="572" y="1572"/>
                    <a:pt x="596" y="1549"/>
                  </a:cubicBezTo>
                  <a:lnTo>
                    <a:pt x="1429" y="1096"/>
                  </a:lnTo>
                  <a:lnTo>
                    <a:pt x="1429" y="1096"/>
                  </a:lnTo>
                  <a:lnTo>
                    <a:pt x="1239" y="1810"/>
                  </a:lnTo>
                  <a:cubicBezTo>
                    <a:pt x="1215" y="1906"/>
                    <a:pt x="1287" y="2001"/>
                    <a:pt x="1382" y="2025"/>
                  </a:cubicBezTo>
                  <a:lnTo>
                    <a:pt x="1429" y="2025"/>
                  </a:lnTo>
                  <a:cubicBezTo>
                    <a:pt x="1501" y="2025"/>
                    <a:pt x="1572" y="1977"/>
                    <a:pt x="1596" y="1906"/>
                  </a:cubicBezTo>
                  <a:lnTo>
                    <a:pt x="1882" y="834"/>
                  </a:lnTo>
                  <a:lnTo>
                    <a:pt x="2763" y="334"/>
                  </a:lnTo>
                  <a:cubicBezTo>
                    <a:pt x="2858" y="286"/>
                    <a:pt x="2882" y="167"/>
                    <a:pt x="2835" y="96"/>
                  </a:cubicBezTo>
                  <a:cubicBezTo>
                    <a:pt x="2803" y="32"/>
                    <a:pt x="2750" y="1"/>
                    <a:pt x="26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1514;p74">
            <a:extLst>
              <a:ext uri="{FF2B5EF4-FFF2-40B4-BE49-F238E27FC236}">
                <a16:creationId xmlns:a16="http://schemas.microsoft.com/office/drawing/2014/main" id="{63A07B2A-0BBD-117B-75AC-04E381576495}"/>
              </a:ext>
            </a:extLst>
          </p:cNvPr>
          <p:cNvGrpSpPr/>
          <p:nvPr/>
        </p:nvGrpSpPr>
        <p:grpSpPr>
          <a:xfrm>
            <a:off x="973462" y="4000128"/>
            <a:ext cx="198008" cy="429956"/>
            <a:chOff x="5504549" y="2720316"/>
            <a:chExt cx="198008" cy="429956"/>
          </a:xfrm>
          <a:solidFill>
            <a:schemeClr val="bg1"/>
          </a:solidFill>
        </p:grpSpPr>
        <p:sp>
          <p:nvSpPr>
            <p:cNvPr id="40" name="Google Shape;1515;p74">
              <a:extLst>
                <a:ext uri="{FF2B5EF4-FFF2-40B4-BE49-F238E27FC236}">
                  <a16:creationId xmlns:a16="http://schemas.microsoft.com/office/drawing/2014/main" id="{0B5886EA-1B28-6B5B-704F-4B0E9033BD91}"/>
                </a:ext>
              </a:extLst>
            </p:cNvPr>
            <p:cNvSpPr/>
            <p:nvPr/>
          </p:nvSpPr>
          <p:spPr>
            <a:xfrm>
              <a:off x="5504549" y="2720316"/>
              <a:ext cx="198008" cy="429956"/>
            </a:xfrm>
            <a:custGeom>
              <a:avLst/>
              <a:gdLst/>
              <a:ahLst/>
              <a:cxnLst/>
              <a:rect l="l" t="t" r="r" b="b"/>
              <a:pathLst>
                <a:path w="5764" h="12516" extrusionOk="0">
                  <a:moveTo>
                    <a:pt x="3417" y="367"/>
                  </a:moveTo>
                  <a:cubicBezTo>
                    <a:pt x="3458" y="367"/>
                    <a:pt x="3488" y="381"/>
                    <a:pt x="3502" y="394"/>
                  </a:cubicBezTo>
                  <a:cubicBezTo>
                    <a:pt x="3549" y="418"/>
                    <a:pt x="3621" y="466"/>
                    <a:pt x="3621" y="585"/>
                  </a:cubicBezTo>
                  <a:lnTo>
                    <a:pt x="3621" y="1014"/>
                  </a:lnTo>
                  <a:cubicBezTo>
                    <a:pt x="3621" y="1061"/>
                    <a:pt x="3573" y="1109"/>
                    <a:pt x="3525" y="1133"/>
                  </a:cubicBezTo>
                  <a:lnTo>
                    <a:pt x="2906" y="1276"/>
                  </a:lnTo>
                  <a:cubicBezTo>
                    <a:pt x="2894" y="1288"/>
                    <a:pt x="2888" y="1293"/>
                    <a:pt x="2882" y="1293"/>
                  </a:cubicBezTo>
                  <a:cubicBezTo>
                    <a:pt x="2876" y="1293"/>
                    <a:pt x="2870" y="1288"/>
                    <a:pt x="2859" y="1276"/>
                  </a:cubicBezTo>
                  <a:lnTo>
                    <a:pt x="2239" y="1133"/>
                  </a:lnTo>
                  <a:cubicBezTo>
                    <a:pt x="2192" y="1109"/>
                    <a:pt x="2144" y="1061"/>
                    <a:pt x="2144" y="1014"/>
                  </a:cubicBezTo>
                  <a:lnTo>
                    <a:pt x="2144" y="585"/>
                  </a:lnTo>
                  <a:cubicBezTo>
                    <a:pt x="2144" y="466"/>
                    <a:pt x="2216" y="418"/>
                    <a:pt x="2263" y="394"/>
                  </a:cubicBezTo>
                  <a:cubicBezTo>
                    <a:pt x="2263" y="394"/>
                    <a:pt x="2311" y="371"/>
                    <a:pt x="2358" y="371"/>
                  </a:cubicBezTo>
                  <a:cubicBezTo>
                    <a:pt x="2382" y="371"/>
                    <a:pt x="2430" y="371"/>
                    <a:pt x="2454" y="394"/>
                  </a:cubicBezTo>
                  <a:lnTo>
                    <a:pt x="2739" y="537"/>
                  </a:lnTo>
                  <a:cubicBezTo>
                    <a:pt x="2787" y="561"/>
                    <a:pt x="2835" y="573"/>
                    <a:pt x="2882" y="573"/>
                  </a:cubicBezTo>
                  <a:cubicBezTo>
                    <a:pt x="2930" y="573"/>
                    <a:pt x="2978" y="561"/>
                    <a:pt x="3025" y="537"/>
                  </a:cubicBezTo>
                  <a:lnTo>
                    <a:pt x="3311" y="394"/>
                  </a:lnTo>
                  <a:cubicBezTo>
                    <a:pt x="3351" y="374"/>
                    <a:pt x="3387" y="367"/>
                    <a:pt x="3417" y="367"/>
                  </a:cubicBezTo>
                  <a:close/>
                  <a:moveTo>
                    <a:pt x="3454" y="6205"/>
                  </a:moveTo>
                  <a:lnTo>
                    <a:pt x="3454" y="6443"/>
                  </a:lnTo>
                  <a:lnTo>
                    <a:pt x="2311" y="6443"/>
                  </a:lnTo>
                  <a:lnTo>
                    <a:pt x="2311" y="6205"/>
                  </a:lnTo>
                  <a:cubicBezTo>
                    <a:pt x="2501" y="6253"/>
                    <a:pt x="2692" y="6300"/>
                    <a:pt x="2882" y="6300"/>
                  </a:cubicBezTo>
                  <a:cubicBezTo>
                    <a:pt x="3073" y="6300"/>
                    <a:pt x="3263" y="6253"/>
                    <a:pt x="3454" y="6205"/>
                  </a:cubicBezTo>
                  <a:close/>
                  <a:moveTo>
                    <a:pt x="3811" y="6801"/>
                  </a:moveTo>
                  <a:cubicBezTo>
                    <a:pt x="3835" y="6801"/>
                    <a:pt x="3835" y="6824"/>
                    <a:pt x="3835" y="6824"/>
                  </a:cubicBezTo>
                  <a:lnTo>
                    <a:pt x="3835" y="7039"/>
                  </a:lnTo>
                  <a:cubicBezTo>
                    <a:pt x="3835" y="7062"/>
                    <a:pt x="3835" y="7062"/>
                    <a:pt x="3811" y="7062"/>
                  </a:cubicBezTo>
                  <a:lnTo>
                    <a:pt x="1954" y="7062"/>
                  </a:lnTo>
                  <a:cubicBezTo>
                    <a:pt x="1930" y="7062"/>
                    <a:pt x="1930" y="7062"/>
                    <a:pt x="1930" y="7039"/>
                  </a:cubicBezTo>
                  <a:lnTo>
                    <a:pt x="1930" y="6824"/>
                  </a:lnTo>
                  <a:cubicBezTo>
                    <a:pt x="1930" y="6824"/>
                    <a:pt x="1930" y="6801"/>
                    <a:pt x="1954" y="6801"/>
                  </a:cubicBezTo>
                  <a:close/>
                  <a:moveTo>
                    <a:pt x="3668" y="7420"/>
                  </a:moveTo>
                  <a:lnTo>
                    <a:pt x="2882" y="8920"/>
                  </a:lnTo>
                  <a:lnTo>
                    <a:pt x="2096" y="7420"/>
                  </a:lnTo>
                  <a:close/>
                  <a:moveTo>
                    <a:pt x="1811" y="7682"/>
                  </a:moveTo>
                  <a:lnTo>
                    <a:pt x="2644" y="9253"/>
                  </a:lnTo>
                  <a:lnTo>
                    <a:pt x="2263" y="9492"/>
                  </a:lnTo>
                  <a:lnTo>
                    <a:pt x="2263" y="9063"/>
                  </a:lnTo>
                  <a:cubicBezTo>
                    <a:pt x="2263" y="8991"/>
                    <a:pt x="2216" y="8944"/>
                    <a:pt x="2168" y="8896"/>
                  </a:cubicBezTo>
                  <a:cubicBezTo>
                    <a:pt x="2144" y="8884"/>
                    <a:pt x="2114" y="8878"/>
                    <a:pt x="2085" y="8878"/>
                  </a:cubicBezTo>
                  <a:cubicBezTo>
                    <a:pt x="2055" y="8878"/>
                    <a:pt x="2025" y="8884"/>
                    <a:pt x="2001" y="8896"/>
                  </a:cubicBezTo>
                  <a:lnTo>
                    <a:pt x="1573" y="9063"/>
                  </a:lnTo>
                  <a:lnTo>
                    <a:pt x="1311" y="7991"/>
                  </a:lnTo>
                  <a:lnTo>
                    <a:pt x="1715" y="7753"/>
                  </a:lnTo>
                  <a:cubicBezTo>
                    <a:pt x="1739" y="7729"/>
                    <a:pt x="1787" y="7705"/>
                    <a:pt x="1811" y="7682"/>
                  </a:cubicBezTo>
                  <a:close/>
                  <a:moveTo>
                    <a:pt x="3954" y="7682"/>
                  </a:moveTo>
                  <a:cubicBezTo>
                    <a:pt x="3978" y="7705"/>
                    <a:pt x="4025" y="7729"/>
                    <a:pt x="4049" y="7753"/>
                  </a:cubicBezTo>
                  <a:lnTo>
                    <a:pt x="4454" y="7991"/>
                  </a:lnTo>
                  <a:lnTo>
                    <a:pt x="4192" y="9063"/>
                  </a:lnTo>
                  <a:lnTo>
                    <a:pt x="3763" y="8896"/>
                  </a:lnTo>
                  <a:cubicBezTo>
                    <a:pt x="3728" y="8884"/>
                    <a:pt x="3698" y="8878"/>
                    <a:pt x="3668" y="8878"/>
                  </a:cubicBezTo>
                  <a:cubicBezTo>
                    <a:pt x="3638" y="8878"/>
                    <a:pt x="3609" y="8884"/>
                    <a:pt x="3573" y="8896"/>
                  </a:cubicBezTo>
                  <a:cubicBezTo>
                    <a:pt x="3525" y="8944"/>
                    <a:pt x="3502" y="8991"/>
                    <a:pt x="3502" y="9063"/>
                  </a:cubicBezTo>
                  <a:lnTo>
                    <a:pt x="3502" y="9492"/>
                  </a:lnTo>
                  <a:lnTo>
                    <a:pt x="3120" y="9253"/>
                  </a:lnTo>
                  <a:lnTo>
                    <a:pt x="3954" y="7682"/>
                  </a:lnTo>
                  <a:close/>
                  <a:moveTo>
                    <a:pt x="4788" y="8206"/>
                  </a:moveTo>
                  <a:cubicBezTo>
                    <a:pt x="5169" y="8468"/>
                    <a:pt x="5383" y="8896"/>
                    <a:pt x="5383" y="9372"/>
                  </a:cubicBezTo>
                  <a:lnTo>
                    <a:pt x="5383" y="11778"/>
                  </a:lnTo>
                  <a:cubicBezTo>
                    <a:pt x="5383" y="11992"/>
                    <a:pt x="5240" y="12135"/>
                    <a:pt x="5049" y="12135"/>
                  </a:cubicBezTo>
                  <a:lnTo>
                    <a:pt x="3073" y="12135"/>
                  </a:lnTo>
                  <a:lnTo>
                    <a:pt x="3073" y="9658"/>
                  </a:lnTo>
                  <a:lnTo>
                    <a:pt x="3597" y="9968"/>
                  </a:lnTo>
                  <a:cubicBezTo>
                    <a:pt x="3621" y="9980"/>
                    <a:pt x="3650" y="9986"/>
                    <a:pt x="3680" y="9986"/>
                  </a:cubicBezTo>
                  <a:cubicBezTo>
                    <a:pt x="3710" y="9986"/>
                    <a:pt x="3740" y="9980"/>
                    <a:pt x="3763" y="9968"/>
                  </a:cubicBezTo>
                  <a:cubicBezTo>
                    <a:pt x="3835" y="9944"/>
                    <a:pt x="3859" y="9873"/>
                    <a:pt x="3859" y="9801"/>
                  </a:cubicBezTo>
                  <a:lnTo>
                    <a:pt x="3859" y="9325"/>
                  </a:lnTo>
                  <a:lnTo>
                    <a:pt x="4240" y="9492"/>
                  </a:lnTo>
                  <a:cubicBezTo>
                    <a:pt x="4264" y="9503"/>
                    <a:pt x="4287" y="9509"/>
                    <a:pt x="4311" y="9509"/>
                  </a:cubicBezTo>
                  <a:cubicBezTo>
                    <a:pt x="4335" y="9509"/>
                    <a:pt x="4359" y="9503"/>
                    <a:pt x="4383" y="9492"/>
                  </a:cubicBezTo>
                  <a:cubicBezTo>
                    <a:pt x="4430" y="9468"/>
                    <a:pt x="4478" y="9420"/>
                    <a:pt x="4478" y="9372"/>
                  </a:cubicBezTo>
                  <a:lnTo>
                    <a:pt x="4788" y="8206"/>
                  </a:lnTo>
                  <a:close/>
                  <a:moveTo>
                    <a:pt x="2386" y="0"/>
                  </a:moveTo>
                  <a:cubicBezTo>
                    <a:pt x="2275" y="0"/>
                    <a:pt x="2166" y="31"/>
                    <a:pt x="2073" y="85"/>
                  </a:cubicBezTo>
                  <a:cubicBezTo>
                    <a:pt x="1882" y="180"/>
                    <a:pt x="1787" y="371"/>
                    <a:pt x="1787" y="585"/>
                  </a:cubicBezTo>
                  <a:lnTo>
                    <a:pt x="1787" y="871"/>
                  </a:lnTo>
                  <a:cubicBezTo>
                    <a:pt x="1596" y="942"/>
                    <a:pt x="1430" y="1037"/>
                    <a:pt x="1263" y="1180"/>
                  </a:cubicBezTo>
                  <a:cubicBezTo>
                    <a:pt x="1192" y="1252"/>
                    <a:pt x="1192" y="1371"/>
                    <a:pt x="1263" y="1442"/>
                  </a:cubicBezTo>
                  <a:cubicBezTo>
                    <a:pt x="1311" y="1466"/>
                    <a:pt x="1358" y="1490"/>
                    <a:pt x="1406" y="1490"/>
                  </a:cubicBezTo>
                  <a:cubicBezTo>
                    <a:pt x="1453" y="1490"/>
                    <a:pt x="1477" y="1466"/>
                    <a:pt x="1525" y="1442"/>
                  </a:cubicBezTo>
                  <a:cubicBezTo>
                    <a:pt x="1620" y="1347"/>
                    <a:pt x="1715" y="1276"/>
                    <a:pt x="1835" y="1228"/>
                  </a:cubicBezTo>
                  <a:cubicBezTo>
                    <a:pt x="1906" y="1347"/>
                    <a:pt x="2001" y="1442"/>
                    <a:pt x="2144" y="1466"/>
                  </a:cubicBezTo>
                  <a:lnTo>
                    <a:pt x="2763" y="1633"/>
                  </a:lnTo>
                  <a:cubicBezTo>
                    <a:pt x="2811" y="1657"/>
                    <a:pt x="2835" y="1657"/>
                    <a:pt x="2882" y="1657"/>
                  </a:cubicBezTo>
                  <a:cubicBezTo>
                    <a:pt x="2930" y="1657"/>
                    <a:pt x="2978" y="1657"/>
                    <a:pt x="3001" y="1633"/>
                  </a:cubicBezTo>
                  <a:lnTo>
                    <a:pt x="3621" y="1466"/>
                  </a:lnTo>
                  <a:cubicBezTo>
                    <a:pt x="3763" y="1442"/>
                    <a:pt x="3859" y="1347"/>
                    <a:pt x="3930" y="1228"/>
                  </a:cubicBezTo>
                  <a:cubicBezTo>
                    <a:pt x="4359" y="1418"/>
                    <a:pt x="4621" y="1871"/>
                    <a:pt x="4549" y="2347"/>
                  </a:cubicBezTo>
                  <a:cubicBezTo>
                    <a:pt x="4526" y="2514"/>
                    <a:pt x="4478" y="2681"/>
                    <a:pt x="4406" y="2824"/>
                  </a:cubicBezTo>
                  <a:cubicBezTo>
                    <a:pt x="4306" y="2829"/>
                    <a:pt x="4209" y="2832"/>
                    <a:pt x="4115" y="2832"/>
                  </a:cubicBezTo>
                  <a:cubicBezTo>
                    <a:pt x="3452" y="2832"/>
                    <a:pt x="2951" y="2684"/>
                    <a:pt x="2597" y="2371"/>
                  </a:cubicBezTo>
                  <a:cubicBezTo>
                    <a:pt x="2525" y="2300"/>
                    <a:pt x="2454" y="2300"/>
                    <a:pt x="2382" y="2300"/>
                  </a:cubicBezTo>
                  <a:cubicBezTo>
                    <a:pt x="2311" y="2300"/>
                    <a:pt x="2239" y="2347"/>
                    <a:pt x="2216" y="2419"/>
                  </a:cubicBezTo>
                  <a:cubicBezTo>
                    <a:pt x="2049" y="2633"/>
                    <a:pt x="1787" y="2776"/>
                    <a:pt x="1358" y="2824"/>
                  </a:cubicBezTo>
                  <a:cubicBezTo>
                    <a:pt x="1287" y="2657"/>
                    <a:pt x="1239" y="2514"/>
                    <a:pt x="1215" y="2371"/>
                  </a:cubicBezTo>
                  <a:cubicBezTo>
                    <a:pt x="1192" y="2252"/>
                    <a:pt x="1192" y="2109"/>
                    <a:pt x="1215" y="1990"/>
                  </a:cubicBezTo>
                  <a:cubicBezTo>
                    <a:pt x="1239" y="1895"/>
                    <a:pt x="1168" y="1800"/>
                    <a:pt x="1072" y="1776"/>
                  </a:cubicBezTo>
                  <a:cubicBezTo>
                    <a:pt x="1060" y="1773"/>
                    <a:pt x="1047" y="1771"/>
                    <a:pt x="1035" y="1771"/>
                  </a:cubicBezTo>
                  <a:cubicBezTo>
                    <a:pt x="953" y="1771"/>
                    <a:pt x="879" y="1836"/>
                    <a:pt x="858" y="1919"/>
                  </a:cubicBezTo>
                  <a:cubicBezTo>
                    <a:pt x="834" y="2085"/>
                    <a:pt x="834" y="2276"/>
                    <a:pt x="858" y="2443"/>
                  </a:cubicBezTo>
                  <a:cubicBezTo>
                    <a:pt x="906" y="2633"/>
                    <a:pt x="953" y="2847"/>
                    <a:pt x="1049" y="3038"/>
                  </a:cubicBezTo>
                  <a:lnTo>
                    <a:pt x="1049" y="4467"/>
                  </a:lnTo>
                  <a:cubicBezTo>
                    <a:pt x="1049" y="5134"/>
                    <a:pt x="1406" y="5705"/>
                    <a:pt x="1954" y="6038"/>
                  </a:cubicBezTo>
                  <a:lnTo>
                    <a:pt x="1954" y="6443"/>
                  </a:lnTo>
                  <a:cubicBezTo>
                    <a:pt x="1739" y="6443"/>
                    <a:pt x="1573" y="6610"/>
                    <a:pt x="1573" y="6824"/>
                  </a:cubicBezTo>
                  <a:lnTo>
                    <a:pt x="1573" y="7062"/>
                  </a:lnTo>
                  <a:cubicBezTo>
                    <a:pt x="1573" y="7158"/>
                    <a:pt x="1620" y="7253"/>
                    <a:pt x="1692" y="7324"/>
                  </a:cubicBezTo>
                  <a:cubicBezTo>
                    <a:pt x="1620" y="7372"/>
                    <a:pt x="1573" y="7420"/>
                    <a:pt x="1525" y="7444"/>
                  </a:cubicBezTo>
                  <a:cubicBezTo>
                    <a:pt x="1430" y="7515"/>
                    <a:pt x="1144" y="7682"/>
                    <a:pt x="858" y="7848"/>
                  </a:cubicBezTo>
                  <a:cubicBezTo>
                    <a:pt x="334" y="8158"/>
                    <a:pt x="1" y="8753"/>
                    <a:pt x="1" y="9372"/>
                  </a:cubicBezTo>
                  <a:lnTo>
                    <a:pt x="1" y="11778"/>
                  </a:lnTo>
                  <a:cubicBezTo>
                    <a:pt x="1" y="12183"/>
                    <a:pt x="334" y="12492"/>
                    <a:pt x="715" y="12492"/>
                  </a:cubicBezTo>
                  <a:lnTo>
                    <a:pt x="1644" y="12492"/>
                  </a:lnTo>
                  <a:cubicBezTo>
                    <a:pt x="1739" y="12492"/>
                    <a:pt x="1811" y="12421"/>
                    <a:pt x="1811" y="12325"/>
                  </a:cubicBezTo>
                  <a:cubicBezTo>
                    <a:pt x="1811" y="12230"/>
                    <a:pt x="1739" y="12135"/>
                    <a:pt x="1644" y="12135"/>
                  </a:cubicBezTo>
                  <a:lnTo>
                    <a:pt x="715" y="12135"/>
                  </a:lnTo>
                  <a:cubicBezTo>
                    <a:pt x="525" y="12135"/>
                    <a:pt x="382" y="11992"/>
                    <a:pt x="382" y="11778"/>
                  </a:cubicBezTo>
                  <a:lnTo>
                    <a:pt x="382" y="9372"/>
                  </a:lnTo>
                  <a:cubicBezTo>
                    <a:pt x="382" y="8896"/>
                    <a:pt x="596" y="8468"/>
                    <a:pt x="977" y="8206"/>
                  </a:cubicBezTo>
                  <a:lnTo>
                    <a:pt x="1263" y="9372"/>
                  </a:lnTo>
                  <a:cubicBezTo>
                    <a:pt x="1287" y="9420"/>
                    <a:pt x="1311" y="9468"/>
                    <a:pt x="1358" y="9492"/>
                  </a:cubicBezTo>
                  <a:cubicBezTo>
                    <a:pt x="1382" y="9503"/>
                    <a:pt x="1412" y="9509"/>
                    <a:pt x="1442" y="9509"/>
                  </a:cubicBezTo>
                  <a:cubicBezTo>
                    <a:pt x="1471" y="9509"/>
                    <a:pt x="1501" y="9503"/>
                    <a:pt x="1525" y="9492"/>
                  </a:cubicBezTo>
                  <a:lnTo>
                    <a:pt x="1882" y="9325"/>
                  </a:lnTo>
                  <a:lnTo>
                    <a:pt x="1882" y="9801"/>
                  </a:lnTo>
                  <a:cubicBezTo>
                    <a:pt x="1882" y="9873"/>
                    <a:pt x="1930" y="9944"/>
                    <a:pt x="1977" y="9968"/>
                  </a:cubicBezTo>
                  <a:cubicBezTo>
                    <a:pt x="2013" y="9980"/>
                    <a:pt x="2049" y="9986"/>
                    <a:pt x="2082" y="9986"/>
                  </a:cubicBezTo>
                  <a:cubicBezTo>
                    <a:pt x="2114" y="9986"/>
                    <a:pt x="2144" y="9980"/>
                    <a:pt x="2168" y="9968"/>
                  </a:cubicBezTo>
                  <a:lnTo>
                    <a:pt x="2692" y="9634"/>
                  </a:lnTo>
                  <a:lnTo>
                    <a:pt x="2692" y="12135"/>
                  </a:lnTo>
                  <a:lnTo>
                    <a:pt x="2358" y="12135"/>
                  </a:lnTo>
                  <a:cubicBezTo>
                    <a:pt x="2263" y="12135"/>
                    <a:pt x="2192" y="12230"/>
                    <a:pt x="2192" y="12325"/>
                  </a:cubicBezTo>
                  <a:cubicBezTo>
                    <a:pt x="2192" y="12421"/>
                    <a:pt x="2263" y="12516"/>
                    <a:pt x="2358" y="12516"/>
                  </a:cubicBezTo>
                  <a:lnTo>
                    <a:pt x="5049" y="12516"/>
                  </a:lnTo>
                  <a:cubicBezTo>
                    <a:pt x="5430" y="12516"/>
                    <a:pt x="5764" y="12183"/>
                    <a:pt x="5764" y="11802"/>
                  </a:cubicBezTo>
                  <a:lnTo>
                    <a:pt x="5764" y="9372"/>
                  </a:lnTo>
                  <a:cubicBezTo>
                    <a:pt x="5764" y="8753"/>
                    <a:pt x="5430" y="8158"/>
                    <a:pt x="4907" y="7848"/>
                  </a:cubicBezTo>
                  <a:cubicBezTo>
                    <a:pt x="4716" y="7729"/>
                    <a:pt x="4478" y="7586"/>
                    <a:pt x="4240" y="7444"/>
                  </a:cubicBezTo>
                  <a:cubicBezTo>
                    <a:pt x="4192" y="7420"/>
                    <a:pt x="4145" y="7372"/>
                    <a:pt x="4073" y="7324"/>
                  </a:cubicBezTo>
                  <a:cubicBezTo>
                    <a:pt x="4145" y="7253"/>
                    <a:pt x="4192" y="7158"/>
                    <a:pt x="4192" y="7062"/>
                  </a:cubicBezTo>
                  <a:lnTo>
                    <a:pt x="4192" y="7039"/>
                  </a:lnTo>
                  <a:lnTo>
                    <a:pt x="4907" y="7158"/>
                  </a:lnTo>
                  <a:lnTo>
                    <a:pt x="4930" y="7158"/>
                  </a:lnTo>
                  <a:cubicBezTo>
                    <a:pt x="5026" y="7158"/>
                    <a:pt x="5097" y="7086"/>
                    <a:pt x="5121" y="6991"/>
                  </a:cubicBezTo>
                  <a:cubicBezTo>
                    <a:pt x="5121" y="6896"/>
                    <a:pt x="5049" y="6801"/>
                    <a:pt x="4954" y="6777"/>
                  </a:cubicBezTo>
                  <a:lnTo>
                    <a:pt x="4478" y="6705"/>
                  </a:lnTo>
                  <a:lnTo>
                    <a:pt x="4502" y="6681"/>
                  </a:lnTo>
                  <a:cubicBezTo>
                    <a:pt x="4573" y="6634"/>
                    <a:pt x="4597" y="6515"/>
                    <a:pt x="4549" y="6420"/>
                  </a:cubicBezTo>
                  <a:cubicBezTo>
                    <a:pt x="4508" y="6378"/>
                    <a:pt x="4450" y="6353"/>
                    <a:pt x="4395" y="6353"/>
                  </a:cubicBezTo>
                  <a:cubicBezTo>
                    <a:pt x="4356" y="6353"/>
                    <a:pt x="4317" y="6366"/>
                    <a:pt x="4287" y="6396"/>
                  </a:cubicBezTo>
                  <a:lnTo>
                    <a:pt x="4073" y="6539"/>
                  </a:lnTo>
                  <a:cubicBezTo>
                    <a:pt x="4002" y="6491"/>
                    <a:pt x="3930" y="6443"/>
                    <a:pt x="3811" y="6443"/>
                  </a:cubicBezTo>
                  <a:lnTo>
                    <a:pt x="3811" y="6038"/>
                  </a:lnTo>
                  <a:cubicBezTo>
                    <a:pt x="4049" y="5896"/>
                    <a:pt x="4264" y="5705"/>
                    <a:pt x="4406" y="5467"/>
                  </a:cubicBezTo>
                  <a:cubicBezTo>
                    <a:pt x="4478" y="5372"/>
                    <a:pt x="4454" y="5253"/>
                    <a:pt x="4359" y="5205"/>
                  </a:cubicBezTo>
                  <a:cubicBezTo>
                    <a:pt x="4334" y="5188"/>
                    <a:pt x="4302" y="5180"/>
                    <a:pt x="4269" y="5180"/>
                  </a:cubicBezTo>
                  <a:cubicBezTo>
                    <a:pt x="4209" y="5180"/>
                    <a:pt x="4143" y="5206"/>
                    <a:pt x="4097" y="5253"/>
                  </a:cubicBezTo>
                  <a:cubicBezTo>
                    <a:pt x="3835" y="5681"/>
                    <a:pt x="3382" y="5919"/>
                    <a:pt x="2882" y="5919"/>
                  </a:cubicBezTo>
                  <a:cubicBezTo>
                    <a:pt x="2073" y="5919"/>
                    <a:pt x="1430" y="5276"/>
                    <a:pt x="1430" y="4467"/>
                  </a:cubicBezTo>
                  <a:lnTo>
                    <a:pt x="1430" y="3181"/>
                  </a:lnTo>
                  <a:cubicBezTo>
                    <a:pt x="1882" y="3109"/>
                    <a:pt x="2216" y="2966"/>
                    <a:pt x="2430" y="2704"/>
                  </a:cubicBezTo>
                  <a:cubicBezTo>
                    <a:pt x="2859" y="3038"/>
                    <a:pt x="3406" y="3205"/>
                    <a:pt x="4145" y="3205"/>
                  </a:cubicBezTo>
                  <a:lnTo>
                    <a:pt x="4335" y="3205"/>
                  </a:lnTo>
                  <a:lnTo>
                    <a:pt x="4335" y="4467"/>
                  </a:lnTo>
                  <a:cubicBezTo>
                    <a:pt x="4335" y="4514"/>
                    <a:pt x="4335" y="4586"/>
                    <a:pt x="4335" y="4657"/>
                  </a:cubicBezTo>
                  <a:cubicBezTo>
                    <a:pt x="4311" y="4752"/>
                    <a:pt x="4383" y="4848"/>
                    <a:pt x="4502" y="4848"/>
                  </a:cubicBezTo>
                  <a:lnTo>
                    <a:pt x="4526" y="4848"/>
                  </a:lnTo>
                  <a:cubicBezTo>
                    <a:pt x="4597" y="4848"/>
                    <a:pt x="4692" y="4776"/>
                    <a:pt x="4692" y="4705"/>
                  </a:cubicBezTo>
                  <a:cubicBezTo>
                    <a:pt x="4716" y="4610"/>
                    <a:pt x="4716" y="4538"/>
                    <a:pt x="4716" y="4467"/>
                  </a:cubicBezTo>
                  <a:lnTo>
                    <a:pt x="4716" y="3038"/>
                  </a:lnTo>
                  <a:cubicBezTo>
                    <a:pt x="4811" y="2847"/>
                    <a:pt x="4883" y="2609"/>
                    <a:pt x="4907" y="2395"/>
                  </a:cubicBezTo>
                  <a:cubicBezTo>
                    <a:pt x="5026" y="1728"/>
                    <a:pt x="4621" y="1085"/>
                    <a:pt x="3978" y="871"/>
                  </a:cubicBezTo>
                  <a:lnTo>
                    <a:pt x="3978" y="585"/>
                  </a:lnTo>
                  <a:cubicBezTo>
                    <a:pt x="3978" y="371"/>
                    <a:pt x="3883" y="180"/>
                    <a:pt x="3692" y="85"/>
                  </a:cubicBezTo>
                  <a:cubicBezTo>
                    <a:pt x="3598" y="31"/>
                    <a:pt x="3490" y="0"/>
                    <a:pt x="3379" y="0"/>
                  </a:cubicBezTo>
                  <a:cubicBezTo>
                    <a:pt x="3292" y="0"/>
                    <a:pt x="3204" y="19"/>
                    <a:pt x="3120" y="61"/>
                  </a:cubicBezTo>
                  <a:lnTo>
                    <a:pt x="2882" y="204"/>
                  </a:lnTo>
                  <a:lnTo>
                    <a:pt x="2644" y="61"/>
                  </a:lnTo>
                  <a:cubicBezTo>
                    <a:pt x="2561" y="19"/>
                    <a:pt x="2473" y="0"/>
                    <a:pt x="23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16;p74">
              <a:extLst>
                <a:ext uri="{FF2B5EF4-FFF2-40B4-BE49-F238E27FC236}">
                  <a16:creationId xmlns:a16="http://schemas.microsoft.com/office/drawing/2014/main" id="{B49AF5AC-36AE-CA1A-9D35-C78904292D32}"/>
                </a:ext>
              </a:extLst>
            </p:cNvPr>
            <p:cNvSpPr/>
            <p:nvPr/>
          </p:nvSpPr>
          <p:spPr>
            <a:xfrm>
              <a:off x="5583903" y="2884349"/>
              <a:ext cx="39299" cy="16420"/>
            </a:xfrm>
            <a:custGeom>
              <a:avLst/>
              <a:gdLst/>
              <a:ahLst/>
              <a:cxnLst/>
              <a:rect l="l" t="t" r="r" b="b"/>
              <a:pathLst>
                <a:path w="1144" h="478" extrusionOk="0">
                  <a:moveTo>
                    <a:pt x="204" y="0"/>
                  </a:moveTo>
                  <a:cubicBezTo>
                    <a:pt x="140" y="0"/>
                    <a:pt x="79" y="27"/>
                    <a:pt x="48" y="73"/>
                  </a:cubicBezTo>
                  <a:cubicBezTo>
                    <a:pt x="1" y="168"/>
                    <a:pt x="25" y="287"/>
                    <a:pt x="120" y="335"/>
                  </a:cubicBezTo>
                  <a:cubicBezTo>
                    <a:pt x="263" y="430"/>
                    <a:pt x="429" y="478"/>
                    <a:pt x="572" y="478"/>
                  </a:cubicBezTo>
                  <a:cubicBezTo>
                    <a:pt x="715" y="478"/>
                    <a:pt x="882" y="430"/>
                    <a:pt x="1025" y="335"/>
                  </a:cubicBezTo>
                  <a:cubicBezTo>
                    <a:pt x="1120" y="287"/>
                    <a:pt x="1144" y="168"/>
                    <a:pt x="1096" y="73"/>
                  </a:cubicBezTo>
                  <a:cubicBezTo>
                    <a:pt x="1066" y="27"/>
                    <a:pt x="1005" y="0"/>
                    <a:pt x="940" y="0"/>
                  </a:cubicBezTo>
                  <a:cubicBezTo>
                    <a:pt x="905" y="0"/>
                    <a:pt x="868" y="8"/>
                    <a:pt x="834" y="25"/>
                  </a:cubicBezTo>
                  <a:cubicBezTo>
                    <a:pt x="751" y="85"/>
                    <a:pt x="662" y="114"/>
                    <a:pt x="572" y="114"/>
                  </a:cubicBezTo>
                  <a:cubicBezTo>
                    <a:pt x="483" y="114"/>
                    <a:pt x="394" y="85"/>
                    <a:pt x="310" y="25"/>
                  </a:cubicBezTo>
                  <a:cubicBezTo>
                    <a:pt x="277" y="8"/>
                    <a:pt x="240" y="0"/>
                    <a:pt x="2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17;p74">
              <a:extLst>
                <a:ext uri="{FF2B5EF4-FFF2-40B4-BE49-F238E27FC236}">
                  <a16:creationId xmlns:a16="http://schemas.microsoft.com/office/drawing/2014/main" id="{80CA3443-2E64-AC25-CD11-5C64A23D9D32}"/>
                </a:ext>
              </a:extLst>
            </p:cNvPr>
            <p:cNvSpPr/>
            <p:nvPr/>
          </p:nvSpPr>
          <p:spPr>
            <a:xfrm>
              <a:off x="5572464" y="2846733"/>
              <a:ext cx="12298" cy="18860"/>
            </a:xfrm>
            <a:custGeom>
              <a:avLst/>
              <a:gdLst/>
              <a:ahLst/>
              <a:cxnLst/>
              <a:rect l="l" t="t" r="r" b="b"/>
              <a:pathLst>
                <a:path w="358" h="549" extrusionOk="0">
                  <a:moveTo>
                    <a:pt x="167" y="1"/>
                  </a:moveTo>
                  <a:cubicBezTo>
                    <a:pt x="72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72" y="549"/>
                    <a:pt x="167" y="549"/>
                  </a:cubicBezTo>
                  <a:cubicBezTo>
                    <a:pt x="262" y="549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18;p74">
              <a:extLst>
                <a:ext uri="{FF2B5EF4-FFF2-40B4-BE49-F238E27FC236}">
                  <a16:creationId xmlns:a16="http://schemas.microsoft.com/office/drawing/2014/main" id="{D19F7256-23F3-FCA4-1EB4-702B08F85128}"/>
                </a:ext>
              </a:extLst>
            </p:cNvPr>
            <p:cNvSpPr/>
            <p:nvPr/>
          </p:nvSpPr>
          <p:spPr>
            <a:xfrm>
              <a:off x="5622378" y="2846733"/>
              <a:ext cx="13123" cy="18860"/>
            </a:xfrm>
            <a:custGeom>
              <a:avLst/>
              <a:gdLst/>
              <a:ahLst/>
              <a:cxnLst/>
              <a:rect l="l" t="t" r="r" b="b"/>
              <a:pathLst>
                <a:path w="382" h="549" extrusionOk="0">
                  <a:moveTo>
                    <a:pt x="191" y="1"/>
                  </a:moveTo>
                  <a:cubicBezTo>
                    <a:pt x="95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95" y="549"/>
                    <a:pt x="191" y="549"/>
                  </a:cubicBezTo>
                  <a:cubicBezTo>
                    <a:pt x="286" y="549"/>
                    <a:pt x="381" y="453"/>
                    <a:pt x="381" y="358"/>
                  </a:cubicBezTo>
                  <a:lnTo>
                    <a:pt x="381" y="191"/>
                  </a:lnTo>
                  <a:cubicBezTo>
                    <a:pt x="381" y="72"/>
                    <a:pt x="286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19;p74">
              <a:extLst>
                <a:ext uri="{FF2B5EF4-FFF2-40B4-BE49-F238E27FC236}">
                  <a16:creationId xmlns:a16="http://schemas.microsoft.com/office/drawing/2014/main" id="{C8450EDE-2560-FF87-6A04-74AAA6D5D092}"/>
                </a:ext>
              </a:extLst>
            </p:cNvPr>
            <p:cNvSpPr/>
            <p:nvPr/>
          </p:nvSpPr>
          <p:spPr>
            <a:xfrm>
              <a:off x="5627256" y="3072532"/>
              <a:ext cx="39334" cy="12298"/>
            </a:xfrm>
            <a:custGeom>
              <a:avLst/>
              <a:gdLst/>
              <a:ahLst/>
              <a:cxnLst/>
              <a:rect l="l" t="t" r="r" b="b"/>
              <a:pathLst>
                <a:path w="1145" h="35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954" y="358"/>
                  </a:lnTo>
                  <a:cubicBezTo>
                    <a:pt x="1049" y="358"/>
                    <a:pt x="1144" y="286"/>
                    <a:pt x="1144" y="191"/>
                  </a:cubicBezTo>
                  <a:cubicBezTo>
                    <a:pt x="1144" y="96"/>
                    <a:pt x="1049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7498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Business Insights</a:t>
            </a:r>
            <a:endParaRPr/>
          </a:p>
        </p:txBody>
      </p:sp>
      <p:sp>
        <p:nvSpPr>
          <p:cNvPr id="953" name="Google Shape;953;p66"/>
          <p:cNvSpPr txBox="1">
            <a:spLocks noGrp="1"/>
          </p:cNvSpPr>
          <p:nvPr>
            <p:ph type="title" idx="2"/>
          </p:nvPr>
        </p:nvSpPr>
        <p:spPr>
          <a:xfrm>
            <a:off x="1665433" y="1517171"/>
            <a:ext cx="3873218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 Needs Across Segments</a:t>
            </a:r>
            <a:endParaRPr/>
          </a:p>
        </p:txBody>
      </p:sp>
      <p:sp>
        <p:nvSpPr>
          <p:cNvPr id="954" name="Google Shape;954;p66"/>
          <p:cNvSpPr txBox="1">
            <a:spLocks noGrp="1"/>
          </p:cNvSpPr>
          <p:nvPr>
            <p:ph type="subTitle" idx="1"/>
          </p:nvPr>
        </p:nvSpPr>
        <p:spPr>
          <a:xfrm>
            <a:off x="1665434" y="1881259"/>
            <a:ext cx="6765466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Service attributes do not have equal impact across segments, indicating different customer priorities</a:t>
            </a:r>
            <a:endParaRPr/>
          </a:p>
        </p:txBody>
      </p:sp>
      <p:sp>
        <p:nvSpPr>
          <p:cNvPr id="959" name="Google Shape;959;p66"/>
          <p:cNvSpPr txBox="1">
            <a:spLocks noGrp="1"/>
          </p:cNvSpPr>
          <p:nvPr>
            <p:ph type="title" idx="7"/>
          </p:nvPr>
        </p:nvSpPr>
        <p:spPr>
          <a:xfrm>
            <a:off x="1665434" y="2627736"/>
            <a:ext cx="3304982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Delay as a Secondary Factor</a:t>
            </a:r>
            <a:endParaRPr/>
          </a:p>
        </p:txBody>
      </p:sp>
      <p:sp>
        <p:nvSpPr>
          <p:cNvPr id="960" name="Google Shape;960;p66"/>
          <p:cNvSpPr txBox="1">
            <a:spLocks noGrp="1"/>
          </p:cNvSpPr>
          <p:nvPr>
            <p:ph type="subTitle" idx="8"/>
          </p:nvPr>
        </p:nvSpPr>
        <p:spPr>
          <a:xfrm>
            <a:off x="1665434" y="2992109"/>
            <a:ext cx="6765466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Flight delays negatively affect satisfaction but are not the primary determinant</a:t>
            </a:r>
            <a:endParaRPr/>
          </a:p>
        </p:txBody>
      </p:sp>
      <p:sp>
        <p:nvSpPr>
          <p:cNvPr id="965" name="Google Shape;965;p66"/>
          <p:cNvSpPr/>
          <p:nvPr/>
        </p:nvSpPr>
        <p:spPr>
          <a:xfrm>
            <a:off x="712374" y="162870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66"/>
          <p:cNvSpPr/>
          <p:nvPr/>
        </p:nvSpPr>
        <p:spPr>
          <a:xfrm>
            <a:off x="712374" y="2740031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385;p74">
            <a:extLst>
              <a:ext uri="{FF2B5EF4-FFF2-40B4-BE49-F238E27FC236}">
                <a16:creationId xmlns:a16="http://schemas.microsoft.com/office/drawing/2014/main" id="{8F1A83DD-45AF-67CB-0D66-BB65CECB9A77}"/>
              </a:ext>
            </a:extLst>
          </p:cNvPr>
          <p:cNvGrpSpPr/>
          <p:nvPr/>
        </p:nvGrpSpPr>
        <p:grpSpPr>
          <a:xfrm>
            <a:off x="863809" y="1798218"/>
            <a:ext cx="428719" cy="396806"/>
            <a:chOff x="1994136" y="3380949"/>
            <a:chExt cx="428719" cy="396806"/>
          </a:xfrm>
          <a:solidFill>
            <a:schemeClr val="bg1"/>
          </a:solidFill>
        </p:grpSpPr>
        <p:sp>
          <p:nvSpPr>
            <p:cNvPr id="7" name="Google Shape;1386;p74">
              <a:extLst>
                <a:ext uri="{FF2B5EF4-FFF2-40B4-BE49-F238E27FC236}">
                  <a16:creationId xmlns:a16="http://schemas.microsoft.com/office/drawing/2014/main" id="{CFDCC503-7E1B-D6A3-B70F-0C8A866E6FD6}"/>
                </a:ext>
              </a:extLst>
            </p:cNvPr>
            <p:cNvSpPr/>
            <p:nvPr/>
          </p:nvSpPr>
          <p:spPr>
            <a:xfrm>
              <a:off x="2021137" y="3482392"/>
              <a:ext cx="90038" cy="63861"/>
            </a:xfrm>
            <a:custGeom>
              <a:avLst/>
              <a:gdLst/>
              <a:ahLst/>
              <a:cxnLst/>
              <a:rect l="l" t="t" r="r" b="b"/>
              <a:pathLst>
                <a:path w="2621" h="1859" extrusionOk="0">
                  <a:moveTo>
                    <a:pt x="2410" y="1"/>
                  </a:moveTo>
                  <a:cubicBezTo>
                    <a:pt x="2377" y="1"/>
                    <a:pt x="2342" y="9"/>
                    <a:pt x="2311" y="24"/>
                  </a:cubicBezTo>
                  <a:lnTo>
                    <a:pt x="1525" y="453"/>
                  </a:lnTo>
                  <a:lnTo>
                    <a:pt x="668" y="72"/>
                  </a:lnTo>
                  <a:cubicBezTo>
                    <a:pt x="636" y="56"/>
                    <a:pt x="604" y="48"/>
                    <a:pt x="574" y="48"/>
                  </a:cubicBezTo>
                  <a:cubicBezTo>
                    <a:pt x="514" y="48"/>
                    <a:pt x="461" y="80"/>
                    <a:pt x="429" y="143"/>
                  </a:cubicBezTo>
                  <a:cubicBezTo>
                    <a:pt x="382" y="239"/>
                    <a:pt x="429" y="358"/>
                    <a:pt x="525" y="405"/>
                  </a:cubicBezTo>
                  <a:lnTo>
                    <a:pt x="1144" y="691"/>
                  </a:lnTo>
                  <a:lnTo>
                    <a:pt x="548" y="1001"/>
                  </a:lnTo>
                  <a:lnTo>
                    <a:pt x="358" y="620"/>
                  </a:lnTo>
                  <a:cubicBezTo>
                    <a:pt x="323" y="550"/>
                    <a:pt x="263" y="506"/>
                    <a:pt x="195" y="506"/>
                  </a:cubicBezTo>
                  <a:cubicBezTo>
                    <a:pt x="171" y="506"/>
                    <a:pt x="145" y="512"/>
                    <a:pt x="120" y="525"/>
                  </a:cubicBezTo>
                  <a:cubicBezTo>
                    <a:pt x="25" y="572"/>
                    <a:pt x="1" y="667"/>
                    <a:pt x="25" y="763"/>
                  </a:cubicBezTo>
                  <a:lnTo>
                    <a:pt x="310" y="1334"/>
                  </a:lnTo>
                  <a:cubicBezTo>
                    <a:pt x="334" y="1382"/>
                    <a:pt x="382" y="1429"/>
                    <a:pt x="429" y="1429"/>
                  </a:cubicBezTo>
                  <a:cubicBezTo>
                    <a:pt x="453" y="1429"/>
                    <a:pt x="453" y="1453"/>
                    <a:pt x="477" y="1453"/>
                  </a:cubicBezTo>
                  <a:cubicBezTo>
                    <a:pt x="501" y="1453"/>
                    <a:pt x="548" y="1429"/>
                    <a:pt x="572" y="1429"/>
                  </a:cubicBezTo>
                  <a:lnTo>
                    <a:pt x="1263" y="1025"/>
                  </a:lnTo>
                  <a:lnTo>
                    <a:pt x="1120" y="1620"/>
                  </a:lnTo>
                  <a:cubicBezTo>
                    <a:pt x="1096" y="1715"/>
                    <a:pt x="1144" y="1811"/>
                    <a:pt x="1239" y="1858"/>
                  </a:cubicBezTo>
                  <a:lnTo>
                    <a:pt x="1287" y="1858"/>
                  </a:lnTo>
                  <a:cubicBezTo>
                    <a:pt x="1358" y="1858"/>
                    <a:pt x="1453" y="1787"/>
                    <a:pt x="1453" y="1715"/>
                  </a:cubicBezTo>
                  <a:lnTo>
                    <a:pt x="1692" y="786"/>
                  </a:lnTo>
                  <a:lnTo>
                    <a:pt x="2501" y="334"/>
                  </a:lnTo>
                  <a:cubicBezTo>
                    <a:pt x="2573" y="286"/>
                    <a:pt x="2620" y="191"/>
                    <a:pt x="2573" y="96"/>
                  </a:cubicBezTo>
                  <a:cubicBezTo>
                    <a:pt x="2541" y="32"/>
                    <a:pt x="2477" y="1"/>
                    <a:pt x="24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87;p74">
              <a:extLst>
                <a:ext uri="{FF2B5EF4-FFF2-40B4-BE49-F238E27FC236}">
                  <a16:creationId xmlns:a16="http://schemas.microsoft.com/office/drawing/2014/main" id="{168539F7-DD2C-5ED3-0949-CAA737B845BF}"/>
                </a:ext>
              </a:extLst>
            </p:cNvPr>
            <p:cNvSpPr/>
            <p:nvPr/>
          </p:nvSpPr>
          <p:spPr>
            <a:xfrm>
              <a:off x="2346730" y="3484521"/>
              <a:ext cx="49124" cy="51082"/>
            </a:xfrm>
            <a:custGeom>
              <a:avLst/>
              <a:gdLst/>
              <a:ahLst/>
              <a:cxnLst/>
              <a:rect l="l" t="t" r="r" b="b"/>
              <a:pathLst>
                <a:path w="1430" h="1487" extrusionOk="0">
                  <a:moveTo>
                    <a:pt x="770" y="1"/>
                  </a:moveTo>
                  <a:cubicBezTo>
                    <a:pt x="730" y="1"/>
                    <a:pt x="687" y="12"/>
                    <a:pt x="644" y="34"/>
                  </a:cubicBezTo>
                  <a:cubicBezTo>
                    <a:pt x="572" y="105"/>
                    <a:pt x="572" y="224"/>
                    <a:pt x="620" y="296"/>
                  </a:cubicBezTo>
                  <a:lnTo>
                    <a:pt x="834" y="558"/>
                  </a:lnTo>
                  <a:lnTo>
                    <a:pt x="168" y="558"/>
                  </a:lnTo>
                  <a:cubicBezTo>
                    <a:pt x="72" y="558"/>
                    <a:pt x="1" y="629"/>
                    <a:pt x="1" y="748"/>
                  </a:cubicBezTo>
                  <a:cubicBezTo>
                    <a:pt x="1" y="844"/>
                    <a:pt x="72" y="915"/>
                    <a:pt x="168" y="915"/>
                  </a:cubicBezTo>
                  <a:lnTo>
                    <a:pt x="834" y="915"/>
                  </a:lnTo>
                  <a:lnTo>
                    <a:pt x="620" y="1177"/>
                  </a:lnTo>
                  <a:cubicBezTo>
                    <a:pt x="572" y="1248"/>
                    <a:pt x="572" y="1367"/>
                    <a:pt x="644" y="1439"/>
                  </a:cubicBezTo>
                  <a:cubicBezTo>
                    <a:pt x="691" y="1463"/>
                    <a:pt x="739" y="1487"/>
                    <a:pt x="763" y="1487"/>
                  </a:cubicBezTo>
                  <a:cubicBezTo>
                    <a:pt x="811" y="1487"/>
                    <a:pt x="882" y="1463"/>
                    <a:pt x="906" y="1415"/>
                  </a:cubicBezTo>
                  <a:lnTo>
                    <a:pt x="1382" y="867"/>
                  </a:lnTo>
                  <a:cubicBezTo>
                    <a:pt x="1430" y="796"/>
                    <a:pt x="1430" y="701"/>
                    <a:pt x="1382" y="629"/>
                  </a:cubicBezTo>
                  <a:lnTo>
                    <a:pt x="906" y="58"/>
                  </a:lnTo>
                  <a:cubicBezTo>
                    <a:pt x="866" y="18"/>
                    <a:pt x="820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8;p74">
              <a:extLst>
                <a:ext uri="{FF2B5EF4-FFF2-40B4-BE49-F238E27FC236}">
                  <a16:creationId xmlns:a16="http://schemas.microsoft.com/office/drawing/2014/main" id="{C8824E52-A184-087D-196C-000090431D88}"/>
                </a:ext>
              </a:extLst>
            </p:cNvPr>
            <p:cNvSpPr/>
            <p:nvPr/>
          </p:nvSpPr>
          <p:spPr>
            <a:xfrm>
              <a:off x="2142229" y="3465215"/>
              <a:ext cx="167743" cy="40948"/>
            </a:xfrm>
            <a:custGeom>
              <a:avLst/>
              <a:gdLst/>
              <a:ahLst/>
              <a:cxnLst/>
              <a:rect l="l" t="t" r="r" b="b"/>
              <a:pathLst>
                <a:path w="4883" h="1192" extrusionOk="0">
                  <a:moveTo>
                    <a:pt x="4525" y="382"/>
                  </a:moveTo>
                  <a:lnTo>
                    <a:pt x="4525" y="810"/>
                  </a:lnTo>
                  <a:lnTo>
                    <a:pt x="381" y="810"/>
                  </a:lnTo>
                  <a:lnTo>
                    <a:pt x="381" y="382"/>
                  </a:lnTo>
                  <a:close/>
                  <a:moveTo>
                    <a:pt x="334" y="1"/>
                  </a:moveTo>
                  <a:cubicBezTo>
                    <a:pt x="143" y="1"/>
                    <a:pt x="0" y="143"/>
                    <a:pt x="0" y="334"/>
                  </a:cubicBezTo>
                  <a:lnTo>
                    <a:pt x="0" y="858"/>
                  </a:lnTo>
                  <a:cubicBezTo>
                    <a:pt x="0" y="1048"/>
                    <a:pt x="143" y="1191"/>
                    <a:pt x="334" y="1191"/>
                  </a:cubicBezTo>
                  <a:lnTo>
                    <a:pt x="4549" y="1191"/>
                  </a:lnTo>
                  <a:cubicBezTo>
                    <a:pt x="4739" y="1191"/>
                    <a:pt x="4882" y="1048"/>
                    <a:pt x="4882" y="858"/>
                  </a:cubicBezTo>
                  <a:lnTo>
                    <a:pt x="4882" y="334"/>
                  </a:lnTo>
                  <a:cubicBezTo>
                    <a:pt x="4882" y="143"/>
                    <a:pt x="4739" y="1"/>
                    <a:pt x="45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9;p74">
              <a:extLst>
                <a:ext uri="{FF2B5EF4-FFF2-40B4-BE49-F238E27FC236}">
                  <a16:creationId xmlns:a16="http://schemas.microsoft.com/office/drawing/2014/main" id="{EE48E177-EAD7-6CBB-8254-FC5A0E0712FF}"/>
                </a:ext>
              </a:extLst>
            </p:cNvPr>
            <p:cNvSpPr/>
            <p:nvPr/>
          </p:nvSpPr>
          <p:spPr>
            <a:xfrm>
              <a:off x="2142229" y="3517568"/>
              <a:ext cx="167743" cy="12298"/>
            </a:xfrm>
            <a:custGeom>
              <a:avLst/>
              <a:gdLst/>
              <a:ahLst/>
              <a:cxnLst/>
              <a:rect l="l" t="t" r="r" b="b"/>
              <a:pathLst>
                <a:path w="4883" h="358" extrusionOk="0">
                  <a:moveTo>
                    <a:pt x="191" y="1"/>
                  </a:moveTo>
                  <a:cubicBezTo>
                    <a:pt x="96" y="1"/>
                    <a:pt x="0" y="72"/>
                    <a:pt x="0" y="167"/>
                  </a:cubicBezTo>
                  <a:cubicBezTo>
                    <a:pt x="0" y="286"/>
                    <a:pt x="96" y="358"/>
                    <a:pt x="191" y="358"/>
                  </a:cubicBezTo>
                  <a:lnTo>
                    <a:pt x="4692" y="358"/>
                  </a:lnTo>
                  <a:cubicBezTo>
                    <a:pt x="4811" y="358"/>
                    <a:pt x="4882" y="286"/>
                    <a:pt x="4882" y="167"/>
                  </a:cubicBezTo>
                  <a:cubicBezTo>
                    <a:pt x="4882" y="72"/>
                    <a:pt x="4811" y="1"/>
                    <a:pt x="46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90;p74">
              <a:extLst>
                <a:ext uri="{FF2B5EF4-FFF2-40B4-BE49-F238E27FC236}">
                  <a16:creationId xmlns:a16="http://schemas.microsoft.com/office/drawing/2014/main" id="{F4AC6C56-1414-023A-8BA0-885708D5E4B8}"/>
                </a:ext>
              </a:extLst>
            </p:cNvPr>
            <p:cNvSpPr/>
            <p:nvPr/>
          </p:nvSpPr>
          <p:spPr>
            <a:xfrm>
              <a:off x="2254287" y="3542131"/>
              <a:ext cx="55685" cy="12298"/>
            </a:xfrm>
            <a:custGeom>
              <a:avLst/>
              <a:gdLst/>
              <a:ahLst/>
              <a:cxnLst/>
              <a:rect l="l" t="t" r="r" b="b"/>
              <a:pathLst>
                <a:path w="1621" h="358" extrusionOk="0">
                  <a:moveTo>
                    <a:pt x="191" y="0"/>
                  </a:moveTo>
                  <a:cubicBezTo>
                    <a:pt x="96" y="0"/>
                    <a:pt x="1" y="72"/>
                    <a:pt x="1" y="191"/>
                  </a:cubicBezTo>
                  <a:cubicBezTo>
                    <a:pt x="1" y="286"/>
                    <a:pt x="96" y="357"/>
                    <a:pt x="191" y="357"/>
                  </a:cubicBezTo>
                  <a:lnTo>
                    <a:pt x="1430" y="357"/>
                  </a:lnTo>
                  <a:cubicBezTo>
                    <a:pt x="1549" y="357"/>
                    <a:pt x="1620" y="286"/>
                    <a:pt x="1620" y="191"/>
                  </a:cubicBezTo>
                  <a:cubicBezTo>
                    <a:pt x="1620" y="72"/>
                    <a:pt x="1549" y="0"/>
                    <a:pt x="1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91;p74">
              <a:extLst>
                <a:ext uri="{FF2B5EF4-FFF2-40B4-BE49-F238E27FC236}">
                  <a16:creationId xmlns:a16="http://schemas.microsoft.com/office/drawing/2014/main" id="{100E615D-A725-FC19-DA75-FC7155353BF3}"/>
                </a:ext>
              </a:extLst>
            </p:cNvPr>
            <p:cNvSpPr/>
            <p:nvPr/>
          </p:nvSpPr>
          <p:spPr>
            <a:xfrm>
              <a:off x="2142229" y="3542131"/>
              <a:ext cx="87565" cy="12298"/>
            </a:xfrm>
            <a:custGeom>
              <a:avLst/>
              <a:gdLst/>
              <a:ahLst/>
              <a:cxnLst/>
              <a:rect l="l" t="t" r="r" b="b"/>
              <a:pathLst>
                <a:path w="2549" h="358" extrusionOk="0">
                  <a:moveTo>
                    <a:pt x="191" y="0"/>
                  </a:moveTo>
                  <a:cubicBezTo>
                    <a:pt x="96" y="0"/>
                    <a:pt x="0" y="72"/>
                    <a:pt x="0" y="191"/>
                  </a:cubicBezTo>
                  <a:cubicBezTo>
                    <a:pt x="0" y="286"/>
                    <a:pt x="96" y="357"/>
                    <a:pt x="191" y="357"/>
                  </a:cubicBezTo>
                  <a:lnTo>
                    <a:pt x="2358" y="357"/>
                  </a:lnTo>
                  <a:cubicBezTo>
                    <a:pt x="2477" y="357"/>
                    <a:pt x="2548" y="286"/>
                    <a:pt x="2548" y="191"/>
                  </a:cubicBezTo>
                  <a:cubicBezTo>
                    <a:pt x="2548" y="72"/>
                    <a:pt x="2477" y="0"/>
                    <a:pt x="2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92;p74">
              <a:extLst>
                <a:ext uri="{FF2B5EF4-FFF2-40B4-BE49-F238E27FC236}">
                  <a16:creationId xmlns:a16="http://schemas.microsoft.com/office/drawing/2014/main" id="{F31E181E-74A5-7683-8371-3021BCAF0F6A}"/>
                </a:ext>
              </a:extLst>
            </p:cNvPr>
            <p:cNvSpPr/>
            <p:nvPr/>
          </p:nvSpPr>
          <p:spPr>
            <a:xfrm>
              <a:off x="2305850" y="3666246"/>
              <a:ext cx="86740" cy="64445"/>
            </a:xfrm>
            <a:custGeom>
              <a:avLst/>
              <a:gdLst/>
              <a:ahLst/>
              <a:cxnLst/>
              <a:rect l="l" t="t" r="r" b="b"/>
              <a:pathLst>
                <a:path w="2525" h="1876" extrusionOk="0">
                  <a:moveTo>
                    <a:pt x="1523" y="1"/>
                  </a:moveTo>
                  <a:cubicBezTo>
                    <a:pt x="1445" y="1"/>
                    <a:pt x="1373" y="47"/>
                    <a:pt x="1334" y="126"/>
                  </a:cubicBezTo>
                  <a:lnTo>
                    <a:pt x="1024" y="1007"/>
                  </a:lnTo>
                  <a:lnTo>
                    <a:pt x="143" y="1245"/>
                  </a:lnTo>
                  <a:cubicBezTo>
                    <a:pt x="48" y="1293"/>
                    <a:pt x="0" y="1388"/>
                    <a:pt x="24" y="1483"/>
                  </a:cubicBezTo>
                  <a:cubicBezTo>
                    <a:pt x="44" y="1562"/>
                    <a:pt x="112" y="1608"/>
                    <a:pt x="190" y="1608"/>
                  </a:cubicBezTo>
                  <a:cubicBezTo>
                    <a:pt x="206" y="1608"/>
                    <a:pt x="222" y="1606"/>
                    <a:pt x="238" y="1602"/>
                  </a:cubicBezTo>
                  <a:lnTo>
                    <a:pt x="1119" y="1364"/>
                  </a:lnTo>
                  <a:lnTo>
                    <a:pt x="1953" y="1841"/>
                  </a:lnTo>
                  <a:cubicBezTo>
                    <a:pt x="1986" y="1865"/>
                    <a:pt x="2019" y="1876"/>
                    <a:pt x="2051" y="1876"/>
                  </a:cubicBezTo>
                  <a:cubicBezTo>
                    <a:pt x="2109" y="1876"/>
                    <a:pt x="2160" y="1839"/>
                    <a:pt x="2191" y="1793"/>
                  </a:cubicBezTo>
                  <a:cubicBezTo>
                    <a:pt x="2263" y="1698"/>
                    <a:pt x="2215" y="1579"/>
                    <a:pt x="2143" y="1531"/>
                  </a:cubicBezTo>
                  <a:lnTo>
                    <a:pt x="1620" y="1221"/>
                  </a:lnTo>
                  <a:lnTo>
                    <a:pt x="2382" y="1007"/>
                  </a:lnTo>
                  <a:cubicBezTo>
                    <a:pt x="2429" y="983"/>
                    <a:pt x="2453" y="959"/>
                    <a:pt x="2477" y="912"/>
                  </a:cubicBezTo>
                  <a:cubicBezTo>
                    <a:pt x="2501" y="864"/>
                    <a:pt x="2524" y="817"/>
                    <a:pt x="2501" y="769"/>
                  </a:cubicBezTo>
                  <a:lnTo>
                    <a:pt x="2286" y="174"/>
                  </a:lnTo>
                  <a:cubicBezTo>
                    <a:pt x="2267" y="95"/>
                    <a:pt x="2182" y="48"/>
                    <a:pt x="2099" y="48"/>
                  </a:cubicBezTo>
                  <a:cubicBezTo>
                    <a:pt x="2082" y="48"/>
                    <a:pt x="2065" y="50"/>
                    <a:pt x="2048" y="54"/>
                  </a:cubicBezTo>
                  <a:cubicBezTo>
                    <a:pt x="1953" y="78"/>
                    <a:pt x="1905" y="197"/>
                    <a:pt x="1953" y="293"/>
                  </a:cubicBezTo>
                  <a:lnTo>
                    <a:pt x="2096" y="697"/>
                  </a:lnTo>
                  <a:lnTo>
                    <a:pt x="1453" y="888"/>
                  </a:lnTo>
                  <a:lnTo>
                    <a:pt x="1691" y="245"/>
                  </a:lnTo>
                  <a:cubicBezTo>
                    <a:pt x="1715" y="150"/>
                    <a:pt x="1667" y="54"/>
                    <a:pt x="1572" y="7"/>
                  </a:cubicBezTo>
                  <a:cubicBezTo>
                    <a:pt x="1556" y="3"/>
                    <a:pt x="1539" y="1"/>
                    <a:pt x="15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93;p74">
              <a:extLst>
                <a:ext uri="{FF2B5EF4-FFF2-40B4-BE49-F238E27FC236}">
                  <a16:creationId xmlns:a16="http://schemas.microsoft.com/office/drawing/2014/main" id="{73715925-E50D-CD00-7E15-2231FE9610AD}"/>
                </a:ext>
              </a:extLst>
            </p:cNvPr>
            <p:cNvSpPr/>
            <p:nvPr/>
          </p:nvSpPr>
          <p:spPr>
            <a:xfrm>
              <a:off x="2024400" y="3676449"/>
              <a:ext cx="49949" cy="50601"/>
            </a:xfrm>
            <a:custGeom>
              <a:avLst/>
              <a:gdLst/>
              <a:ahLst/>
              <a:cxnLst/>
              <a:rect l="l" t="t" r="r" b="b"/>
              <a:pathLst>
                <a:path w="1454" h="1473" extrusionOk="0">
                  <a:moveTo>
                    <a:pt x="669" y="0"/>
                  </a:moveTo>
                  <a:cubicBezTo>
                    <a:pt x="616" y="0"/>
                    <a:pt x="566" y="26"/>
                    <a:pt x="525" y="67"/>
                  </a:cubicBezTo>
                  <a:lnTo>
                    <a:pt x="49" y="615"/>
                  </a:lnTo>
                  <a:cubicBezTo>
                    <a:pt x="1" y="686"/>
                    <a:pt x="1" y="781"/>
                    <a:pt x="49" y="853"/>
                  </a:cubicBezTo>
                  <a:lnTo>
                    <a:pt x="525" y="1424"/>
                  </a:lnTo>
                  <a:cubicBezTo>
                    <a:pt x="549" y="1472"/>
                    <a:pt x="620" y="1472"/>
                    <a:pt x="668" y="1472"/>
                  </a:cubicBezTo>
                  <a:cubicBezTo>
                    <a:pt x="715" y="1472"/>
                    <a:pt x="739" y="1472"/>
                    <a:pt x="787" y="1448"/>
                  </a:cubicBezTo>
                  <a:cubicBezTo>
                    <a:pt x="858" y="1377"/>
                    <a:pt x="858" y="1258"/>
                    <a:pt x="811" y="1186"/>
                  </a:cubicBezTo>
                  <a:lnTo>
                    <a:pt x="596" y="924"/>
                  </a:lnTo>
                  <a:lnTo>
                    <a:pt x="1263" y="924"/>
                  </a:lnTo>
                  <a:cubicBezTo>
                    <a:pt x="1358" y="924"/>
                    <a:pt x="1454" y="853"/>
                    <a:pt x="1454" y="734"/>
                  </a:cubicBezTo>
                  <a:cubicBezTo>
                    <a:pt x="1454" y="639"/>
                    <a:pt x="1358" y="567"/>
                    <a:pt x="1263" y="567"/>
                  </a:cubicBezTo>
                  <a:lnTo>
                    <a:pt x="596" y="567"/>
                  </a:lnTo>
                  <a:lnTo>
                    <a:pt x="811" y="305"/>
                  </a:lnTo>
                  <a:cubicBezTo>
                    <a:pt x="858" y="234"/>
                    <a:pt x="858" y="115"/>
                    <a:pt x="787" y="43"/>
                  </a:cubicBezTo>
                  <a:cubicBezTo>
                    <a:pt x="747" y="13"/>
                    <a:pt x="707" y="0"/>
                    <a:pt x="6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94;p74">
              <a:extLst>
                <a:ext uri="{FF2B5EF4-FFF2-40B4-BE49-F238E27FC236}">
                  <a16:creationId xmlns:a16="http://schemas.microsoft.com/office/drawing/2014/main" id="{6BFE99A4-2E04-0C15-A64D-6B86E656AD9E}"/>
                </a:ext>
              </a:extLst>
            </p:cNvPr>
            <p:cNvSpPr/>
            <p:nvPr/>
          </p:nvSpPr>
          <p:spPr>
            <a:xfrm>
              <a:off x="2110316" y="3709015"/>
              <a:ext cx="167743" cy="13123"/>
            </a:xfrm>
            <a:custGeom>
              <a:avLst/>
              <a:gdLst/>
              <a:ahLst/>
              <a:cxnLst/>
              <a:rect l="l" t="t" r="r" b="b"/>
              <a:pathLst>
                <a:path w="4883" h="382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86"/>
                    <a:pt x="96" y="381"/>
                    <a:pt x="191" y="381"/>
                  </a:cubicBezTo>
                  <a:lnTo>
                    <a:pt x="4692" y="381"/>
                  </a:lnTo>
                  <a:cubicBezTo>
                    <a:pt x="4811" y="381"/>
                    <a:pt x="4882" y="286"/>
                    <a:pt x="4882" y="191"/>
                  </a:cubicBezTo>
                  <a:cubicBezTo>
                    <a:pt x="4882" y="95"/>
                    <a:pt x="4811" y="0"/>
                    <a:pt x="46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95;p74">
              <a:extLst>
                <a:ext uri="{FF2B5EF4-FFF2-40B4-BE49-F238E27FC236}">
                  <a16:creationId xmlns:a16="http://schemas.microsoft.com/office/drawing/2014/main" id="{8ECA48EF-7599-790A-E846-6DC310D274A9}"/>
                </a:ext>
              </a:extLst>
            </p:cNvPr>
            <p:cNvSpPr/>
            <p:nvPr/>
          </p:nvSpPr>
          <p:spPr>
            <a:xfrm>
              <a:off x="2110316" y="3734367"/>
              <a:ext cx="55651" cy="12298"/>
            </a:xfrm>
            <a:custGeom>
              <a:avLst/>
              <a:gdLst/>
              <a:ahLst/>
              <a:cxnLst/>
              <a:rect l="l" t="t" r="r" b="b"/>
              <a:pathLst>
                <a:path w="1620" h="358" extrusionOk="0">
                  <a:moveTo>
                    <a:pt x="191" y="0"/>
                  </a:moveTo>
                  <a:cubicBezTo>
                    <a:pt x="96" y="0"/>
                    <a:pt x="0" y="72"/>
                    <a:pt x="0" y="167"/>
                  </a:cubicBezTo>
                  <a:cubicBezTo>
                    <a:pt x="0" y="286"/>
                    <a:pt x="96" y="358"/>
                    <a:pt x="191" y="358"/>
                  </a:cubicBezTo>
                  <a:lnTo>
                    <a:pt x="1429" y="358"/>
                  </a:lnTo>
                  <a:cubicBezTo>
                    <a:pt x="1548" y="358"/>
                    <a:pt x="1620" y="286"/>
                    <a:pt x="1620" y="167"/>
                  </a:cubicBezTo>
                  <a:cubicBezTo>
                    <a:pt x="1620" y="72"/>
                    <a:pt x="1548" y="0"/>
                    <a:pt x="14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96;p74">
              <a:extLst>
                <a:ext uri="{FF2B5EF4-FFF2-40B4-BE49-F238E27FC236}">
                  <a16:creationId xmlns:a16="http://schemas.microsoft.com/office/drawing/2014/main" id="{A433AE73-57A7-4BCE-6677-FC7D14941254}"/>
                </a:ext>
              </a:extLst>
            </p:cNvPr>
            <p:cNvSpPr/>
            <p:nvPr/>
          </p:nvSpPr>
          <p:spPr>
            <a:xfrm>
              <a:off x="2190495" y="3734367"/>
              <a:ext cx="87565" cy="12298"/>
            </a:xfrm>
            <a:custGeom>
              <a:avLst/>
              <a:gdLst/>
              <a:ahLst/>
              <a:cxnLst/>
              <a:rect l="l" t="t" r="r" b="b"/>
              <a:pathLst>
                <a:path w="2549" h="358" extrusionOk="0">
                  <a:moveTo>
                    <a:pt x="191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86"/>
                    <a:pt x="72" y="358"/>
                    <a:pt x="191" y="358"/>
                  </a:cubicBezTo>
                  <a:lnTo>
                    <a:pt x="2358" y="358"/>
                  </a:lnTo>
                  <a:cubicBezTo>
                    <a:pt x="2477" y="358"/>
                    <a:pt x="2548" y="286"/>
                    <a:pt x="2548" y="167"/>
                  </a:cubicBezTo>
                  <a:cubicBezTo>
                    <a:pt x="2548" y="72"/>
                    <a:pt x="2477" y="0"/>
                    <a:pt x="2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97;p74">
              <a:extLst>
                <a:ext uri="{FF2B5EF4-FFF2-40B4-BE49-F238E27FC236}">
                  <a16:creationId xmlns:a16="http://schemas.microsoft.com/office/drawing/2014/main" id="{59799B8F-BBE2-415D-2FC0-0AE6DBF1439B}"/>
                </a:ext>
              </a:extLst>
            </p:cNvPr>
            <p:cNvSpPr/>
            <p:nvPr/>
          </p:nvSpPr>
          <p:spPr>
            <a:xfrm>
              <a:off x="2110316" y="3657452"/>
              <a:ext cx="167743" cy="40948"/>
            </a:xfrm>
            <a:custGeom>
              <a:avLst/>
              <a:gdLst/>
              <a:ahLst/>
              <a:cxnLst/>
              <a:rect l="l" t="t" r="r" b="b"/>
              <a:pathLst>
                <a:path w="4883" h="1192" extrusionOk="0">
                  <a:moveTo>
                    <a:pt x="334" y="1"/>
                  </a:moveTo>
                  <a:cubicBezTo>
                    <a:pt x="143" y="1"/>
                    <a:pt x="0" y="144"/>
                    <a:pt x="0" y="334"/>
                  </a:cubicBezTo>
                  <a:lnTo>
                    <a:pt x="0" y="858"/>
                  </a:lnTo>
                  <a:cubicBezTo>
                    <a:pt x="0" y="1025"/>
                    <a:pt x="143" y="1192"/>
                    <a:pt x="334" y="1192"/>
                  </a:cubicBezTo>
                  <a:lnTo>
                    <a:pt x="3001" y="1192"/>
                  </a:lnTo>
                  <a:cubicBezTo>
                    <a:pt x="3096" y="1192"/>
                    <a:pt x="3192" y="1096"/>
                    <a:pt x="3192" y="1001"/>
                  </a:cubicBezTo>
                  <a:cubicBezTo>
                    <a:pt x="3192" y="906"/>
                    <a:pt x="3096" y="811"/>
                    <a:pt x="3001" y="811"/>
                  </a:cubicBezTo>
                  <a:lnTo>
                    <a:pt x="358" y="811"/>
                  </a:lnTo>
                  <a:lnTo>
                    <a:pt x="358" y="358"/>
                  </a:lnTo>
                  <a:lnTo>
                    <a:pt x="4525" y="358"/>
                  </a:lnTo>
                  <a:lnTo>
                    <a:pt x="4525" y="811"/>
                  </a:lnTo>
                  <a:lnTo>
                    <a:pt x="3739" y="811"/>
                  </a:lnTo>
                  <a:cubicBezTo>
                    <a:pt x="3644" y="811"/>
                    <a:pt x="3549" y="906"/>
                    <a:pt x="3549" y="1001"/>
                  </a:cubicBezTo>
                  <a:cubicBezTo>
                    <a:pt x="3549" y="1096"/>
                    <a:pt x="3644" y="1192"/>
                    <a:pt x="3739" y="1192"/>
                  </a:cubicBezTo>
                  <a:lnTo>
                    <a:pt x="4549" y="1192"/>
                  </a:lnTo>
                  <a:cubicBezTo>
                    <a:pt x="4740" y="1192"/>
                    <a:pt x="4882" y="1025"/>
                    <a:pt x="4882" y="858"/>
                  </a:cubicBezTo>
                  <a:lnTo>
                    <a:pt x="4882" y="334"/>
                  </a:lnTo>
                  <a:cubicBezTo>
                    <a:pt x="4882" y="144"/>
                    <a:pt x="4740" y="1"/>
                    <a:pt x="45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98;p74">
              <a:extLst>
                <a:ext uri="{FF2B5EF4-FFF2-40B4-BE49-F238E27FC236}">
                  <a16:creationId xmlns:a16="http://schemas.microsoft.com/office/drawing/2014/main" id="{22AF1B3F-36DB-172A-5049-FECA4326F0F9}"/>
                </a:ext>
              </a:extLst>
            </p:cNvPr>
            <p:cNvSpPr/>
            <p:nvPr/>
          </p:nvSpPr>
          <p:spPr>
            <a:xfrm>
              <a:off x="1994136" y="3380949"/>
              <a:ext cx="428719" cy="396806"/>
            </a:xfrm>
            <a:custGeom>
              <a:avLst/>
              <a:gdLst/>
              <a:ahLst/>
              <a:cxnLst/>
              <a:rect l="l" t="t" r="r" b="b"/>
              <a:pathLst>
                <a:path w="12480" h="11551" extrusionOk="0">
                  <a:moveTo>
                    <a:pt x="3668" y="382"/>
                  </a:moveTo>
                  <a:lnTo>
                    <a:pt x="3668" y="1549"/>
                  </a:lnTo>
                  <a:lnTo>
                    <a:pt x="3263" y="1549"/>
                  </a:lnTo>
                  <a:lnTo>
                    <a:pt x="3263" y="382"/>
                  </a:lnTo>
                  <a:close/>
                  <a:moveTo>
                    <a:pt x="9217" y="382"/>
                  </a:moveTo>
                  <a:lnTo>
                    <a:pt x="9217" y="1549"/>
                  </a:lnTo>
                  <a:lnTo>
                    <a:pt x="8812" y="1549"/>
                  </a:lnTo>
                  <a:lnTo>
                    <a:pt x="8812" y="382"/>
                  </a:lnTo>
                  <a:close/>
                  <a:moveTo>
                    <a:pt x="8431" y="382"/>
                  </a:moveTo>
                  <a:lnTo>
                    <a:pt x="8431" y="1549"/>
                  </a:lnTo>
                  <a:lnTo>
                    <a:pt x="5359" y="1549"/>
                  </a:lnTo>
                  <a:cubicBezTo>
                    <a:pt x="5264" y="1549"/>
                    <a:pt x="5169" y="1644"/>
                    <a:pt x="5169" y="1739"/>
                  </a:cubicBezTo>
                  <a:cubicBezTo>
                    <a:pt x="5169" y="1834"/>
                    <a:pt x="5264" y="1930"/>
                    <a:pt x="5359" y="1930"/>
                  </a:cubicBezTo>
                  <a:lnTo>
                    <a:pt x="11980" y="1930"/>
                  </a:lnTo>
                  <a:cubicBezTo>
                    <a:pt x="12075" y="1930"/>
                    <a:pt x="12122" y="1977"/>
                    <a:pt x="12122" y="2049"/>
                  </a:cubicBezTo>
                  <a:lnTo>
                    <a:pt x="12122" y="5454"/>
                  </a:lnTo>
                  <a:cubicBezTo>
                    <a:pt x="12122" y="5526"/>
                    <a:pt x="12051" y="5597"/>
                    <a:pt x="11980" y="5597"/>
                  </a:cubicBezTo>
                  <a:lnTo>
                    <a:pt x="501" y="5597"/>
                  </a:lnTo>
                  <a:cubicBezTo>
                    <a:pt x="429" y="5597"/>
                    <a:pt x="358" y="5526"/>
                    <a:pt x="358" y="5454"/>
                  </a:cubicBezTo>
                  <a:lnTo>
                    <a:pt x="358" y="2049"/>
                  </a:lnTo>
                  <a:cubicBezTo>
                    <a:pt x="358" y="1977"/>
                    <a:pt x="429" y="1930"/>
                    <a:pt x="501" y="1930"/>
                  </a:cubicBezTo>
                  <a:lnTo>
                    <a:pt x="4621" y="1930"/>
                  </a:lnTo>
                  <a:cubicBezTo>
                    <a:pt x="4740" y="1930"/>
                    <a:pt x="4811" y="1834"/>
                    <a:pt x="4811" y="1739"/>
                  </a:cubicBezTo>
                  <a:cubicBezTo>
                    <a:pt x="4811" y="1644"/>
                    <a:pt x="4740" y="1549"/>
                    <a:pt x="4621" y="1549"/>
                  </a:cubicBezTo>
                  <a:lnTo>
                    <a:pt x="4049" y="1549"/>
                  </a:lnTo>
                  <a:lnTo>
                    <a:pt x="4049" y="382"/>
                  </a:lnTo>
                  <a:close/>
                  <a:moveTo>
                    <a:pt x="3668" y="5954"/>
                  </a:moveTo>
                  <a:lnTo>
                    <a:pt x="3668" y="7145"/>
                  </a:lnTo>
                  <a:lnTo>
                    <a:pt x="3263" y="7145"/>
                  </a:lnTo>
                  <a:lnTo>
                    <a:pt x="3263" y="5954"/>
                  </a:lnTo>
                  <a:close/>
                  <a:moveTo>
                    <a:pt x="8431" y="5954"/>
                  </a:moveTo>
                  <a:lnTo>
                    <a:pt x="8431" y="7145"/>
                  </a:lnTo>
                  <a:lnTo>
                    <a:pt x="4049" y="7145"/>
                  </a:lnTo>
                  <a:lnTo>
                    <a:pt x="4049" y="5954"/>
                  </a:lnTo>
                  <a:close/>
                  <a:moveTo>
                    <a:pt x="9217" y="5954"/>
                  </a:moveTo>
                  <a:lnTo>
                    <a:pt x="9217" y="7145"/>
                  </a:lnTo>
                  <a:lnTo>
                    <a:pt x="8812" y="7145"/>
                  </a:lnTo>
                  <a:lnTo>
                    <a:pt x="8812" y="5954"/>
                  </a:lnTo>
                  <a:close/>
                  <a:moveTo>
                    <a:pt x="168" y="1"/>
                  </a:moveTo>
                  <a:cubicBezTo>
                    <a:pt x="72" y="1"/>
                    <a:pt x="1" y="96"/>
                    <a:pt x="1" y="191"/>
                  </a:cubicBezTo>
                  <a:cubicBezTo>
                    <a:pt x="1" y="286"/>
                    <a:pt x="72" y="382"/>
                    <a:pt x="168" y="382"/>
                  </a:cubicBezTo>
                  <a:lnTo>
                    <a:pt x="2906" y="382"/>
                  </a:lnTo>
                  <a:lnTo>
                    <a:pt x="2906" y="1549"/>
                  </a:lnTo>
                  <a:lnTo>
                    <a:pt x="501" y="1549"/>
                  </a:lnTo>
                  <a:cubicBezTo>
                    <a:pt x="215" y="1549"/>
                    <a:pt x="1" y="1787"/>
                    <a:pt x="1" y="2049"/>
                  </a:cubicBezTo>
                  <a:lnTo>
                    <a:pt x="1" y="5454"/>
                  </a:lnTo>
                  <a:cubicBezTo>
                    <a:pt x="1" y="5740"/>
                    <a:pt x="215" y="5954"/>
                    <a:pt x="501" y="5954"/>
                  </a:cubicBezTo>
                  <a:lnTo>
                    <a:pt x="2906" y="5954"/>
                  </a:lnTo>
                  <a:lnTo>
                    <a:pt x="2906" y="7145"/>
                  </a:lnTo>
                  <a:lnTo>
                    <a:pt x="501" y="7145"/>
                  </a:lnTo>
                  <a:cubicBezTo>
                    <a:pt x="215" y="7145"/>
                    <a:pt x="1" y="7359"/>
                    <a:pt x="1" y="7645"/>
                  </a:cubicBezTo>
                  <a:lnTo>
                    <a:pt x="1" y="9622"/>
                  </a:lnTo>
                  <a:cubicBezTo>
                    <a:pt x="1" y="9741"/>
                    <a:pt x="72" y="9812"/>
                    <a:pt x="168" y="9812"/>
                  </a:cubicBezTo>
                  <a:cubicBezTo>
                    <a:pt x="263" y="9812"/>
                    <a:pt x="358" y="9741"/>
                    <a:pt x="358" y="9622"/>
                  </a:cubicBezTo>
                  <a:lnTo>
                    <a:pt x="358" y="7645"/>
                  </a:lnTo>
                  <a:cubicBezTo>
                    <a:pt x="358" y="7574"/>
                    <a:pt x="429" y="7502"/>
                    <a:pt x="501" y="7502"/>
                  </a:cubicBezTo>
                  <a:lnTo>
                    <a:pt x="11980" y="7502"/>
                  </a:lnTo>
                  <a:cubicBezTo>
                    <a:pt x="12051" y="7502"/>
                    <a:pt x="12122" y="7574"/>
                    <a:pt x="12122" y="7645"/>
                  </a:cubicBezTo>
                  <a:lnTo>
                    <a:pt x="12122" y="11050"/>
                  </a:lnTo>
                  <a:cubicBezTo>
                    <a:pt x="12122" y="11122"/>
                    <a:pt x="12051" y="11170"/>
                    <a:pt x="11980" y="11170"/>
                  </a:cubicBezTo>
                  <a:lnTo>
                    <a:pt x="501" y="11170"/>
                  </a:lnTo>
                  <a:cubicBezTo>
                    <a:pt x="429" y="11170"/>
                    <a:pt x="358" y="11122"/>
                    <a:pt x="358" y="11050"/>
                  </a:cubicBezTo>
                  <a:lnTo>
                    <a:pt x="358" y="10360"/>
                  </a:lnTo>
                  <a:cubicBezTo>
                    <a:pt x="358" y="10265"/>
                    <a:pt x="263" y="10193"/>
                    <a:pt x="168" y="10193"/>
                  </a:cubicBezTo>
                  <a:cubicBezTo>
                    <a:pt x="72" y="10193"/>
                    <a:pt x="1" y="10265"/>
                    <a:pt x="1" y="10360"/>
                  </a:cubicBezTo>
                  <a:lnTo>
                    <a:pt x="1" y="11050"/>
                  </a:lnTo>
                  <a:cubicBezTo>
                    <a:pt x="1" y="11312"/>
                    <a:pt x="215" y="11551"/>
                    <a:pt x="501" y="11551"/>
                  </a:cubicBezTo>
                  <a:lnTo>
                    <a:pt x="11980" y="11551"/>
                  </a:lnTo>
                  <a:cubicBezTo>
                    <a:pt x="12265" y="11551"/>
                    <a:pt x="12480" y="11312"/>
                    <a:pt x="12480" y="11050"/>
                  </a:cubicBezTo>
                  <a:lnTo>
                    <a:pt x="12480" y="7645"/>
                  </a:lnTo>
                  <a:cubicBezTo>
                    <a:pt x="12480" y="7359"/>
                    <a:pt x="12265" y="7145"/>
                    <a:pt x="11980" y="7145"/>
                  </a:cubicBezTo>
                  <a:lnTo>
                    <a:pt x="9574" y="7145"/>
                  </a:lnTo>
                  <a:lnTo>
                    <a:pt x="9574" y="5954"/>
                  </a:lnTo>
                  <a:lnTo>
                    <a:pt x="11980" y="5954"/>
                  </a:lnTo>
                  <a:cubicBezTo>
                    <a:pt x="12265" y="5954"/>
                    <a:pt x="12480" y="5740"/>
                    <a:pt x="12480" y="5454"/>
                  </a:cubicBezTo>
                  <a:lnTo>
                    <a:pt x="12480" y="2049"/>
                  </a:lnTo>
                  <a:cubicBezTo>
                    <a:pt x="12480" y="1787"/>
                    <a:pt x="12265" y="1549"/>
                    <a:pt x="11980" y="1549"/>
                  </a:cubicBezTo>
                  <a:lnTo>
                    <a:pt x="9574" y="1549"/>
                  </a:lnTo>
                  <a:lnTo>
                    <a:pt x="9574" y="382"/>
                  </a:lnTo>
                  <a:lnTo>
                    <a:pt x="12313" y="382"/>
                  </a:lnTo>
                  <a:cubicBezTo>
                    <a:pt x="12408" y="382"/>
                    <a:pt x="12480" y="286"/>
                    <a:pt x="12480" y="191"/>
                  </a:cubicBezTo>
                  <a:cubicBezTo>
                    <a:pt x="12480" y="96"/>
                    <a:pt x="12408" y="1"/>
                    <a:pt x="12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1369;p74">
            <a:extLst>
              <a:ext uri="{FF2B5EF4-FFF2-40B4-BE49-F238E27FC236}">
                <a16:creationId xmlns:a16="http://schemas.microsoft.com/office/drawing/2014/main" id="{AC81F6DB-B15C-8529-0586-67E2B4242712}"/>
              </a:ext>
            </a:extLst>
          </p:cNvPr>
          <p:cNvGrpSpPr/>
          <p:nvPr/>
        </p:nvGrpSpPr>
        <p:grpSpPr>
          <a:xfrm>
            <a:off x="866411" y="2867633"/>
            <a:ext cx="428719" cy="429509"/>
            <a:chOff x="1298772" y="3364597"/>
            <a:chExt cx="428719" cy="429509"/>
          </a:xfrm>
          <a:solidFill>
            <a:schemeClr val="bg1"/>
          </a:solidFill>
        </p:grpSpPr>
        <p:sp>
          <p:nvSpPr>
            <p:cNvPr id="21" name="Google Shape;1370;p74">
              <a:extLst>
                <a:ext uri="{FF2B5EF4-FFF2-40B4-BE49-F238E27FC236}">
                  <a16:creationId xmlns:a16="http://schemas.microsoft.com/office/drawing/2014/main" id="{E658C14F-5BC6-6D7D-5A74-6E623D821A9D}"/>
                </a:ext>
              </a:extLst>
            </p:cNvPr>
            <p:cNvSpPr/>
            <p:nvPr/>
          </p:nvSpPr>
          <p:spPr>
            <a:xfrm>
              <a:off x="1416567" y="3475040"/>
              <a:ext cx="20508" cy="13123"/>
            </a:xfrm>
            <a:custGeom>
              <a:avLst/>
              <a:gdLst/>
              <a:ahLst/>
              <a:cxnLst/>
              <a:rect l="l" t="t" r="r" b="b"/>
              <a:pathLst>
                <a:path w="597" h="382" extrusionOk="0">
                  <a:moveTo>
                    <a:pt x="191" y="0"/>
                  </a:moveTo>
                  <a:cubicBezTo>
                    <a:pt x="96" y="0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29" y="381"/>
                  </a:lnTo>
                  <a:cubicBezTo>
                    <a:pt x="525" y="381"/>
                    <a:pt x="596" y="286"/>
                    <a:pt x="596" y="191"/>
                  </a:cubicBezTo>
                  <a:cubicBezTo>
                    <a:pt x="596" y="96"/>
                    <a:pt x="525" y="0"/>
                    <a:pt x="4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71;p74">
              <a:extLst>
                <a:ext uri="{FF2B5EF4-FFF2-40B4-BE49-F238E27FC236}">
                  <a16:creationId xmlns:a16="http://schemas.microsoft.com/office/drawing/2014/main" id="{F3D420EF-02B5-7FFC-96CE-B230CBDB70E2}"/>
                </a:ext>
              </a:extLst>
            </p:cNvPr>
            <p:cNvSpPr/>
            <p:nvPr/>
          </p:nvSpPr>
          <p:spPr>
            <a:xfrm>
              <a:off x="1444393" y="3475040"/>
              <a:ext cx="45036" cy="13123"/>
            </a:xfrm>
            <a:custGeom>
              <a:avLst/>
              <a:gdLst/>
              <a:ahLst/>
              <a:cxnLst/>
              <a:rect l="l" t="t" r="r" b="b"/>
              <a:pathLst>
                <a:path w="1311" h="382" extrusionOk="0">
                  <a:moveTo>
                    <a:pt x="167" y="0"/>
                  </a:moveTo>
                  <a:cubicBezTo>
                    <a:pt x="72" y="0"/>
                    <a:pt x="1" y="96"/>
                    <a:pt x="1" y="191"/>
                  </a:cubicBezTo>
                  <a:cubicBezTo>
                    <a:pt x="1" y="286"/>
                    <a:pt x="72" y="381"/>
                    <a:pt x="167" y="381"/>
                  </a:cubicBezTo>
                  <a:lnTo>
                    <a:pt x="1120" y="381"/>
                  </a:lnTo>
                  <a:cubicBezTo>
                    <a:pt x="1239" y="381"/>
                    <a:pt x="1310" y="286"/>
                    <a:pt x="1310" y="191"/>
                  </a:cubicBezTo>
                  <a:cubicBezTo>
                    <a:pt x="1310" y="96"/>
                    <a:pt x="1239" y="0"/>
                    <a:pt x="1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72;p74">
              <a:extLst>
                <a:ext uri="{FF2B5EF4-FFF2-40B4-BE49-F238E27FC236}">
                  <a16:creationId xmlns:a16="http://schemas.microsoft.com/office/drawing/2014/main" id="{907B142C-0D68-BAC1-7952-A6246A091CB6}"/>
                </a:ext>
              </a:extLst>
            </p:cNvPr>
            <p:cNvSpPr/>
            <p:nvPr/>
          </p:nvSpPr>
          <p:spPr>
            <a:xfrm>
              <a:off x="1416567" y="3499568"/>
              <a:ext cx="20508" cy="12298"/>
            </a:xfrm>
            <a:custGeom>
              <a:avLst/>
              <a:gdLst/>
              <a:ahLst/>
              <a:cxnLst/>
              <a:rect l="l" t="t" r="r" b="b"/>
              <a:pathLst>
                <a:path w="597" h="358" extrusionOk="0">
                  <a:moveTo>
                    <a:pt x="191" y="1"/>
                  </a:moveTo>
                  <a:cubicBezTo>
                    <a:pt x="96" y="1"/>
                    <a:pt x="1" y="72"/>
                    <a:pt x="1" y="167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429" y="358"/>
                  </a:lnTo>
                  <a:cubicBezTo>
                    <a:pt x="525" y="358"/>
                    <a:pt x="596" y="286"/>
                    <a:pt x="596" y="167"/>
                  </a:cubicBezTo>
                  <a:cubicBezTo>
                    <a:pt x="596" y="72"/>
                    <a:pt x="525" y="1"/>
                    <a:pt x="4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73;p74">
              <a:extLst>
                <a:ext uri="{FF2B5EF4-FFF2-40B4-BE49-F238E27FC236}">
                  <a16:creationId xmlns:a16="http://schemas.microsoft.com/office/drawing/2014/main" id="{411548CC-EA61-BFB1-6C51-02797386CC16}"/>
                </a:ext>
              </a:extLst>
            </p:cNvPr>
            <p:cNvSpPr/>
            <p:nvPr/>
          </p:nvSpPr>
          <p:spPr>
            <a:xfrm>
              <a:off x="1444393" y="3499568"/>
              <a:ext cx="45036" cy="12298"/>
            </a:xfrm>
            <a:custGeom>
              <a:avLst/>
              <a:gdLst/>
              <a:ahLst/>
              <a:cxnLst/>
              <a:rect l="l" t="t" r="r" b="b"/>
              <a:pathLst>
                <a:path w="1311" h="358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86"/>
                    <a:pt x="72" y="358"/>
                    <a:pt x="167" y="358"/>
                  </a:cubicBezTo>
                  <a:lnTo>
                    <a:pt x="1120" y="358"/>
                  </a:lnTo>
                  <a:cubicBezTo>
                    <a:pt x="1239" y="358"/>
                    <a:pt x="1310" y="286"/>
                    <a:pt x="1310" y="167"/>
                  </a:cubicBezTo>
                  <a:cubicBezTo>
                    <a:pt x="1310" y="72"/>
                    <a:pt x="1239" y="1"/>
                    <a:pt x="1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74;p74">
              <a:extLst>
                <a:ext uri="{FF2B5EF4-FFF2-40B4-BE49-F238E27FC236}">
                  <a16:creationId xmlns:a16="http://schemas.microsoft.com/office/drawing/2014/main" id="{CAE0E758-0717-D7FA-1111-1EB9E395046F}"/>
                </a:ext>
              </a:extLst>
            </p:cNvPr>
            <p:cNvSpPr/>
            <p:nvPr/>
          </p:nvSpPr>
          <p:spPr>
            <a:xfrm>
              <a:off x="1416567" y="3451302"/>
              <a:ext cx="20508" cy="12298"/>
            </a:xfrm>
            <a:custGeom>
              <a:avLst/>
              <a:gdLst/>
              <a:ahLst/>
              <a:cxnLst/>
              <a:rect l="l" t="t" r="r" b="b"/>
              <a:pathLst>
                <a:path w="597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429" y="358"/>
                  </a:lnTo>
                  <a:cubicBezTo>
                    <a:pt x="525" y="358"/>
                    <a:pt x="596" y="286"/>
                    <a:pt x="596" y="191"/>
                  </a:cubicBezTo>
                  <a:cubicBezTo>
                    <a:pt x="596" y="72"/>
                    <a:pt x="525" y="1"/>
                    <a:pt x="4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75;p74">
              <a:extLst>
                <a:ext uri="{FF2B5EF4-FFF2-40B4-BE49-F238E27FC236}">
                  <a16:creationId xmlns:a16="http://schemas.microsoft.com/office/drawing/2014/main" id="{9FF1A894-96F8-5D1A-7A07-A18A8CE16BAA}"/>
                </a:ext>
              </a:extLst>
            </p:cNvPr>
            <p:cNvSpPr/>
            <p:nvPr/>
          </p:nvSpPr>
          <p:spPr>
            <a:xfrm>
              <a:off x="1444393" y="3451302"/>
              <a:ext cx="45036" cy="12298"/>
            </a:xfrm>
            <a:custGeom>
              <a:avLst/>
              <a:gdLst/>
              <a:ahLst/>
              <a:cxnLst/>
              <a:rect l="l" t="t" r="r" b="b"/>
              <a:pathLst>
                <a:path w="1311" h="358" extrusionOk="0">
                  <a:moveTo>
                    <a:pt x="167" y="1"/>
                  </a:moveTo>
                  <a:cubicBezTo>
                    <a:pt x="72" y="1"/>
                    <a:pt x="1" y="72"/>
                    <a:pt x="1" y="191"/>
                  </a:cubicBezTo>
                  <a:cubicBezTo>
                    <a:pt x="1" y="286"/>
                    <a:pt x="72" y="358"/>
                    <a:pt x="167" y="358"/>
                  </a:cubicBezTo>
                  <a:lnTo>
                    <a:pt x="1120" y="358"/>
                  </a:lnTo>
                  <a:cubicBezTo>
                    <a:pt x="1239" y="358"/>
                    <a:pt x="1310" y="286"/>
                    <a:pt x="1310" y="191"/>
                  </a:cubicBezTo>
                  <a:cubicBezTo>
                    <a:pt x="1310" y="72"/>
                    <a:pt x="1239" y="1"/>
                    <a:pt x="1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76;p74">
              <a:extLst>
                <a:ext uri="{FF2B5EF4-FFF2-40B4-BE49-F238E27FC236}">
                  <a16:creationId xmlns:a16="http://schemas.microsoft.com/office/drawing/2014/main" id="{21570DCB-BF38-D728-8A44-45F3AB7C6D78}"/>
                </a:ext>
              </a:extLst>
            </p:cNvPr>
            <p:cNvSpPr/>
            <p:nvPr/>
          </p:nvSpPr>
          <p:spPr>
            <a:xfrm>
              <a:off x="1536835" y="3451302"/>
              <a:ext cx="20474" cy="12298"/>
            </a:xfrm>
            <a:custGeom>
              <a:avLst/>
              <a:gdLst/>
              <a:ahLst/>
              <a:cxnLst/>
              <a:rect l="l" t="t" r="r" b="b"/>
              <a:pathLst>
                <a:path w="596" h="358" extrusionOk="0">
                  <a:moveTo>
                    <a:pt x="191" y="1"/>
                  </a:moveTo>
                  <a:cubicBezTo>
                    <a:pt x="72" y="1"/>
                    <a:pt x="1" y="72"/>
                    <a:pt x="1" y="191"/>
                  </a:cubicBezTo>
                  <a:cubicBezTo>
                    <a:pt x="1" y="286"/>
                    <a:pt x="72" y="358"/>
                    <a:pt x="191" y="358"/>
                  </a:cubicBezTo>
                  <a:lnTo>
                    <a:pt x="405" y="358"/>
                  </a:lnTo>
                  <a:cubicBezTo>
                    <a:pt x="501" y="358"/>
                    <a:pt x="596" y="286"/>
                    <a:pt x="596" y="191"/>
                  </a:cubicBezTo>
                  <a:cubicBezTo>
                    <a:pt x="596" y="72"/>
                    <a:pt x="501" y="1"/>
                    <a:pt x="4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77;p74">
              <a:extLst>
                <a:ext uri="{FF2B5EF4-FFF2-40B4-BE49-F238E27FC236}">
                  <a16:creationId xmlns:a16="http://schemas.microsoft.com/office/drawing/2014/main" id="{73D30608-1F24-3793-4818-470FBB534DCB}"/>
                </a:ext>
              </a:extLst>
            </p:cNvPr>
            <p:cNvSpPr/>
            <p:nvPr/>
          </p:nvSpPr>
          <p:spPr>
            <a:xfrm>
              <a:off x="1563836" y="3451302"/>
              <a:ext cx="45861" cy="12298"/>
            </a:xfrm>
            <a:custGeom>
              <a:avLst/>
              <a:gdLst/>
              <a:ahLst/>
              <a:cxnLst/>
              <a:rect l="l" t="t" r="r" b="b"/>
              <a:pathLst>
                <a:path w="1335" h="358" extrusionOk="0">
                  <a:moveTo>
                    <a:pt x="191" y="1"/>
                  </a:moveTo>
                  <a:cubicBezTo>
                    <a:pt x="72" y="1"/>
                    <a:pt x="0" y="72"/>
                    <a:pt x="0" y="191"/>
                  </a:cubicBezTo>
                  <a:cubicBezTo>
                    <a:pt x="0" y="286"/>
                    <a:pt x="72" y="358"/>
                    <a:pt x="191" y="358"/>
                  </a:cubicBezTo>
                  <a:lnTo>
                    <a:pt x="1144" y="358"/>
                  </a:lnTo>
                  <a:cubicBezTo>
                    <a:pt x="1239" y="358"/>
                    <a:pt x="1334" y="286"/>
                    <a:pt x="1334" y="191"/>
                  </a:cubicBezTo>
                  <a:cubicBezTo>
                    <a:pt x="1334" y="72"/>
                    <a:pt x="1239" y="1"/>
                    <a:pt x="11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8;p74">
              <a:extLst>
                <a:ext uri="{FF2B5EF4-FFF2-40B4-BE49-F238E27FC236}">
                  <a16:creationId xmlns:a16="http://schemas.microsoft.com/office/drawing/2014/main" id="{709F5D3A-02F2-6C06-2B57-BB10916EEB86}"/>
                </a:ext>
              </a:extLst>
            </p:cNvPr>
            <p:cNvSpPr/>
            <p:nvPr/>
          </p:nvSpPr>
          <p:spPr>
            <a:xfrm>
              <a:off x="1536835" y="3475040"/>
              <a:ext cx="20474" cy="13123"/>
            </a:xfrm>
            <a:custGeom>
              <a:avLst/>
              <a:gdLst/>
              <a:ahLst/>
              <a:cxnLst/>
              <a:rect l="l" t="t" r="r" b="b"/>
              <a:pathLst>
                <a:path w="596" h="382" extrusionOk="0">
                  <a:moveTo>
                    <a:pt x="191" y="0"/>
                  </a:moveTo>
                  <a:cubicBezTo>
                    <a:pt x="72" y="0"/>
                    <a:pt x="1" y="96"/>
                    <a:pt x="1" y="191"/>
                  </a:cubicBezTo>
                  <a:cubicBezTo>
                    <a:pt x="1" y="286"/>
                    <a:pt x="72" y="381"/>
                    <a:pt x="191" y="381"/>
                  </a:cubicBezTo>
                  <a:lnTo>
                    <a:pt x="405" y="381"/>
                  </a:lnTo>
                  <a:cubicBezTo>
                    <a:pt x="501" y="381"/>
                    <a:pt x="596" y="286"/>
                    <a:pt x="596" y="191"/>
                  </a:cubicBezTo>
                  <a:cubicBezTo>
                    <a:pt x="596" y="96"/>
                    <a:pt x="501" y="0"/>
                    <a:pt x="4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9;p74">
              <a:extLst>
                <a:ext uri="{FF2B5EF4-FFF2-40B4-BE49-F238E27FC236}">
                  <a16:creationId xmlns:a16="http://schemas.microsoft.com/office/drawing/2014/main" id="{A40C52CB-B7F0-12F2-26CA-0264E8714477}"/>
                </a:ext>
              </a:extLst>
            </p:cNvPr>
            <p:cNvSpPr/>
            <p:nvPr/>
          </p:nvSpPr>
          <p:spPr>
            <a:xfrm>
              <a:off x="1563836" y="3475040"/>
              <a:ext cx="45861" cy="13123"/>
            </a:xfrm>
            <a:custGeom>
              <a:avLst/>
              <a:gdLst/>
              <a:ahLst/>
              <a:cxnLst/>
              <a:rect l="l" t="t" r="r" b="b"/>
              <a:pathLst>
                <a:path w="1335" h="382" extrusionOk="0">
                  <a:moveTo>
                    <a:pt x="191" y="0"/>
                  </a:moveTo>
                  <a:cubicBezTo>
                    <a:pt x="72" y="0"/>
                    <a:pt x="0" y="96"/>
                    <a:pt x="0" y="191"/>
                  </a:cubicBezTo>
                  <a:cubicBezTo>
                    <a:pt x="0" y="286"/>
                    <a:pt x="72" y="381"/>
                    <a:pt x="191" y="381"/>
                  </a:cubicBezTo>
                  <a:lnTo>
                    <a:pt x="1144" y="381"/>
                  </a:lnTo>
                  <a:cubicBezTo>
                    <a:pt x="1239" y="381"/>
                    <a:pt x="1334" y="286"/>
                    <a:pt x="1334" y="191"/>
                  </a:cubicBezTo>
                  <a:cubicBezTo>
                    <a:pt x="1334" y="96"/>
                    <a:pt x="1239" y="0"/>
                    <a:pt x="11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80;p74">
              <a:extLst>
                <a:ext uri="{FF2B5EF4-FFF2-40B4-BE49-F238E27FC236}">
                  <a16:creationId xmlns:a16="http://schemas.microsoft.com/office/drawing/2014/main" id="{E2F19898-38E0-E2D7-068C-919D9988B9AC}"/>
                </a:ext>
              </a:extLst>
            </p:cNvPr>
            <p:cNvSpPr/>
            <p:nvPr/>
          </p:nvSpPr>
          <p:spPr>
            <a:xfrm>
              <a:off x="1536835" y="3499568"/>
              <a:ext cx="20474" cy="12298"/>
            </a:xfrm>
            <a:custGeom>
              <a:avLst/>
              <a:gdLst/>
              <a:ahLst/>
              <a:cxnLst/>
              <a:rect l="l" t="t" r="r" b="b"/>
              <a:pathLst>
                <a:path w="596" h="358" extrusionOk="0">
                  <a:moveTo>
                    <a:pt x="191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86"/>
                    <a:pt x="72" y="358"/>
                    <a:pt x="191" y="358"/>
                  </a:cubicBezTo>
                  <a:lnTo>
                    <a:pt x="405" y="358"/>
                  </a:lnTo>
                  <a:cubicBezTo>
                    <a:pt x="501" y="358"/>
                    <a:pt x="596" y="286"/>
                    <a:pt x="596" y="167"/>
                  </a:cubicBezTo>
                  <a:cubicBezTo>
                    <a:pt x="596" y="72"/>
                    <a:pt x="501" y="1"/>
                    <a:pt x="4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81;p74">
              <a:extLst>
                <a:ext uri="{FF2B5EF4-FFF2-40B4-BE49-F238E27FC236}">
                  <a16:creationId xmlns:a16="http://schemas.microsoft.com/office/drawing/2014/main" id="{54B7B39F-AB94-ACCD-9F98-D4B0EFEBFAA8}"/>
                </a:ext>
              </a:extLst>
            </p:cNvPr>
            <p:cNvSpPr/>
            <p:nvPr/>
          </p:nvSpPr>
          <p:spPr>
            <a:xfrm>
              <a:off x="1563836" y="3499568"/>
              <a:ext cx="45861" cy="12298"/>
            </a:xfrm>
            <a:custGeom>
              <a:avLst/>
              <a:gdLst/>
              <a:ahLst/>
              <a:cxnLst/>
              <a:rect l="l" t="t" r="r" b="b"/>
              <a:pathLst>
                <a:path w="1335" h="358" extrusionOk="0">
                  <a:moveTo>
                    <a:pt x="191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86"/>
                    <a:pt x="72" y="358"/>
                    <a:pt x="191" y="358"/>
                  </a:cubicBezTo>
                  <a:lnTo>
                    <a:pt x="1144" y="358"/>
                  </a:lnTo>
                  <a:cubicBezTo>
                    <a:pt x="1239" y="358"/>
                    <a:pt x="1334" y="286"/>
                    <a:pt x="1334" y="167"/>
                  </a:cubicBezTo>
                  <a:cubicBezTo>
                    <a:pt x="1334" y="72"/>
                    <a:pt x="1239" y="1"/>
                    <a:pt x="11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82;p74">
              <a:extLst>
                <a:ext uri="{FF2B5EF4-FFF2-40B4-BE49-F238E27FC236}">
                  <a16:creationId xmlns:a16="http://schemas.microsoft.com/office/drawing/2014/main" id="{BF9A71E5-30B3-D09D-0178-98EB9FE61FFF}"/>
                </a:ext>
              </a:extLst>
            </p:cNvPr>
            <p:cNvSpPr/>
            <p:nvPr/>
          </p:nvSpPr>
          <p:spPr>
            <a:xfrm>
              <a:off x="1506571" y="3461952"/>
              <a:ext cx="13123" cy="39299"/>
            </a:xfrm>
            <a:custGeom>
              <a:avLst/>
              <a:gdLst/>
              <a:ahLst/>
              <a:cxnLst/>
              <a:rect l="l" t="t" r="r" b="b"/>
              <a:pathLst>
                <a:path w="382" h="1144" extrusionOk="0">
                  <a:moveTo>
                    <a:pt x="191" y="0"/>
                  </a:moveTo>
                  <a:cubicBezTo>
                    <a:pt x="96" y="0"/>
                    <a:pt x="0" y="72"/>
                    <a:pt x="0" y="191"/>
                  </a:cubicBezTo>
                  <a:lnTo>
                    <a:pt x="0" y="953"/>
                  </a:lnTo>
                  <a:cubicBezTo>
                    <a:pt x="0" y="1072"/>
                    <a:pt x="96" y="1143"/>
                    <a:pt x="191" y="1143"/>
                  </a:cubicBezTo>
                  <a:cubicBezTo>
                    <a:pt x="286" y="1143"/>
                    <a:pt x="381" y="1072"/>
                    <a:pt x="381" y="953"/>
                  </a:cubicBezTo>
                  <a:lnTo>
                    <a:pt x="381" y="191"/>
                  </a:lnTo>
                  <a:cubicBezTo>
                    <a:pt x="381" y="72"/>
                    <a:pt x="286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83;p74">
              <a:extLst>
                <a:ext uri="{FF2B5EF4-FFF2-40B4-BE49-F238E27FC236}">
                  <a16:creationId xmlns:a16="http://schemas.microsoft.com/office/drawing/2014/main" id="{E168DFD1-BA82-49AA-E1F1-37F47B15E286}"/>
                </a:ext>
              </a:extLst>
            </p:cNvPr>
            <p:cNvSpPr/>
            <p:nvPr/>
          </p:nvSpPr>
          <p:spPr>
            <a:xfrm>
              <a:off x="1298772" y="3565009"/>
              <a:ext cx="428719" cy="229097"/>
            </a:xfrm>
            <a:custGeom>
              <a:avLst/>
              <a:gdLst/>
              <a:ahLst/>
              <a:cxnLst/>
              <a:rect l="l" t="t" r="r" b="b"/>
              <a:pathLst>
                <a:path w="12480" h="6669" extrusionOk="0">
                  <a:moveTo>
                    <a:pt x="6573" y="358"/>
                  </a:moveTo>
                  <a:cubicBezTo>
                    <a:pt x="6859" y="358"/>
                    <a:pt x="7097" y="549"/>
                    <a:pt x="7169" y="811"/>
                  </a:cubicBezTo>
                  <a:cubicBezTo>
                    <a:pt x="7312" y="1358"/>
                    <a:pt x="7383" y="1930"/>
                    <a:pt x="7383" y="2501"/>
                  </a:cubicBezTo>
                  <a:lnTo>
                    <a:pt x="5097" y="2501"/>
                  </a:lnTo>
                  <a:cubicBezTo>
                    <a:pt x="5097" y="1930"/>
                    <a:pt x="5168" y="1358"/>
                    <a:pt x="5311" y="811"/>
                  </a:cubicBezTo>
                  <a:cubicBezTo>
                    <a:pt x="5383" y="549"/>
                    <a:pt x="5621" y="358"/>
                    <a:pt x="5907" y="358"/>
                  </a:cubicBezTo>
                  <a:close/>
                  <a:moveTo>
                    <a:pt x="10598" y="358"/>
                  </a:moveTo>
                  <a:cubicBezTo>
                    <a:pt x="10860" y="358"/>
                    <a:pt x="11098" y="549"/>
                    <a:pt x="11170" y="811"/>
                  </a:cubicBezTo>
                  <a:cubicBezTo>
                    <a:pt x="11312" y="1358"/>
                    <a:pt x="11408" y="1930"/>
                    <a:pt x="11408" y="2501"/>
                  </a:cubicBezTo>
                  <a:lnTo>
                    <a:pt x="9098" y="2501"/>
                  </a:lnTo>
                  <a:cubicBezTo>
                    <a:pt x="9098" y="1930"/>
                    <a:pt x="9193" y="1358"/>
                    <a:pt x="9336" y="811"/>
                  </a:cubicBezTo>
                  <a:cubicBezTo>
                    <a:pt x="9407" y="549"/>
                    <a:pt x="9645" y="358"/>
                    <a:pt x="9907" y="358"/>
                  </a:cubicBezTo>
                  <a:close/>
                  <a:moveTo>
                    <a:pt x="3716" y="2859"/>
                  </a:moveTo>
                  <a:lnTo>
                    <a:pt x="3716" y="3192"/>
                  </a:lnTo>
                  <a:lnTo>
                    <a:pt x="739" y="3192"/>
                  </a:lnTo>
                  <a:lnTo>
                    <a:pt x="739" y="2859"/>
                  </a:lnTo>
                  <a:close/>
                  <a:moveTo>
                    <a:pt x="7716" y="2859"/>
                  </a:moveTo>
                  <a:lnTo>
                    <a:pt x="7716" y="3192"/>
                  </a:lnTo>
                  <a:lnTo>
                    <a:pt x="4763" y="3192"/>
                  </a:lnTo>
                  <a:lnTo>
                    <a:pt x="4763" y="2859"/>
                  </a:lnTo>
                  <a:close/>
                  <a:moveTo>
                    <a:pt x="11741" y="2859"/>
                  </a:moveTo>
                  <a:lnTo>
                    <a:pt x="11741" y="3192"/>
                  </a:lnTo>
                  <a:lnTo>
                    <a:pt x="8764" y="3192"/>
                  </a:lnTo>
                  <a:lnTo>
                    <a:pt x="8764" y="2859"/>
                  </a:lnTo>
                  <a:close/>
                  <a:moveTo>
                    <a:pt x="1048" y="4621"/>
                  </a:moveTo>
                  <a:lnTo>
                    <a:pt x="1048" y="6312"/>
                  </a:lnTo>
                  <a:lnTo>
                    <a:pt x="739" y="6312"/>
                  </a:lnTo>
                  <a:lnTo>
                    <a:pt x="739" y="4621"/>
                  </a:lnTo>
                  <a:close/>
                  <a:moveTo>
                    <a:pt x="5716" y="4621"/>
                  </a:moveTo>
                  <a:lnTo>
                    <a:pt x="5716" y="6312"/>
                  </a:lnTo>
                  <a:lnTo>
                    <a:pt x="1429" y="6312"/>
                  </a:lnTo>
                  <a:lnTo>
                    <a:pt x="1429" y="4621"/>
                  </a:lnTo>
                  <a:close/>
                  <a:moveTo>
                    <a:pt x="6407" y="4621"/>
                  </a:moveTo>
                  <a:lnTo>
                    <a:pt x="6407" y="6312"/>
                  </a:lnTo>
                  <a:lnTo>
                    <a:pt x="6073" y="6312"/>
                  </a:lnTo>
                  <a:lnTo>
                    <a:pt x="6073" y="4621"/>
                  </a:lnTo>
                  <a:close/>
                  <a:moveTo>
                    <a:pt x="12122" y="3549"/>
                  </a:moveTo>
                  <a:lnTo>
                    <a:pt x="12122" y="4240"/>
                  </a:lnTo>
                  <a:lnTo>
                    <a:pt x="8955" y="4240"/>
                  </a:lnTo>
                  <a:cubicBezTo>
                    <a:pt x="8860" y="4240"/>
                    <a:pt x="8764" y="4335"/>
                    <a:pt x="8764" y="4430"/>
                  </a:cubicBezTo>
                  <a:cubicBezTo>
                    <a:pt x="8764" y="4526"/>
                    <a:pt x="8860" y="4621"/>
                    <a:pt x="8955" y="4621"/>
                  </a:cubicBezTo>
                  <a:lnTo>
                    <a:pt x="11050" y="4621"/>
                  </a:lnTo>
                  <a:lnTo>
                    <a:pt x="11050" y="6312"/>
                  </a:lnTo>
                  <a:lnTo>
                    <a:pt x="6764" y="6312"/>
                  </a:lnTo>
                  <a:lnTo>
                    <a:pt x="6764" y="4621"/>
                  </a:lnTo>
                  <a:lnTo>
                    <a:pt x="8217" y="4621"/>
                  </a:lnTo>
                  <a:cubicBezTo>
                    <a:pt x="8312" y="4621"/>
                    <a:pt x="8407" y="4526"/>
                    <a:pt x="8407" y="4430"/>
                  </a:cubicBezTo>
                  <a:cubicBezTo>
                    <a:pt x="8407" y="4335"/>
                    <a:pt x="8312" y="4240"/>
                    <a:pt x="8217" y="4240"/>
                  </a:cubicBezTo>
                  <a:lnTo>
                    <a:pt x="358" y="4240"/>
                  </a:lnTo>
                  <a:lnTo>
                    <a:pt x="358" y="3549"/>
                  </a:lnTo>
                  <a:close/>
                  <a:moveTo>
                    <a:pt x="11741" y="4621"/>
                  </a:moveTo>
                  <a:lnTo>
                    <a:pt x="11741" y="6312"/>
                  </a:lnTo>
                  <a:lnTo>
                    <a:pt x="11431" y="6312"/>
                  </a:lnTo>
                  <a:lnTo>
                    <a:pt x="11431" y="4621"/>
                  </a:lnTo>
                  <a:close/>
                  <a:moveTo>
                    <a:pt x="1882" y="1"/>
                  </a:moveTo>
                  <a:cubicBezTo>
                    <a:pt x="1453" y="1"/>
                    <a:pt x="1072" y="287"/>
                    <a:pt x="953" y="691"/>
                  </a:cubicBezTo>
                  <a:cubicBezTo>
                    <a:pt x="929" y="787"/>
                    <a:pt x="977" y="882"/>
                    <a:pt x="1096" y="906"/>
                  </a:cubicBezTo>
                  <a:cubicBezTo>
                    <a:pt x="1117" y="916"/>
                    <a:pt x="1138" y="921"/>
                    <a:pt x="1158" y="921"/>
                  </a:cubicBezTo>
                  <a:cubicBezTo>
                    <a:pt x="1230" y="921"/>
                    <a:pt x="1292" y="861"/>
                    <a:pt x="1310" y="787"/>
                  </a:cubicBezTo>
                  <a:cubicBezTo>
                    <a:pt x="1382" y="525"/>
                    <a:pt x="1620" y="358"/>
                    <a:pt x="1882" y="358"/>
                  </a:cubicBezTo>
                  <a:lnTo>
                    <a:pt x="2572" y="358"/>
                  </a:lnTo>
                  <a:cubicBezTo>
                    <a:pt x="2834" y="358"/>
                    <a:pt x="3073" y="549"/>
                    <a:pt x="3144" y="811"/>
                  </a:cubicBezTo>
                  <a:cubicBezTo>
                    <a:pt x="3287" y="1358"/>
                    <a:pt x="3382" y="1930"/>
                    <a:pt x="3382" y="2501"/>
                  </a:cubicBezTo>
                  <a:lnTo>
                    <a:pt x="1072" y="2501"/>
                  </a:lnTo>
                  <a:cubicBezTo>
                    <a:pt x="1072" y="2168"/>
                    <a:pt x="1120" y="1811"/>
                    <a:pt x="1167" y="1477"/>
                  </a:cubicBezTo>
                  <a:cubicBezTo>
                    <a:pt x="1167" y="1382"/>
                    <a:pt x="1120" y="1287"/>
                    <a:pt x="1001" y="1263"/>
                  </a:cubicBezTo>
                  <a:cubicBezTo>
                    <a:pt x="905" y="1263"/>
                    <a:pt x="810" y="1334"/>
                    <a:pt x="810" y="1430"/>
                  </a:cubicBezTo>
                  <a:cubicBezTo>
                    <a:pt x="739" y="1787"/>
                    <a:pt x="715" y="2144"/>
                    <a:pt x="715" y="2501"/>
                  </a:cubicBezTo>
                  <a:lnTo>
                    <a:pt x="691" y="2501"/>
                  </a:lnTo>
                  <a:cubicBezTo>
                    <a:pt x="524" y="2501"/>
                    <a:pt x="382" y="2620"/>
                    <a:pt x="382" y="2811"/>
                  </a:cubicBezTo>
                  <a:lnTo>
                    <a:pt x="382" y="3192"/>
                  </a:lnTo>
                  <a:lnTo>
                    <a:pt x="167" y="3192"/>
                  </a:lnTo>
                  <a:cubicBezTo>
                    <a:pt x="72" y="3192"/>
                    <a:pt x="1" y="3263"/>
                    <a:pt x="1" y="3359"/>
                  </a:cubicBezTo>
                  <a:lnTo>
                    <a:pt x="1" y="4430"/>
                  </a:lnTo>
                  <a:cubicBezTo>
                    <a:pt x="1" y="4526"/>
                    <a:pt x="72" y="4621"/>
                    <a:pt x="167" y="4621"/>
                  </a:cubicBezTo>
                  <a:lnTo>
                    <a:pt x="382" y="4621"/>
                  </a:lnTo>
                  <a:lnTo>
                    <a:pt x="382" y="6312"/>
                  </a:lnTo>
                  <a:lnTo>
                    <a:pt x="167" y="6312"/>
                  </a:lnTo>
                  <a:cubicBezTo>
                    <a:pt x="72" y="6312"/>
                    <a:pt x="1" y="6383"/>
                    <a:pt x="1" y="6478"/>
                  </a:cubicBezTo>
                  <a:cubicBezTo>
                    <a:pt x="1" y="6574"/>
                    <a:pt x="72" y="6669"/>
                    <a:pt x="167" y="6669"/>
                  </a:cubicBezTo>
                  <a:lnTo>
                    <a:pt x="12313" y="6669"/>
                  </a:lnTo>
                  <a:cubicBezTo>
                    <a:pt x="12408" y="6669"/>
                    <a:pt x="12479" y="6597"/>
                    <a:pt x="12479" y="6478"/>
                  </a:cubicBezTo>
                  <a:cubicBezTo>
                    <a:pt x="12479" y="6383"/>
                    <a:pt x="12408" y="6312"/>
                    <a:pt x="12313" y="6312"/>
                  </a:cubicBezTo>
                  <a:lnTo>
                    <a:pt x="12098" y="6312"/>
                  </a:lnTo>
                  <a:lnTo>
                    <a:pt x="12098" y="4621"/>
                  </a:lnTo>
                  <a:lnTo>
                    <a:pt x="12313" y="4621"/>
                  </a:lnTo>
                  <a:cubicBezTo>
                    <a:pt x="12408" y="4621"/>
                    <a:pt x="12479" y="4526"/>
                    <a:pt x="12479" y="4430"/>
                  </a:cubicBezTo>
                  <a:lnTo>
                    <a:pt x="12479" y="3359"/>
                  </a:lnTo>
                  <a:cubicBezTo>
                    <a:pt x="12479" y="3263"/>
                    <a:pt x="12408" y="3192"/>
                    <a:pt x="12313" y="3192"/>
                  </a:cubicBezTo>
                  <a:lnTo>
                    <a:pt x="12098" y="3192"/>
                  </a:lnTo>
                  <a:lnTo>
                    <a:pt x="12098" y="2811"/>
                  </a:lnTo>
                  <a:cubicBezTo>
                    <a:pt x="12098" y="2620"/>
                    <a:pt x="11955" y="2501"/>
                    <a:pt x="11789" y="2501"/>
                  </a:cubicBezTo>
                  <a:lnTo>
                    <a:pt x="11765" y="2501"/>
                  </a:lnTo>
                  <a:cubicBezTo>
                    <a:pt x="11765" y="1906"/>
                    <a:pt x="11693" y="1311"/>
                    <a:pt x="11527" y="715"/>
                  </a:cubicBezTo>
                  <a:cubicBezTo>
                    <a:pt x="11408" y="287"/>
                    <a:pt x="11027" y="1"/>
                    <a:pt x="10598" y="1"/>
                  </a:cubicBezTo>
                  <a:lnTo>
                    <a:pt x="9907" y="1"/>
                  </a:lnTo>
                  <a:cubicBezTo>
                    <a:pt x="9479" y="1"/>
                    <a:pt x="9098" y="287"/>
                    <a:pt x="8979" y="715"/>
                  </a:cubicBezTo>
                  <a:cubicBezTo>
                    <a:pt x="8812" y="1311"/>
                    <a:pt x="8740" y="1906"/>
                    <a:pt x="8740" y="2501"/>
                  </a:cubicBezTo>
                  <a:lnTo>
                    <a:pt x="8717" y="2501"/>
                  </a:lnTo>
                  <a:cubicBezTo>
                    <a:pt x="8550" y="2501"/>
                    <a:pt x="8407" y="2620"/>
                    <a:pt x="8407" y="2811"/>
                  </a:cubicBezTo>
                  <a:lnTo>
                    <a:pt x="8407" y="3192"/>
                  </a:lnTo>
                  <a:lnTo>
                    <a:pt x="8097" y="3192"/>
                  </a:lnTo>
                  <a:lnTo>
                    <a:pt x="8097" y="2811"/>
                  </a:lnTo>
                  <a:cubicBezTo>
                    <a:pt x="8097" y="2620"/>
                    <a:pt x="7955" y="2501"/>
                    <a:pt x="7788" y="2501"/>
                  </a:cubicBezTo>
                  <a:lnTo>
                    <a:pt x="7764" y="2501"/>
                  </a:lnTo>
                  <a:cubicBezTo>
                    <a:pt x="7764" y="1906"/>
                    <a:pt x="7669" y="1311"/>
                    <a:pt x="7526" y="715"/>
                  </a:cubicBezTo>
                  <a:cubicBezTo>
                    <a:pt x="7407" y="287"/>
                    <a:pt x="7026" y="1"/>
                    <a:pt x="6573" y="1"/>
                  </a:cubicBezTo>
                  <a:lnTo>
                    <a:pt x="5907" y="1"/>
                  </a:lnTo>
                  <a:cubicBezTo>
                    <a:pt x="5454" y="1"/>
                    <a:pt x="5073" y="287"/>
                    <a:pt x="4978" y="715"/>
                  </a:cubicBezTo>
                  <a:cubicBezTo>
                    <a:pt x="4811" y="1311"/>
                    <a:pt x="4740" y="1906"/>
                    <a:pt x="4716" y="2501"/>
                  </a:cubicBezTo>
                  <a:lnTo>
                    <a:pt x="4692" y="2501"/>
                  </a:lnTo>
                  <a:cubicBezTo>
                    <a:pt x="4525" y="2501"/>
                    <a:pt x="4382" y="2620"/>
                    <a:pt x="4382" y="2811"/>
                  </a:cubicBezTo>
                  <a:lnTo>
                    <a:pt x="4382" y="3192"/>
                  </a:lnTo>
                  <a:lnTo>
                    <a:pt x="4073" y="3192"/>
                  </a:lnTo>
                  <a:lnTo>
                    <a:pt x="4073" y="2811"/>
                  </a:lnTo>
                  <a:cubicBezTo>
                    <a:pt x="4073" y="2620"/>
                    <a:pt x="3930" y="2501"/>
                    <a:pt x="3763" y="2501"/>
                  </a:cubicBezTo>
                  <a:lnTo>
                    <a:pt x="3739" y="2501"/>
                  </a:lnTo>
                  <a:cubicBezTo>
                    <a:pt x="3739" y="1906"/>
                    <a:pt x="3668" y="1311"/>
                    <a:pt x="3501" y="715"/>
                  </a:cubicBezTo>
                  <a:cubicBezTo>
                    <a:pt x="3382" y="287"/>
                    <a:pt x="3001" y="1"/>
                    <a:pt x="25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84;p74">
              <a:extLst>
                <a:ext uri="{FF2B5EF4-FFF2-40B4-BE49-F238E27FC236}">
                  <a16:creationId xmlns:a16="http://schemas.microsoft.com/office/drawing/2014/main" id="{A29F1C93-AD45-2DD2-F6D7-9B64E29BB92F}"/>
                </a:ext>
              </a:extLst>
            </p:cNvPr>
            <p:cNvSpPr/>
            <p:nvPr/>
          </p:nvSpPr>
          <p:spPr>
            <a:xfrm>
              <a:off x="1391215" y="3364597"/>
              <a:ext cx="243834" cy="167743"/>
            </a:xfrm>
            <a:custGeom>
              <a:avLst/>
              <a:gdLst/>
              <a:ahLst/>
              <a:cxnLst/>
              <a:rect l="l" t="t" r="r" b="b"/>
              <a:pathLst>
                <a:path w="7098" h="4883" extrusionOk="0">
                  <a:moveTo>
                    <a:pt x="6740" y="1286"/>
                  </a:moveTo>
                  <a:lnTo>
                    <a:pt x="6740" y="1929"/>
                  </a:lnTo>
                  <a:lnTo>
                    <a:pt x="358" y="1929"/>
                  </a:lnTo>
                  <a:lnTo>
                    <a:pt x="358" y="1286"/>
                  </a:lnTo>
                  <a:close/>
                  <a:moveTo>
                    <a:pt x="1715" y="0"/>
                  </a:moveTo>
                  <a:cubicBezTo>
                    <a:pt x="1620" y="0"/>
                    <a:pt x="1525" y="72"/>
                    <a:pt x="1525" y="191"/>
                  </a:cubicBezTo>
                  <a:lnTo>
                    <a:pt x="1525" y="929"/>
                  </a:lnTo>
                  <a:lnTo>
                    <a:pt x="167" y="929"/>
                  </a:lnTo>
                  <a:cubicBezTo>
                    <a:pt x="72" y="929"/>
                    <a:pt x="1" y="1001"/>
                    <a:pt x="1" y="1120"/>
                  </a:cubicBezTo>
                  <a:lnTo>
                    <a:pt x="1" y="4692"/>
                  </a:lnTo>
                  <a:cubicBezTo>
                    <a:pt x="1" y="4787"/>
                    <a:pt x="72" y="4882"/>
                    <a:pt x="167" y="4882"/>
                  </a:cubicBezTo>
                  <a:lnTo>
                    <a:pt x="6931" y="4882"/>
                  </a:lnTo>
                  <a:cubicBezTo>
                    <a:pt x="7026" y="4882"/>
                    <a:pt x="7097" y="4787"/>
                    <a:pt x="7097" y="4692"/>
                  </a:cubicBezTo>
                  <a:lnTo>
                    <a:pt x="7097" y="3525"/>
                  </a:lnTo>
                  <a:cubicBezTo>
                    <a:pt x="7097" y="3406"/>
                    <a:pt x="7026" y="3334"/>
                    <a:pt x="6931" y="3334"/>
                  </a:cubicBezTo>
                  <a:cubicBezTo>
                    <a:pt x="6812" y="3334"/>
                    <a:pt x="6740" y="3406"/>
                    <a:pt x="6740" y="3525"/>
                  </a:cubicBezTo>
                  <a:lnTo>
                    <a:pt x="6740" y="4501"/>
                  </a:lnTo>
                  <a:lnTo>
                    <a:pt x="358" y="4501"/>
                  </a:lnTo>
                  <a:lnTo>
                    <a:pt x="358" y="2310"/>
                  </a:lnTo>
                  <a:lnTo>
                    <a:pt x="6740" y="2310"/>
                  </a:lnTo>
                  <a:lnTo>
                    <a:pt x="6740" y="2787"/>
                  </a:lnTo>
                  <a:cubicBezTo>
                    <a:pt x="6740" y="2882"/>
                    <a:pt x="6812" y="2953"/>
                    <a:pt x="6931" y="2953"/>
                  </a:cubicBezTo>
                  <a:cubicBezTo>
                    <a:pt x="7026" y="2953"/>
                    <a:pt x="7097" y="2882"/>
                    <a:pt x="7097" y="2787"/>
                  </a:cubicBezTo>
                  <a:lnTo>
                    <a:pt x="7097" y="1120"/>
                  </a:lnTo>
                  <a:cubicBezTo>
                    <a:pt x="7097" y="1001"/>
                    <a:pt x="7026" y="929"/>
                    <a:pt x="6931" y="929"/>
                  </a:cubicBezTo>
                  <a:lnTo>
                    <a:pt x="5573" y="929"/>
                  </a:lnTo>
                  <a:lnTo>
                    <a:pt x="5573" y="191"/>
                  </a:lnTo>
                  <a:cubicBezTo>
                    <a:pt x="5573" y="72"/>
                    <a:pt x="5478" y="0"/>
                    <a:pt x="5383" y="0"/>
                  </a:cubicBezTo>
                  <a:cubicBezTo>
                    <a:pt x="5287" y="0"/>
                    <a:pt x="5192" y="72"/>
                    <a:pt x="5192" y="191"/>
                  </a:cubicBezTo>
                  <a:lnTo>
                    <a:pt x="5192" y="929"/>
                  </a:lnTo>
                  <a:lnTo>
                    <a:pt x="1906" y="929"/>
                  </a:lnTo>
                  <a:lnTo>
                    <a:pt x="1906" y="191"/>
                  </a:lnTo>
                  <a:cubicBezTo>
                    <a:pt x="1906" y="72"/>
                    <a:pt x="1810" y="0"/>
                    <a:pt x="1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61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67"/>
          <p:cNvSpPr txBox="1">
            <a:spLocks noGrp="1"/>
          </p:cNvSpPr>
          <p:nvPr>
            <p:ph type="title"/>
          </p:nvPr>
        </p:nvSpPr>
        <p:spPr>
          <a:xfrm>
            <a:off x="1592702" y="1356950"/>
            <a:ext cx="5966100" cy="8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BUSINESS RECOMMENDATION</a:t>
            </a:r>
            <a:endParaRPr sz="3200"/>
          </a:p>
        </p:txBody>
      </p:sp>
      <p:sp>
        <p:nvSpPr>
          <p:cNvPr id="1016" name="Google Shape;1016;p67"/>
          <p:cNvSpPr txBox="1">
            <a:spLocks noGrp="1"/>
          </p:cNvSpPr>
          <p:nvPr>
            <p:ph type="title" idx="2"/>
          </p:nvPr>
        </p:nvSpPr>
        <p:spPr>
          <a:xfrm>
            <a:off x="3889202" y="539451"/>
            <a:ext cx="1373100" cy="7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17" name="Google Shape;1017;p67"/>
          <p:cNvSpPr txBox="1">
            <a:spLocks noGrp="1"/>
          </p:cNvSpPr>
          <p:nvPr>
            <p:ph type="subTitle" idx="1"/>
          </p:nvPr>
        </p:nvSpPr>
        <p:spPr>
          <a:xfrm>
            <a:off x="2350652" y="2204650"/>
            <a:ext cx="4450200" cy="4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Data-driven Recommendations</a:t>
            </a:r>
            <a:endParaRPr sz="1400"/>
          </a:p>
        </p:txBody>
      </p:sp>
      <p:pic>
        <p:nvPicPr>
          <p:cNvPr id="2" name="Google Shape;1018;p67"/>
          <p:cNvPicPr preferRelativeResize="0"/>
          <p:nvPr/>
        </p:nvPicPr>
        <p:blipFill rotWithShape="1">
          <a:blip r:embed="rId3">
            <a:alphaModFix/>
          </a:blip>
          <a:srcRect l="2383" t="2861" r="1895" b="4564"/>
          <a:stretch/>
        </p:blipFill>
        <p:spPr>
          <a:xfrm rot="1550832">
            <a:off x="1361572" y="2040003"/>
            <a:ext cx="6290995" cy="3195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Prioritize High-Impact Segments</a:t>
            </a:r>
            <a:endParaRPr sz="2800"/>
          </a:p>
        </p:txBody>
      </p:sp>
      <p:sp>
        <p:nvSpPr>
          <p:cNvPr id="953" name="Google Shape;953;p66"/>
          <p:cNvSpPr txBox="1">
            <a:spLocks noGrp="1"/>
          </p:cNvSpPr>
          <p:nvPr>
            <p:ph type="title" idx="2"/>
          </p:nvPr>
        </p:nvSpPr>
        <p:spPr>
          <a:xfrm>
            <a:off x="1665433" y="1517171"/>
            <a:ext cx="5225224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Leverage High-Satisfaction Business Segment</a:t>
            </a:r>
            <a:endParaRPr/>
          </a:p>
        </p:txBody>
      </p:sp>
      <p:sp>
        <p:nvSpPr>
          <p:cNvPr id="954" name="Google Shape;954;p66"/>
          <p:cNvSpPr txBox="1">
            <a:spLocks noGrp="1"/>
          </p:cNvSpPr>
          <p:nvPr>
            <p:ph type="subTitle" idx="1"/>
          </p:nvPr>
        </p:nvSpPr>
        <p:spPr>
          <a:xfrm>
            <a:off x="1665434" y="1881258"/>
            <a:ext cx="6765466" cy="835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Business travel - Business</a:t>
            </a:r>
            <a:r>
              <a:rPr lang="en-US"/>
              <a:t> shows the highest satisfaction (~72%), indicating strong response to service quality. Maintain and enhance premium experience to retain high-value customers</a:t>
            </a:r>
            <a:endParaRPr/>
          </a:p>
        </p:txBody>
      </p:sp>
      <p:sp>
        <p:nvSpPr>
          <p:cNvPr id="961" name="Google Shape;961;p66"/>
          <p:cNvSpPr txBox="1">
            <a:spLocks noGrp="1"/>
          </p:cNvSpPr>
          <p:nvPr>
            <p:ph type="title" idx="9"/>
          </p:nvPr>
        </p:nvSpPr>
        <p:spPr>
          <a:xfrm>
            <a:off x="1665435" y="2930015"/>
            <a:ext cx="5225223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 Low-Satisfaction Economy Segments</a:t>
            </a:r>
            <a:endParaRPr/>
          </a:p>
        </p:txBody>
      </p:sp>
      <p:sp>
        <p:nvSpPr>
          <p:cNvPr id="962" name="Google Shape;962;p66"/>
          <p:cNvSpPr txBox="1">
            <a:spLocks noGrp="1"/>
          </p:cNvSpPr>
          <p:nvPr>
            <p:ph type="subTitle" idx="13"/>
          </p:nvPr>
        </p:nvSpPr>
        <p:spPr>
          <a:xfrm>
            <a:off x="1665435" y="3294674"/>
            <a:ext cx="6765465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Personal Travel - Eco and Eco Plus</a:t>
            </a:r>
            <a:r>
              <a:rPr lang="en-US"/>
              <a:t> show extremely low satisfaction (&lt;20%). Target these segments for improvement to reduce dissatisfaction at scale</a:t>
            </a:r>
            <a:endParaRPr/>
          </a:p>
        </p:txBody>
      </p:sp>
      <p:sp>
        <p:nvSpPr>
          <p:cNvPr id="965" name="Google Shape;965;p66"/>
          <p:cNvSpPr/>
          <p:nvPr/>
        </p:nvSpPr>
        <p:spPr>
          <a:xfrm>
            <a:off x="712374" y="162870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6"/>
          <p:cNvSpPr/>
          <p:nvPr/>
        </p:nvSpPr>
        <p:spPr>
          <a:xfrm>
            <a:off x="712376" y="3043070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66"/>
          <p:cNvGrpSpPr/>
          <p:nvPr/>
        </p:nvGrpSpPr>
        <p:grpSpPr>
          <a:xfrm>
            <a:off x="873633" y="1777958"/>
            <a:ext cx="404982" cy="428994"/>
            <a:chOff x="6761953" y="2720487"/>
            <a:chExt cx="404982" cy="428994"/>
          </a:xfrm>
        </p:grpSpPr>
        <p:sp>
          <p:nvSpPr>
            <p:cNvPr id="996" name="Google Shape;996;p66"/>
            <p:cNvSpPr/>
            <p:nvPr/>
          </p:nvSpPr>
          <p:spPr>
            <a:xfrm>
              <a:off x="7002490" y="2756901"/>
              <a:ext cx="98179" cy="76778"/>
            </a:xfrm>
            <a:custGeom>
              <a:avLst/>
              <a:gdLst/>
              <a:ahLst/>
              <a:cxnLst/>
              <a:rect l="l" t="t" r="r" b="b"/>
              <a:pathLst>
                <a:path w="2858" h="2235" extrusionOk="0">
                  <a:moveTo>
                    <a:pt x="1845" y="1"/>
                  </a:moveTo>
                  <a:cubicBezTo>
                    <a:pt x="1807" y="1"/>
                    <a:pt x="1768" y="14"/>
                    <a:pt x="1739" y="44"/>
                  </a:cubicBezTo>
                  <a:lnTo>
                    <a:pt x="834" y="758"/>
                  </a:lnTo>
                  <a:lnTo>
                    <a:pt x="238" y="639"/>
                  </a:lnTo>
                  <a:cubicBezTo>
                    <a:pt x="143" y="639"/>
                    <a:pt x="48" y="687"/>
                    <a:pt x="24" y="806"/>
                  </a:cubicBezTo>
                  <a:cubicBezTo>
                    <a:pt x="0" y="901"/>
                    <a:pt x="72" y="996"/>
                    <a:pt x="167" y="1020"/>
                  </a:cubicBezTo>
                  <a:lnTo>
                    <a:pt x="762" y="1116"/>
                  </a:lnTo>
                  <a:lnTo>
                    <a:pt x="1334" y="2140"/>
                  </a:lnTo>
                  <a:cubicBezTo>
                    <a:pt x="1358" y="2187"/>
                    <a:pt x="1429" y="2235"/>
                    <a:pt x="1477" y="2235"/>
                  </a:cubicBezTo>
                  <a:cubicBezTo>
                    <a:pt x="1524" y="2235"/>
                    <a:pt x="1548" y="2211"/>
                    <a:pt x="1572" y="2211"/>
                  </a:cubicBezTo>
                  <a:cubicBezTo>
                    <a:pt x="1667" y="2163"/>
                    <a:pt x="1691" y="2044"/>
                    <a:pt x="1643" y="1949"/>
                  </a:cubicBezTo>
                  <a:lnTo>
                    <a:pt x="1238" y="1211"/>
                  </a:lnTo>
                  <a:lnTo>
                    <a:pt x="2001" y="1378"/>
                  </a:lnTo>
                  <a:lnTo>
                    <a:pt x="2334" y="1806"/>
                  </a:lnTo>
                  <a:cubicBezTo>
                    <a:pt x="2358" y="1878"/>
                    <a:pt x="2405" y="1901"/>
                    <a:pt x="2477" y="1901"/>
                  </a:cubicBezTo>
                  <a:cubicBezTo>
                    <a:pt x="2501" y="1901"/>
                    <a:pt x="2548" y="1878"/>
                    <a:pt x="2572" y="1854"/>
                  </a:cubicBezTo>
                  <a:cubicBezTo>
                    <a:pt x="2667" y="1806"/>
                    <a:pt x="2691" y="1687"/>
                    <a:pt x="2620" y="1616"/>
                  </a:cubicBezTo>
                  <a:lnTo>
                    <a:pt x="2382" y="1258"/>
                  </a:lnTo>
                  <a:lnTo>
                    <a:pt x="2739" y="1020"/>
                  </a:lnTo>
                  <a:cubicBezTo>
                    <a:pt x="2834" y="973"/>
                    <a:pt x="2858" y="854"/>
                    <a:pt x="2786" y="758"/>
                  </a:cubicBezTo>
                  <a:cubicBezTo>
                    <a:pt x="2756" y="712"/>
                    <a:pt x="2695" y="686"/>
                    <a:pt x="2637" y="686"/>
                  </a:cubicBezTo>
                  <a:cubicBezTo>
                    <a:pt x="2605" y="686"/>
                    <a:pt x="2574" y="694"/>
                    <a:pt x="2548" y="711"/>
                  </a:cubicBezTo>
                  <a:lnTo>
                    <a:pt x="2072" y="1020"/>
                  </a:lnTo>
                  <a:lnTo>
                    <a:pt x="1310" y="854"/>
                  </a:lnTo>
                  <a:lnTo>
                    <a:pt x="1953" y="330"/>
                  </a:lnTo>
                  <a:cubicBezTo>
                    <a:pt x="2048" y="258"/>
                    <a:pt x="2048" y="139"/>
                    <a:pt x="1977" y="68"/>
                  </a:cubicBezTo>
                  <a:cubicBezTo>
                    <a:pt x="1949" y="26"/>
                    <a:pt x="1897" y="1"/>
                    <a:pt x="18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6"/>
            <p:cNvSpPr/>
            <p:nvPr/>
          </p:nvSpPr>
          <p:spPr>
            <a:xfrm>
              <a:off x="7049930" y="2850821"/>
              <a:ext cx="20474" cy="46685"/>
            </a:xfrm>
            <a:custGeom>
              <a:avLst/>
              <a:gdLst/>
              <a:ahLst/>
              <a:cxnLst/>
              <a:rect l="l" t="t" r="r" b="b"/>
              <a:pathLst>
                <a:path w="596" h="1359" extrusionOk="0">
                  <a:moveTo>
                    <a:pt x="429" y="1"/>
                  </a:moveTo>
                  <a:cubicBezTo>
                    <a:pt x="334" y="1"/>
                    <a:pt x="239" y="49"/>
                    <a:pt x="215" y="144"/>
                  </a:cubicBezTo>
                  <a:lnTo>
                    <a:pt x="24" y="1144"/>
                  </a:lnTo>
                  <a:cubicBezTo>
                    <a:pt x="0" y="1239"/>
                    <a:pt x="72" y="1335"/>
                    <a:pt x="167" y="1358"/>
                  </a:cubicBezTo>
                  <a:lnTo>
                    <a:pt x="215" y="1358"/>
                  </a:lnTo>
                  <a:cubicBezTo>
                    <a:pt x="286" y="1358"/>
                    <a:pt x="381" y="1287"/>
                    <a:pt x="381" y="1215"/>
                  </a:cubicBezTo>
                  <a:lnTo>
                    <a:pt x="572" y="215"/>
                  </a:lnTo>
                  <a:cubicBezTo>
                    <a:pt x="596" y="120"/>
                    <a:pt x="548" y="25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6"/>
            <p:cNvSpPr/>
            <p:nvPr/>
          </p:nvSpPr>
          <p:spPr>
            <a:xfrm>
              <a:off x="7072844" y="2855596"/>
              <a:ext cx="20474" cy="45998"/>
            </a:xfrm>
            <a:custGeom>
              <a:avLst/>
              <a:gdLst/>
              <a:ahLst/>
              <a:cxnLst/>
              <a:rect l="l" t="t" r="r" b="b"/>
              <a:pathLst>
                <a:path w="596" h="1339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24"/>
                  </a:lnTo>
                  <a:cubicBezTo>
                    <a:pt x="0" y="1219"/>
                    <a:pt x="72" y="1315"/>
                    <a:pt x="167" y="1338"/>
                  </a:cubicBezTo>
                  <a:lnTo>
                    <a:pt x="191" y="1338"/>
                  </a:lnTo>
                  <a:cubicBezTo>
                    <a:pt x="286" y="1338"/>
                    <a:pt x="357" y="1291"/>
                    <a:pt x="381" y="1196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6"/>
            <p:cNvSpPr/>
            <p:nvPr/>
          </p:nvSpPr>
          <p:spPr>
            <a:xfrm>
              <a:off x="7094932" y="2859684"/>
              <a:ext cx="20474" cy="46822"/>
            </a:xfrm>
            <a:custGeom>
              <a:avLst/>
              <a:gdLst/>
              <a:ahLst/>
              <a:cxnLst/>
              <a:rect l="l" t="t" r="r" b="b"/>
              <a:pathLst>
                <a:path w="596" h="1363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48"/>
                  </a:lnTo>
                  <a:cubicBezTo>
                    <a:pt x="0" y="1243"/>
                    <a:pt x="72" y="1338"/>
                    <a:pt x="167" y="1362"/>
                  </a:cubicBezTo>
                  <a:lnTo>
                    <a:pt x="214" y="1362"/>
                  </a:lnTo>
                  <a:cubicBezTo>
                    <a:pt x="286" y="1362"/>
                    <a:pt x="381" y="1291"/>
                    <a:pt x="381" y="1219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6"/>
            <p:cNvSpPr/>
            <p:nvPr/>
          </p:nvSpPr>
          <p:spPr>
            <a:xfrm>
              <a:off x="7049106" y="2958653"/>
              <a:ext cx="34387" cy="117176"/>
            </a:xfrm>
            <a:custGeom>
              <a:avLst/>
              <a:gdLst/>
              <a:ahLst/>
              <a:cxnLst/>
              <a:rect l="l" t="t" r="r" b="b"/>
              <a:pathLst>
                <a:path w="1001" h="3411" extrusionOk="0">
                  <a:moveTo>
                    <a:pt x="797" y="1"/>
                  </a:moveTo>
                  <a:cubicBezTo>
                    <a:pt x="715" y="1"/>
                    <a:pt x="640" y="66"/>
                    <a:pt x="620" y="148"/>
                  </a:cubicBezTo>
                  <a:lnTo>
                    <a:pt x="24" y="3197"/>
                  </a:lnTo>
                  <a:cubicBezTo>
                    <a:pt x="1" y="3292"/>
                    <a:pt x="72" y="3387"/>
                    <a:pt x="167" y="3411"/>
                  </a:cubicBezTo>
                  <a:lnTo>
                    <a:pt x="215" y="3411"/>
                  </a:lnTo>
                  <a:cubicBezTo>
                    <a:pt x="286" y="3411"/>
                    <a:pt x="358" y="3363"/>
                    <a:pt x="382" y="3268"/>
                  </a:cubicBezTo>
                  <a:lnTo>
                    <a:pt x="977" y="220"/>
                  </a:lnTo>
                  <a:cubicBezTo>
                    <a:pt x="1001" y="124"/>
                    <a:pt x="929" y="29"/>
                    <a:pt x="834" y="5"/>
                  </a:cubicBezTo>
                  <a:cubicBezTo>
                    <a:pt x="822" y="2"/>
                    <a:pt x="809" y="1"/>
                    <a:pt x="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6"/>
            <p:cNvSpPr/>
            <p:nvPr/>
          </p:nvSpPr>
          <p:spPr>
            <a:xfrm>
              <a:off x="6818395" y="2871295"/>
              <a:ext cx="137479" cy="137479"/>
            </a:xfrm>
            <a:custGeom>
              <a:avLst/>
              <a:gdLst/>
              <a:ahLst/>
              <a:cxnLst/>
              <a:rect l="l" t="t" r="r" b="b"/>
              <a:pathLst>
                <a:path w="4002" h="4002" extrusionOk="0">
                  <a:moveTo>
                    <a:pt x="2001" y="357"/>
                  </a:moveTo>
                  <a:cubicBezTo>
                    <a:pt x="2049" y="357"/>
                    <a:pt x="2168" y="477"/>
                    <a:pt x="2287" y="762"/>
                  </a:cubicBezTo>
                  <a:cubicBezTo>
                    <a:pt x="2335" y="929"/>
                    <a:pt x="2382" y="1096"/>
                    <a:pt x="2406" y="1310"/>
                  </a:cubicBezTo>
                  <a:cubicBezTo>
                    <a:pt x="2263" y="1286"/>
                    <a:pt x="2144" y="1286"/>
                    <a:pt x="2001" y="1286"/>
                  </a:cubicBezTo>
                  <a:cubicBezTo>
                    <a:pt x="1858" y="1286"/>
                    <a:pt x="1715" y="1286"/>
                    <a:pt x="1573" y="1310"/>
                  </a:cubicBezTo>
                  <a:cubicBezTo>
                    <a:pt x="1620" y="1096"/>
                    <a:pt x="1668" y="929"/>
                    <a:pt x="1715" y="762"/>
                  </a:cubicBezTo>
                  <a:cubicBezTo>
                    <a:pt x="1811" y="477"/>
                    <a:pt x="1930" y="357"/>
                    <a:pt x="2001" y="357"/>
                  </a:cubicBezTo>
                  <a:close/>
                  <a:moveTo>
                    <a:pt x="1454" y="453"/>
                  </a:moveTo>
                  <a:lnTo>
                    <a:pt x="1454" y="453"/>
                  </a:lnTo>
                  <a:cubicBezTo>
                    <a:pt x="1334" y="691"/>
                    <a:pt x="1263" y="1000"/>
                    <a:pt x="1215" y="1334"/>
                  </a:cubicBezTo>
                  <a:cubicBezTo>
                    <a:pt x="1001" y="1358"/>
                    <a:pt x="811" y="1405"/>
                    <a:pt x="668" y="1453"/>
                  </a:cubicBezTo>
                  <a:cubicBezTo>
                    <a:pt x="572" y="1477"/>
                    <a:pt x="501" y="1501"/>
                    <a:pt x="430" y="1524"/>
                  </a:cubicBezTo>
                  <a:cubicBezTo>
                    <a:pt x="572" y="1024"/>
                    <a:pt x="953" y="619"/>
                    <a:pt x="1454" y="453"/>
                  </a:cubicBezTo>
                  <a:close/>
                  <a:moveTo>
                    <a:pt x="2549" y="453"/>
                  </a:moveTo>
                  <a:cubicBezTo>
                    <a:pt x="3025" y="619"/>
                    <a:pt x="3406" y="1024"/>
                    <a:pt x="3573" y="1524"/>
                  </a:cubicBezTo>
                  <a:cubicBezTo>
                    <a:pt x="3502" y="1501"/>
                    <a:pt x="3406" y="1477"/>
                    <a:pt x="3335" y="1453"/>
                  </a:cubicBezTo>
                  <a:cubicBezTo>
                    <a:pt x="3168" y="1405"/>
                    <a:pt x="2978" y="1358"/>
                    <a:pt x="2787" y="1334"/>
                  </a:cubicBezTo>
                  <a:cubicBezTo>
                    <a:pt x="2740" y="1000"/>
                    <a:pt x="2668" y="691"/>
                    <a:pt x="2549" y="453"/>
                  </a:cubicBezTo>
                  <a:close/>
                  <a:moveTo>
                    <a:pt x="1168" y="1715"/>
                  </a:moveTo>
                  <a:cubicBezTo>
                    <a:pt x="1168" y="1810"/>
                    <a:pt x="1168" y="1905"/>
                    <a:pt x="1168" y="2001"/>
                  </a:cubicBezTo>
                  <a:cubicBezTo>
                    <a:pt x="1168" y="2096"/>
                    <a:pt x="1168" y="2191"/>
                    <a:pt x="1168" y="2263"/>
                  </a:cubicBezTo>
                  <a:cubicBezTo>
                    <a:pt x="1049" y="2263"/>
                    <a:pt x="930" y="2239"/>
                    <a:pt x="834" y="2191"/>
                  </a:cubicBezTo>
                  <a:cubicBezTo>
                    <a:pt x="501" y="2120"/>
                    <a:pt x="382" y="2025"/>
                    <a:pt x="358" y="2001"/>
                  </a:cubicBezTo>
                  <a:cubicBezTo>
                    <a:pt x="382" y="1953"/>
                    <a:pt x="501" y="1858"/>
                    <a:pt x="834" y="1786"/>
                  </a:cubicBezTo>
                  <a:cubicBezTo>
                    <a:pt x="930" y="1763"/>
                    <a:pt x="1049" y="1739"/>
                    <a:pt x="1168" y="1715"/>
                  </a:cubicBezTo>
                  <a:close/>
                  <a:moveTo>
                    <a:pt x="2811" y="1715"/>
                  </a:moveTo>
                  <a:lnTo>
                    <a:pt x="2811" y="1715"/>
                  </a:lnTo>
                  <a:cubicBezTo>
                    <a:pt x="2930" y="1739"/>
                    <a:pt x="3049" y="1763"/>
                    <a:pt x="3168" y="1786"/>
                  </a:cubicBezTo>
                  <a:cubicBezTo>
                    <a:pt x="3478" y="1858"/>
                    <a:pt x="3597" y="1953"/>
                    <a:pt x="3621" y="2001"/>
                  </a:cubicBezTo>
                  <a:cubicBezTo>
                    <a:pt x="3597" y="2025"/>
                    <a:pt x="3478" y="2120"/>
                    <a:pt x="3168" y="2191"/>
                  </a:cubicBezTo>
                  <a:cubicBezTo>
                    <a:pt x="3049" y="2239"/>
                    <a:pt x="2930" y="2263"/>
                    <a:pt x="2811" y="2263"/>
                  </a:cubicBezTo>
                  <a:cubicBezTo>
                    <a:pt x="2811" y="2191"/>
                    <a:pt x="2835" y="2096"/>
                    <a:pt x="2835" y="2001"/>
                  </a:cubicBezTo>
                  <a:cubicBezTo>
                    <a:pt x="2835" y="1905"/>
                    <a:pt x="2811" y="1810"/>
                    <a:pt x="2811" y="1715"/>
                  </a:cubicBezTo>
                  <a:close/>
                  <a:moveTo>
                    <a:pt x="2001" y="1643"/>
                  </a:moveTo>
                  <a:cubicBezTo>
                    <a:pt x="2144" y="1643"/>
                    <a:pt x="2311" y="1667"/>
                    <a:pt x="2454" y="1667"/>
                  </a:cubicBezTo>
                  <a:cubicBezTo>
                    <a:pt x="2454" y="1786"/>
                    <a:pt x="2454" y="1882"/>
                    <a:pt x="2454" y="2001"/>
                  </a:cubicBezTo>
                  <a:cubicBezTo>
                    <a:pt x="2454" y="2096"/>
                    <a:pt x="2454" y="2215"/>
                    <a:pt x="2454" y="2310"/>
                  </a:cubicBezTo>
                  <a:cubicBezTo>
                    <a:pt x="2311" y="2334"/>
                    <a:pt x="2144" y="2334"/>
                    <a:pt x="2001" y="2334"/>
                  </a:cubicBezTo>
                  <a:cubicBezTo>
                    <a:pt x="1835" y="2334"/>
                    <a:pt x="1692" y="2334"/>
                    <a:pt x="1549" y="2310"/>
                  </a:cubicBezTo>
                  <a:cubicBezTo>
                    <a:pt x="1549" y="2215"/>
                    <a:pt x="1525" y="2096"/>
                    <a:pt x="1525" y="2001"/>
                  </a:cubicBezTo>
                  <a:cubicBezTo>
                    <a:pt x="1525" y="1882"/>
                    <a:pt x="1549" y="1786"/>
                    <a:pt x="1549" y="1667"/>
                  </a:cubicBezTo>
                  <a:cubicBezTo>
                    <a:pt x="1692" y="1667"/>
                    <a:pt x="1835" y="1643"/>
                    <a:pt x="2001" y="1643"/>
                  </a:cubicBezTo>
                  <a:close/>
                  <a:moveTo>
                    <a:pt x="430" y="2453"/>
                  </a:moveTo>
                  <a:lnTo>
                    <a:pt x="430" y="2453"/>
                  </a:lnTo>
                  <a:cubicBezTo>
                    <a:pt x="501" y="2477"/>
                    <a:pt x="572" y="2525"/>
                    <a:pt x="668" y="2548"/>
                  </a:cubicBezTo>
                  <a:cubicBezTo>
                    <a:pt x="834" y="2572"/>
                    <a:pt x="1001" y="2620"/>
                    <a:pt x="1215" y="2644"/>
                  </a:cubicBezTo>
                  <a:cubicBezTo>
                    <a:pt x="1263" y="2977"/>
                    <a:pt x="1334" y="3287"/>
                    <a:pt x="1454" y="3525"/>
                  </a:cubicBezTo>
                  <a:cubicBezTo>
                    <a:pt x="953" y="3358"/>
                    <a:pt x="572" y="2953"/>
                    <a:pt x="430" y="2453"/>
                  </a:cubicBezTo>
                  <a:close/>
                  <a:moveTo>
                    <a:pt x="3573" y="2453"/>
                  </a:moveTo>
                  <a:cubicBezTo>
                    <a:pt x="3406" y="2953"/>
                    <a:pt x="3025" y="3358"/>
                    <a:pt x="2549" y="3525"/>
                  </a:cubicBezTo>
                  <a:cubicBezTo>
                    <a:pt x="2668" y="3287"/>
                    <a:pt x="2740" y="2977"/>
                    <a:pt x="2787" y="2644"/>
                  </a:cubicBezTo>
                  <a:cubicBezTo>
                    <a:pt x="2978" y="2620"/>
                    <a:pt x="3168" y="2572"/>
                    <a:pt x="3335" y="2548"/>
                  </a:cubicBezTo>
                  <a:cubicBezTo>
                    <a:pt x="3406" y="2501"/>
                    <a:pt x="3502" y="2477"/>
                    <a:pt x="3573" y="2453"/>
                  </a:cubicBezTo>
                  <a:close/>
                  <a:moveTo>
                    <a:pt x="2406" y="2691"/>
                  </a:moveTo>
                  <a:cubicBezTo>
                    <a:pt x="2382" y="2882"/>
                    <a:pt x="2335" y="3072"/>
                    <a:pt x="2287" y="3215"/>
                  </a:cubicBezTo>
                  <a:cubicBezTo>
                    <a:pt x="2168" y="3525"/>
                    <a:pt x="2049" y="3620"/>
                    <a:pt x="2001" y="3620"/>
                  </a:cubicBezTo>
                  <a:cubicBezTo>
                    <a:pt x="1930" y="3620"/>
                    <a:pt x="1811" y="3525"/>
                    <a:pt x="1715" y="3215"/>
                  </a:cubicBezTo>
                  <a:cubicBezTo>
                    <a:pt x="1668" y="3072"/>
                    <a:pt x="1620" y="2882"/>
                    <a:pt x="1573" y="2691"/>
                  </a:cubicBezTo>
                  <a:close/>
                  <a:moveTo>
                    <a:pt x="2001" y="0"/>
                  </a:moveTo>
                  <a:cubicBezTo>
                    <a:pt x="882" y="0"/>
                    <a:pt x="1" y="881"/>
                    <a:pt x="1" y="2001"/>
                  </a:cubicBezTo>
                  <a:cubicBezTo>
                    <a:pt x="1" y="3096"/>
                    <a:pt x="882" y="4001"/>
                    <a:pt x="2001" y="4001"/>
                  </a:cubicBezTo>
                  <a:cubicBezTo>
                    <a:pt x="3097" y="4001"/>
                    <a:pt x="4002" y="3096"/>
                    <a:pt x="4002" y="2001"/>
                  </a:cubicBezTo>
                  <a:cubicBezTo>
                    <a:pt x="4002" y="881"/>
                    <a:pt x="3097" y="0"/>
                    <a:pt x="2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6"/>
            <p:cNvSpPr/>
            <p:nvPr/>
          </p:nvSpPr>
          <p:spPr>
            <a:xfrm>
              <a:off x="6820044" y="3018530"/>
              <a:ext cx="133391" cy="48403"/>
            </a:xfrm>
            <a:custGeom>
              <a:avLst/>
              <a:gdLst/>
              <a:ahLst/>
              <a:cxnLst/>
              <a:rect l="l" t="t" r="r" b="b"/>
              <a:pathLst>
                <a:path w="3883" h="1409" extrusionOk="0">
                  <a:moveTo>
                    <a:pt x="3525" y="382"/>
                  </a:moveTo>
                  <a:lnTo>
                    <a:pt x="3525" y="1049"/>
                  </a:lnTo>
                  <a:lnTo>
                    <a:pt x="382" y="1049"/>
                  </a:lnTo>
                  <a:lnTo>
                    <a:pt x="382" y="382"/>
                  </a:lnTo>
                  <a:close/>
                  <a:moveTo>
                    <a:pt x="382" y="1"/>
                  </a:moveTo>
                  <a:cubicBezTo>
                    <a:pt x="167" y="1"/>
                    <a:pt x="0" y="168"/>
                    <a:pt x="0" y="382"/>
                  </a:cubicBezTo>
                  <a:lnTo>
                    <a:pt x="0" y="1049"/>
                  </a:lnTo>
                  <a:cubicBezTo>
                    <a:pt x="0" y="1263"/>
                    <a:pt x="167" y="1406"/>
                    <a:pt x="382" y="1406"/>
                  </a:cubicBezTo>
                  <a:lnTo>
                    <a:pt x="3525" y="1406"/>
                  </a:lnTo>
                  <a:cubicBezTo>
                    <a:pt x="3537" y="1407"/>
                    <a:pt x="3549" y="1408"/>
                    <a:pt x="3561" y="1408"/>
                  </a:cubicBezTo>
                  <a:cubicBezTo>
                    <a:pt x="3736" y="1408"/>
                    <a:pt x="3882" y="1249"/>
                    <a:pt x="3882" y="1049"/>
                  </a:cubicBezTo>
                  <a:lnTo>
                    <a:pt x="3882" y="382"/>
                  </a:lnTo>
                  <a:cubicBezTo>
                    <a:pt x="3882" y="168"/>
                    <a:pt x="3716" y="1"/>
                    <a:pt x="35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6"/>
            <p:cNvSpPr/>
            <p:nvPr/>
          </p:nvSpPr>
          <p:spPr>
            <a:xfrm>
              <a:off x="6836395" y="3081532"/>
              <a:ext cx="101477" cy="12298"/>
            </a:xfrm>
            <a:custGeom>
              <a:avLst/>
              <a:gdLst/>
              <a:ahLst/>
              <a:cxnLst/>
              <a:rect l="l" t="t" r="r" b="b"/>
              <a:pathLst>
                <a:path w="2954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2763" y="358"/>
                  </a:lnTo>
                  <a:cubicBezTo>
                    <a:pt x="2859" y="358"/>
                    <a:pt x="2954" y="286"/>
                    <a:pt x="2954" y="191"/>
                  </a:cubicBezTo>
                  <a:cubicBezTo>
                    <a:pt x="2954" y="72"/>
                    <a:pt x="2859" y="1"/>
                    <a:pt x="2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6"/>
            <p:cNvSpPr/>
            <p:nvPr/>
          </p:nvSpPr>
          <p:spPr>
            <a:xfrm>
              <a:off x="6861782" y="3108533"/>
              <a:ext cx="50739" cy="12298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91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62"/>
                    <a:pt x="71" y="358"/>
                    <a:pt x="191" y="358"/>
                  </a:cubicBezTo>
                  <a:lnTo>
                    <a:pt x="1286" y="358"/>
                  </a:lnTo>
                  <a:cubicBezTo>
                    <a:pt x="1381" y="358"/>
                    <a:pt x="1477" y="262"/>
                    <a:pt x="1477" y="167"/>
                  </a:cubicBezTo>
                  <a:cubicBezTo>
                    <a:pt x="1477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6"/>
            <p:cNvSpPr/>
            <p:nvPr/>
          </p:nvSpPr>
          <p:spPr>
            <a:xfrm>
              <a:off x="6761953" y="2720487"/>
              <a:ext cx="404982" cy="428994"/>
            </a:xfrm>
            <a:custGeom>
              <a:avLst/>
              <a:gdLst/>
              <a:ahLst/>
              <a:cxnLst/>
              <a:rect l="l" t="t" r="r" b="b"/>
              <a:pathLst>
                <a:path w="11789" h="12488" extrusionOk="0">
                  <a:moveTo>
                    <a:pt x="6818" y="0"/>
                  </a:moveTo>
                  <a:cubicBezTo>
                    <a:pt x="6588" y="0"/>
                    <a:pt x="6375" y="160"/>
                    <a:pt x="6311" y="413"/>
                  </a:cubicBezTo>
                  <a:lnTo>
                    <a:pt x="5716" y="3438"/>
                  </a:lnTo>
                  <a:lnTo>
                    <a:pt x="834" y="3438"/>
                  </a:lnTo>
                  <a:cubicBezTo>
                    <a:pt x="382" y="3438"/>
                    <a:pt x="1" y="3819"/>
                    <a:pt x="1" y="4271"/>
                  </a:cubicBezTo>
                  <a:lnTo>
                    <a:pt x="1" y="10320"/>
                  </a:lnTo>
                  <a:cubicBezTo>
                    <a:pt x="1" y="10415"/>
                    <a:pt x="72" y="10511"/>
                    <a:pt x="191" y="10511"/>
                  </a:cubicBezTo>
                  <a:cubicBezTo>
                    <a:pt x="286" y="10511"/>
                    <a:pt x="358" y="10415"/>
                    <a:pt x="358" y="10320"/>
                  </a:cubicBezTo>
                  <a:lnTo>
                    <a:pt x="358" y="4271"/>
                  </a:lnTo>
                  <a:cubicBezTo>
                    <a:pt x="358" y="4009"/>
                    <a:pt x="572" y="3819"/>
                    <a:pt x="834" y="3819"/>
                  </a:cubicBezTo>
                  <a:lnTo>
                    <a:pt x="6907" y="3819"/>
                  </a:lnTo>
                  <a:lnTo>
                    <a:pt x="6907" y="12130"/>
                  </a:lnTo>
                  <a:lnTo>
                    <a:pt x="834" y="12130"/>
                  </a:lnTo>
                  <a:cubicBezTo>
                    <a:pt x="572" y="12130"/>
                    <a:pt x="358" y="11916"/>
                    <a:pt x="358" y="11677"/>
                  </a:cubicBezTo>
                  <a:lnTo>
                    <a:pt x="358" y="11058"/>
                  </a:lnTo>
                  <a:cubicBezTo>
                    <a:pt x="358" y="10963"/>
                    <a:pt x="286" y="10868"/>
                    <a:pt x="191" y="10868"/>
                  </a:cubicBezTo>
                  <a:cubicBezTo>
                    <a:pt x="72" y="10868"/>
                    <a:pt x="1" y="10963"/>
                    <a:pt x="1" y="11058"/>
                  </a:cubicBezTo>
                  <a:lnTo>
                    <a:pt x="1" y="11677"/>
                  </a:lnTo>
                  <a:cubicBezTo>
                    <a:pt x="1" y="12130"/>
                    <a:pt x="382" y="12487"/>
                    <a:pt x="834" y="12487"/>
                  </a:cubicBezTo>
                  <a:lnTo>
                    <a:pt x="7097" y="12487"/>
                  </a:lnTo>
                  <a:cubicBezTo>
                    <a:pt x="7193" y="12487"/>
                    <a:pt x="7288" y="12416"/>
                    <a:pt x="7288" y="12320"/>
                  </a:cubicBezTo>
                  <a:lnTo>
                    <a:pt x="7288" y="12130"/>
                  </a:lnTo>
                  <a:lnTo>
                    <a:pt x="9074" y="12487"/>
                  </a:lnTo>
                  <a:lnTo>
                    <a:pt x="9169" y="12487"/>
                  </a:lnTo>
                  <a:cubicBezTo>
                    <a:pt x="9407" y="12487"/>
                    <a:pt x="9622" y="12320"/>
                    <a:pt x="9669" y="12082"/>
                  </a:cubicBezTo>
                  <a:lnTo>
                    <a:pt x="11741" y="1461"/>
                  </a:lnTo>
                  <a:cubicBezTo>
                    <a:pt x="11789" y="1199"/>
                    <a:pt x="11598" y="913"/>
                    <a:pt x="11336" y="866"/>
                  </a:cubicBezTo>
                  <a:lnTo>
                    <a:pt x="10836" y="770"/>
                  </a:lnTo>
                  <a:cubicBezTo>
                    <a:pt x="10824" y="767"/>
                    <a:pt x="10811" y="766"/>
                    <a:pt x="10799" y="766"/>
                  </a:cubicBezTo>
                  <a:cubicBezTo>
                    <a:pt x="10717" y="766"/>
                    <a:pt x="10643" y="831"/>
                    <a:pt x="10622" y="913"/>
                  </a:cubicBezTo>
                  <a:cubicBezTo>
                    <a:pt x="10598" y="1009"/>
                    <a:pt x="10670" y="1104"/>
                    <a:pt x="10765" y="1128"/>
                  </a:cubicBezTo>
                  <a:lnTo>
                    <a:pt x="11265" y="1223"/>
                  </a:lnTo>
                  <a:cubicBezTo>
                    <a:pt x="11336" y="1247"/>
                    <a:pt x="11384" y="1318"/>
                    <a:pt x="11384" y="1390"/>
                  </a:cubicBezTo>
                  <a:lnTo>
                    <a:pt x="9312" y="12011"/>
                  </a:lnTo>
                  <a:cubicBezTo>
                    <a:pt x="9293" y="12070"/>
                    <a:pt x="9241" y="12112"/>
                    <a:pt x="9183" y="12112"/>
                  </a:cubicBezTo>
                  <a:cubicBezTo>
                    <a:pt x="9171" y="12112"/>
                    <a:pt x="9158" y="12110"/>
                    <a:pt x="9145" y="12106"/>
                  </a:cubicBezTo>
                  <a:lnTo>
                    <a:pt x="7288" y="11749"/>
                  </a:lnTo>
                  <a:lnTo>
                    <a:pt x="7288" y="11130"/>
                  </a:lnTo>
                  <a:lnTo>
                    <a:pt x="7717" y="11225"/>
                  </a:lnTo>
                  <a:cubicBezTo>
                    <a:pt x="7764" y="11225"/>
                    <a:pt x="7812" y="11225"/>
                    <a:pt x="7859" y="11177"/>
                  </a:cubicBezTo>
                  <a:cubicBezTo>
                    <a:pt x="7883" y="11154"/>
                    <a:pt x="7907" y="11106"/>
                    <a:pt x="7931" y="11058"/>
                  </a:cubicBezTo>
                  <a:lnTo>
                    <a:pt x="8645" y="7319"/>
                  </a:lnTo>
                  <a:cubicBezTo>
                    <a:pt x="8669" y="7224"/>
                    <a:pt x="8622" y="7129"/>
                    <a:pt x="8502" y="7105"/>
                  </a:cubicBezTo>
                  <a:cubicBezTo>
                    <a:pt x="8490" y="7102"/>
                    <a:pt x="8477" y="7101"/>
                    <a:pt x="8465" y="7101"/>
                  </a:cubicBezTo>
                  <a:cubicBezTo>
                    <a:pt x="8383" y="7101"/>
                    <a:pt x="8309" y="7165"/>
                    <a:pt x="8288" y="7248"/>
                  </a:cubicBezTo>
                  <a:lnTo>
                    <a:pt x="7597" y="10820"/>
                  </a:lnTo>
                  <a:lnTo>
                    <a:pt x="7288" y="10749"/>
                  </a:lnTo>
                  <a:lnTo>
                    <a:pt x="7288" y="5914"/>
                  </a:lnTo>
                  <a:lnTo>
                    <a:pt x="8502" y="6153"/>
                  </a:lnTo>
                  <a:lnTo>
                    <a:pt x="8431" y="6534"/>
                  </a:lnTo>
                  <a:cubicBezTo>
                    <a:pt x="8407" y="6629"/>
                    <a:pt x="8479" y="6724"/>
                    <a:pt x="8574" y="6748"/>
                  </a:cubicBezTo>
                  <a:lnTo>
                    <a:pt x="8622" y="6748"/>
                  </a:lnTo>
                  <a:cubicBezTo>
                    <a:pt x="8693" y="6748"/>
                    <a:pt x="8788" y="6700"/>
                    <a:pt x="8788" y="6605"/>
                  </a:cubicBezTo>
                  <a:lnTo>
                    <a:pt x="8907" y="6057"/>
                  </a:lnTo>
                  <a:cubicBezTo>
                    <a:pt x="8931" y="5938"/>
                    <a:pt x="8860" y="5843"/>
                    <a:pt x="8764" y="5843"/>
                  </a:cubicBezTo>
                  <a:lnTo>
                    <a:pt x="7288" y="5557"/>
                  </a:lnTo>
                  <a:lnTo>
                    <a:pt x="7288" y="3628"/>
                  </a:lnTo>
                  <a:cubicBezTo>
                    <a:pt x="7288" y="3533"/>
                    <a:pt x="7193" y="3438"/>
                    <a:pt x="7097" y="3438"/>
                  </a:cubicBezTo>
                  <a:lnTo>
                    <a:pt x="6097" y="3438"/>
                  </a:lnTo>
                  <a:lnTo>
                    <a:pt x="6669" y="485"/>
                  </a:lnTo>
                  <a:cubicBezTo>
                    <a:pt x="6688" y="406"/>
                    <a:pt x="6741" y="360"/>
                    <a:pt x="6799" y="360"/>
                  </a:cubicBezTo>
                  <a:cubicBezTo>
                    <a:pt x="6811" y="360"/>
                    <a:pt x="6823" y="362"/>
                    <a:pt x="6835" y="366"/>
                  </a:cubicBezTo>
                  <a:lnTo>
                    <a:pt x="10050" y="985"/>
                  </a:lnTo>
                  <a:cubicBezTo>
                    <a:pt x="10063" y="988"/>
                    <a:pt x="10075" y="989"/>
                    <a:pt x="10088" y="989"/>
                  </a:cubicBezTo>
                  <a:cubicBezTo>
                    <a:pt x="10169" y="989"/>
                    <a:pt x="10244" y="925"/>
                    <a:pt x="10265" y="842"/>
                  </a:cubicBezTo>
                  <a:cubicBezTo>
                    <a:pt x="10289" y="747"/>
                    <a:pt x="10217" y="651"/>
                    <a:pt x="10122" y="628"/>
                  </a:cubicBezTo>
                  <a:lnTo>
                    <a:pt x="6907" y="8"/>
                  </a:lnTo>
                  <a:cubicBezTo>
                    <a:pt x="6877" y="3"/>
                    <a:pt x="6847" y="0"/>
                    <a:pt x="68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1514;p74">
            <a:extLst>
              <a:ext uri="{FF2B5EF4-FFF2-40B4-BE49-F238E27FC236}">
                <a16:creationId xmlns:a16="http://schemas.microsoft.com/office/drawing/2014/main" id="{63A07B2A-0BBD-117B-75AC-04E381576495}"/>
              </a:ext>
            </a:extLst>
          </p:cNvPr>
          <p:cNvGrpSpPr/>
          <p:nvPr/>
        </p:nvGrpSpPr>
        <p:grpSpPr>
          <a:xfrm>
            <a:off x="973462" y="3177166"/>
            <a:ext cx="198008" cy="429956"/>
            <a:chOff x="5504549" y="2720316"/>
            <a:chExt cx="198008" cy="429956"/>
          </a:xfrm>
          <a:solidFill>
            <a:schemeClr val="bg1"/>
          </a:solidFill>
        </p:grpSpPr>
        <p:sp>
          <p:nvSpPr>
            <p:cNvPr id="40" name="Google Shape;1515;p74">
              <a:extLst>
                <a:ext uri="{FF2B5EF4-FFF2-40B4-BE49-F238E27FC236}">
                  <a16:creationId xmlns:a16="http://schemas.microsoft.com/office/drawing/2014/main" id="{0B5886EA-1B28-6B5B-704F-4B0E9033BD91}"/>
                </a:ext>
              </a:extLst>
            </p:cNvPr>
            <p:cNvSpPr/>
            <p:nvPr/>
          </p:nvSpPr>
          <p:spPr>
            <a:xfrm>
              <a:off x="5504549" y="2720316"/>
              <a:ext cx="198008" cy="429956"/>
            </a:xfrm>
            <a:custGeom>
              <a:avLst/>
              <a:gdLst/>
              <a:ahLst/>
              <a:cxnLst/>
              <a:rect l="l" t="t" r="r" b="b"/>
              <a:pathLst>
                <a:path w="5764" h="12516" extrusionOk="0">
                  <a:moveTo>
                    <a:pt x="3417" y="367"/>
                  </a:moveTo>
                  <a:cubicBezTo>
                    <a:pt x="3458" y="367"/>
                    <a:pt x="3488" y="381"/>
                    <a:pt x="3502" y="394"/>
                  </a:cubicBezTo>
                  <a:cubicBezTo>
                    <a:pt x="3549" y="418"/>
                    <a:pt x="3621" y="466"/>
                    <a:pt x="3621" y="585"/>
                  </a:cubicBezTo>
                  <a:lnTo>
                    <a:pt x="3621" y="1014"/>
                  </a:lnTo>
                  <a:cubicBezTo>
                    <a:pt x="3621" y="1061"/>
                    <a:pt x="3573" y="1109"/>
                    <a:pt x="3525" y="1133"/>
                  </a:cubicBezTo>
                  <a:lnTo>
                    <a:pt x="2906" y="1276"/>
                  </a:lnTo>
                  <a:cubicBezTo>
                    <a:pt x="2894" y="1288"/>
                    <a:pt x="2888" y="1293"/>
                    <a:pt x="2882" y="1293"/>
                  </a:cubicBezTo>
                  <a:cubicBezTo>
                    <a:pt x="2876" y="1293"/>
                    <a:pt x="2870" y="1288"/>
                    <a:pt x="2859" y="1276"/>
                  </a:cubicBezTo>
                  <a:lnTo>
                    <a:pt x="2239" y="1133"/>
                  </a:lnTo>
                  <a:cubicBezTo>
                    <a:pt x="2192" y="1109"/>
                    <a:pt x="2144" y="1061"/>
                    <a:pt x="2144" y="1014"/>
                  </a:cubicBezTo>
                  <a:lnTo>
                    <a:pt x="2144" y="585"/>
                  </a:lnTo>
                  <a:cubicBezTo>
                    <a:pt x="2144" y="466"/>
                    <a:pt x="2216" y="418"/>
                    <a:pt x="2263" y="394"/>
                  </a:cubicBezTo>
                  <a:cubicBezTo>
                    <a:pt x="2263" y="394"/>
                    <a:pt x="2311" y="371"/>
                    <a:pt x="2358" y="371"/>
                  </a:cubicBezTo>
                  <a:cubicBezTo>
                    <a:pt x="2382" y="371"/>
                    <a:pt x="2430" y="371"/>
                    <a:pt x="2454" y="394"/>
                  </a:cubicBezTo>
                  <a:lnTo>
                    <a:pt x="2739" y="537"/>
                  </a:lnTo>
                  <a:cubicBezTo>
                    <a:pt x="2787" y="561"/>
                    <a:pt x="2835" y="573"/>
                    <a:pt x="2882" y="573"/>
                  </a:cubicBezTo>
                  <a:cubicBezTo>
                    <a:pt x="2930" y="573"/>
                    <a:pt x="2978" y="561"/>
                    <a:pt x="3025" y="537"/>
                  </a:cubicBezTo>
                  <a:lnTo>
                    <a:pt x="3311" y="394"/>
                  </a:lnTo>
                  <a:cubicBezTo>
                    <a:pt x="3351" y="374"/>
                    <a:pt x="3387" y="367"/>
                    <a:pt x="3417" y="367"/>
                  </a:cubicBezTo>
                  <a:close/>
                  <a:moveTo>
                    <a:pt x="3454" y="6205"/>
                  </a:moveTo>
                  <a:lnTo>
                    <a:pt x="3454" y="6443"/>
                  </a:lnTo>
                  <a:lnTo>
                    <a:pt x="2311" y="6443"/>
                  </a:lnTo>
                  <a:lnTo>
                    <a:pt x="2311" y="6205"/>
                  </a:lnTo>
                  <a:cubicBezTo>
                    <a:pt x="2501" y="6253"/>
                    <a:pt x="2692" y="6300"/>
                    <a:pt x="2882" y="6300"/>
                  </a:cubicBezTo>
                  <a:cubicBezTo>
                    <a:pt x="3073" y="6300"/>
                    <a:pt x="3263" y="6253"/>
                    <a:pt x="3454" y="6205"/>
                  </a:cubicBezTo>
                  <a:close/>
                  <a:moveTo>
                    <a:pt x="3811" y="6801"/>
                  </a:moveTo>
                  <a:cubicBezTo>
                    <a:pt x="3835" y="6801"/>
                    <a:pt x="3835" y="6824"/>
                    <a:pt x="3835" y="6824"/>
                  </a:cubicBezTo>
                  <a:lnTo>
                    <a:pt x="3835" y="7039"/>
                  </a:lnTo>
                  <a:cubicBezTo>
                    <a:pt x="3835" y="7062"/>
                    <a:pt x="3835" y="7062"/>
                    <a:pt x="3811" y="7062"/>
                  </a:cubicBezTo>
                  <a:lnTo>
                    <a:pt x="1954" y="7062"/>
                  </a:lnTo>
                  <a:cubicBezTo>
                    <a:pt x="1930" y="7062"/>
                    <a:pt x="1930" y="7062"/>
                    <a:pt x="1930" y="7039"/>
                  </a:cubicBezTo>
                  <a:lnTo>
                    <a:pt x="1930" y="6824"/>
                  </a:lnTo>
                  <a:cubicBezTo>
                    <a:pt x="1930" y="6824"/>
                    <a:pt x="1930" y="6801"/>
                    <a:pt x="1954" y="6801"/>
                  </a:cubicBezTo>
                  <a:close/>
                  <a:moveTo>
                    <a:pt x="3668" y="7420"/>
                  </a:moveTo>
                  <a:lnTo>
                    <a:pt x="2882" y="8920"/>
                  </a:lnTo>
                  <a:lnTo>
                    <a:pt x="2096" y="7420"/>
                  </a:lnTo>
                  <a:close/>
                  <a:moveTo>
                    <a:pt x="1811" y="7682"/>
                  </a:moveTo>
                  <a:lnTo>
                    <a:pt x="2644" y="9253"/>
                  </a:lnTo>
                  <a:lnTo>
                    <a:pt x="2263" y="9492"/>
                  </a:lnTo>
                  <a:lnTo>
                    <a:pt x="2263" y="9063"/>
                  </a:lnTo>
                  <a:cubicBezTo>
                    <a:pt x="2263" y="8991"/>
                    <a:pt x="2216" y="8944"/>
                    <a:pt x="2168" y="8896"/>
                  </a:cubicBezTo>
                  <a:cubicBezTo>
                    <a:pt x="2144" y="8884"/>
                    <a:pt x="2114" y="8878"/>
                    <a:pt x="2085" y="8878"/>
                  </a:cubicBezTo>
                  <a:cubicBezTo>
                    <a:pt x="2055" y="8878"/>
                    <a:pt x="2025" y="8884"/>
                    <a:pt x="2001" y="8896"/>
                  </a:cubicBezTo>
                  <a:lnTo>
                    <a:pt x="1573" y="9063"/>
                  </a:lnTo>
                  <a:lnTo>
                    <a:pt x="1311" y="7991"/>
                  </a:lnTo>
                  <a:lnTo>
                    <a:pt x="1715" y="7753"/>
                  </a:lnTo>
                  <a:cubicBezTo>
                    <a:pt x="1739" y="7729"/>
                    <a:pt x="1787" y="7705"/>
                    <a:pt x="1811" y="7682"/>
                  </a:cubicBezTo>
                  <a:close/>
                  <a:moveTo>
                    <a:pt x="3954" y="7682"/>
                  </a:moveTo>
                  <a:cubicBezTo>
                    <a:pt x="3978" y="7705"/>
                    <a:pt x="4025" y="7729"/>
                    <a:pt x="4049" y="7753"/>
                  </a:cubicBezTo>
                  <a:lnTo>
                    <a:pt x="4454" y="7991"/>
                  </a:lnTo>
                  <a:lnTo>
                    <a:pt x="4192" y="9063"/>
                  </a:lnTo>
                  <a:lnTo>
                    <a:pt x="3763" y="8896"/>
                  </a:lnTo>
                  <a:cubicBezTo>
                    <a:pt x="3728" y="8884"/>
                    <a:pt x="3698" y="8878"/>
                    <a:pt x="3668" y="8878"/>
                  </a:cubicBezTo>
                  <a:cubicBezTo>
                    <a:pt x="3638" y="8878"/>
                    <a:pt x="3609" y="8884"/>
                    <a:pt x="3573" y="8896"/>
                  </a:cubicBezTo>
                  <a:cubicBezTo>
                    <a:pt x="3525" y="8944"/>
                    <a:pt x="3502" y="8991"/>
                    <a:pt x="3502" y="9063"/>
                  </a:cubicBezTo>
                  <a:lnTo>
                    <a:pt x="3502" y="9492"/>
                  </a:lnTo>
                  <a:lnTo>
                    <a:pt x="3120" y="9253"/>
                  </a:lnTo>
                  <a:lnTo>
                    <a:pt x="3954" y="7682"/>
                  </a:lnTo>
                  <a:close/>
                  <a:moveTo>
                    <a:pt x="4788" y="8206"/>
                  </a:moveTo>
                  <a:cubicBezTo>
                    <a:pt x="5169" y="8468"/>
                    <a:pt x="5383" y="8896"/>
                    <a:pt x="5383" y="9372"/>
                  </a:cubicBezTo>
                  <a:lnTo>
                    <a:pt x="5383" y="11778"/>
                  </a:lnTo>
                  <a:cubicBezTo>
                    <a:pt x="5383" y="11992"/>
                    <a:pt x="5240" y="12135"/>
                    <a:pt x="5049" y="12135"/>
                  </a:cubicBezTo>
                  <a:lnTo>
                    <a:pt x="3073" y="12135"/>
                  </a:lnTo>
                  <a:lnTo>
                    <a:pt x="3073" y="9658"/>
                  </a:lnTo>
                  <a:lnTo>
                    <a:pt x="3597" y="9968"/>
                  </a:lnTo>
                  <a:cubicBezTo>
                    <a:pt x="3621" y="9980"/>
                    <a:pt x="3650" y="9986"/>
                    <a:pt x="3680" y="9986"/>
                  </a:cubicBezTo>
                  <a:cubicBezTo>
                    <a:pt x="3710" y="9986"/>
                    <a:pt x="3740" y="9980"/>
                    <a:pt x="3763" y="9968"/>
                  </a:cubicBezTo>
                  <a:cubicBezTo>
                    <a:pt x="3835" y="9944"/>
                    <a:pt x="3859" y="9873"/>
                    <a:pt x="3859" y="9801"/>
                  </a:cubicBezTo>
                  <a:lnTo>
                    <a:pt x="3859" y="9325"/>
                  </a:lnTo>
                  <a:lnTo>
                    <a:pt x="4240" y="9492"/>
                  </a:lnTo>
                  <a:cubicBezTo>
                    <a:pt x="4264" y="9503"/>
                    <a:pt x="4287" y="9509"/>
                    <a:pt x="4311" y="9509"/>
                  </a:cubicBezTo>
                  <a:cubicBezTo>
                    <a:pt x="4335" y="9509"/>
                    <a:pt x="4359" y="9503"/>
                    <a:pt x="4383" y="9492"/>
                  </a:cubicBezTo>
                  <a:cubicBezTo>
                    <a:pt x="4430" y="9468"/>
                    <a:pt x="4478" y="9420"/>
                    <a:pt x="4478" y="9372"/>
                  </a:cubicBezTo>
                  <a:lnTo>
                    <a:pt x="4788" y="8206"/>
                  </a:lnTo>
                  <a:close/>
                  <a:moveTo>
                    <a:pt x="2386" y="0"/>
                  </a:moveTo>
                  <a:cubicBezTo>
                    <a:pt x="2275" y="0"/>
                    <a:pt x="2166" y="31"/>
                    <a:pt x="2073" y="85"/>
                  </a:cubicBezTo>
                  <a:cubicBezTo>
                    <a:pt x="1882" y="180"/>
                    <a:pt x="1787" y="371"/>
                    <a:pt x="1787" y="585"/>
                  </a:cubicBezTo>
                  <a:lnTo>
                    <a:pt x="1787" y="871"/>
                  </a:lnTo>
                  <a:cubicBezTo>
                    <a:pt x="1596" y="942"/>
                    <a:pt x="1430" y="1037"/>
                    <a:pt x="1263" y="1180"/>
                  </a:cubicBezTo>
                  <a:cubicBezTo>
                    <a:pt x="1192" y="1252"/>
                    <a:pt x="1192" y="1371"/>
                    <a:pt x="1263" y="1442"/>
                  </a:cubicBezTo>
                  <a:cubicBezTo>
                    <a:pt x="1311" y="1466"/>
                    <a:pt x="1358" y="1490"/>
                    <a:pt x="1406" y="1490"/>
                  </a:cubicBezTo>
                  <a:cubicBezTo>
                    <a:pt x="1453" y="1490"/>
                    <a:pt x="1477" y="1466"/>
                    <a:pt x="1525" y="1442"/>
                  </a:cubicBezTo>
                  <a:cubicBezTo>
                    <a:pt x="1620" y="1347"/>
                    <a:pt x="1715" y="1276"/>
                    <a:pt x="1835" y="1228"/>
                  </a:cubicBezTo>
                  <a:cubicBezTo>
                    <a:pt x="1906" y="1347"/>
                    <a:pt x="2001" y="1442"/>
                    <a:pt x="2144" y="1466"/>
                  </a:cubicBezTo>
                  <a:lnTo>
                    <a:pt x="2763" y="1633"/>
                  </a:lnTo>
                  <a:cubicBezTo>
                    <a:pt x="2811" y="1657"/>
                    <a:pt x="2835" y="1657"/>
                    <a:pt x="2882" y="1657"/>
                  </a:cubicBezTo>
                  <a:cubicBezTo>
                    <a:pt x="2930" y="1657"/>
                    <a:pt x="2978" y="1657"/>
                    <a:pt x="3001" y="1633"/>
                  </a:cubicBezTo>
                  <a:lnTo>
                    <a:pt x="3621" y="1466"/>
                  </a:lnTo>
                  <a:cubicBezTo>
                    <a:pt x="3763" y="1442"/>
                    <a:pt x="3859" y="1347"/>
                    <a:pt x="3930" y="1228"/>
                  </a:cubicBezTo>
                  <a:cubicBezTo>
                    <a:pt x="4359" y="1418"/>
                    <a:pt x="4621" y="1871"/>
                    <a:pt x="4549" y="2347"/>
                  </a:cubicBezTo>
                  <a:cubicBezTo>
                    <a:pt x="4526" y="2514"/>
                    <a:pt x="4478" y="2681"/>
                    <a:pt x="4406" y="2824"/>
                  </a:cubicBezTo>
                  <a:cubicBezTo>
                    <a:pt x="4306" y="2829"/>
                    <a:pt x="4209" y="2832"/>
                    <a:pt x="4115" y="2832"/>
                  </a:cubicBezTo>
                  <a:cubicBezTo>
                    <a:pt x="3452" y="2832"/>
                    <a:pt x="2951" y="2684"/>
                    <a:pt x="2597" y="2371"/>
                  </a:cubicBezTo>
                  <a:cubicBezTo>
                    <a:pt x="2525" y="2300"/>
                    <a:pt x="2454" y="2300"/>
                    <a:pt x="2382" y="2300"/>
                  </a:cubicBezTo>
                  <a:cubicBezTo>
                    <a:pt x="2311" y="2300"/>
                    <a:pt x="2239" y="2347"/>
                    <a:pt x="2216" y="2419"/>
                  </a:cubicBezTo>
                  <a:cubicBezTo>
                    <a:pt x="2049" y="2633"/>
                    <a:pt x="1787" y="2776"/>
                    <a:pt x="1358" y="2824"/>
                  </a:cubicBezTo>
                  <a:cubicBezTo>
                    <a:pt x="1287" y="2657"/>
                    <a:pt x="1239" y="2514"/>
                    <a:pt x="1215" y="2371"/>
                  </a:cubicBezTo>
                  <a:cubicBezTo>
                    <a:pt x="1192" y="2252"/>
                    <a:pt x="1192" y="2109"/>
                    <a:pt x="1215" y="1990"/>
                  </a:cubicBezTo>
                  <a:cubicBezTo>
                    <a:pt x="1239" y="1895"/>
                    <a:pt x="1168" y="1800"/>
                    <a:pt x="1072" y="1776"/>
                  </a:cubicBezTo>
                  <a:cubicBezTo>
                    <a:pt x="1060" y="1773"/>
                    <a:pt x="1047" y="1771"/>
                    <a:pt x="1035" y="1771"/>
                  </a:cubicBezTo>
                  <a:cubicBezTo>
                    <a:pt x="953" y="1771"/>
                    <a:pt x="879" y="1836"/>
                    <a:pt x="858" y="1919"/>
                  </a:cubicBezTo>
                  <a:cubicBezTo>
                    <a:pt x="834" y="2085"/>
                    <a:pt x="834" y="2276"/>
                    <a:pt x="858" y="2443"/>
                  </a:cubicBezTo>
                  <a:cubicBezTo>
                    <a:pt x="906" y="2633"/>
                    <a:pt x="953" y="2847"/>
                    <a:pt x="1049" y="3038"/>
                  </a:cubicBezTo>
                  <a:lnTo>
                    <a:pt x="1049" y="4467"/>
                  </a:lnTo>
                  <a:cubicBezTo>
                    <a:pt x="1049" y="5134"/>
                    <a:pt x="1406" y="5705"/>
                    <a:pt x="1954" y="6038"/>
                  </a:cubicBezTo>
                  <a:lnTo>
                    <a:pt x="1954" y="6443"/>
                  </a:lnTo>
                  <a:cubicBezTo>
                    <a:pt x="1739" y="6443"/>
                    <a:pt x="1573" y="6610"/>
                    <a:pt x="1573" y="6824"/>
                  </a:cubicBezTo>
                  <a:lnTo>
                    <a:pt x="1573" y="7062"/>
                  </a:lnTo>
                  <a:cubicBezTo>
                    <a:pt x="1573" y="7158"/>
                    <a:pt x="1620" y="7253"/>
                    <a:pt x="1692" y="7324"/>
                  </a:cubicBezTo>
                  <a:cubicBezTo>
                    <a:pt x="1620" y="7372"/>
                    <a:pt x="1573" y="7420"/>
                    <a:pt x="1525" y="7444"/>
                  </a:cubicBezTo>
                  <a:cubicBezTo>
                    <a:pt x="1430" y="7515"/>
                    <a:pt x="1144" y="7682"/>
                    <a:pt x="858" y="7848"/>
                  </a:cubicBezTo>
                  <a:cubicBezTo>
                    <a:pt x="334" y="8158"/>
                    <a:pt x="1" y="8753"/>
                    <a:pt x="1" y="9372"/>
                  </a:cubicBezTo>
                  <a:lnTo>
                    <a:pt x="1" y="11778"/>
                  </a:lnTo>
                  <a:cubicBezTo>
                    <a:pt x="1" y="12183"/>
                    <a:pt x="334" y="12492"/>
                    <a:pt x="715" y="12492"/>
                  </a:cubicBezTo>
                  <a:lnTo>
                    <a:pt x="1644" y="12492"/>
                  </a:lnTo>
                  <a:cubicBezTo>
                    <a:pt x="1739" y="12492"/>
                    <a:pt x="1811" y="12421"/>
                    <a:pt x="1811" y="12325"/>
                  </a:cubicBezTo>
                  <a:cubicBezTo>
                    <a:pt x="1811" y="12230"/>
                    <a:pt x="1739" y="12135"/>
                    <a:pt x="1644" y="12135"/>
                  </a:cubicBezTo>
                  <a:lnTo>
                    <a:pt x="715" y="12135"/>
                  </a:lnTo>
                  <a:cubicBezTo>
                    <a:pt x="525" y="12135"/>
                    <a:pt x="382" y="11992"/>
                    <a:pt x="382" y="11778"/>
                  </a:cubicBezTo>
                  <a:lnTo>
                    <a:pt x="382" y="9372"/>
                  </a:lnTo>
                  <a:cubicBezTo>
                    <a:pt x="382" y="8896"/>
                    <a:pt x="596" y="8468"/>
                    <a:pt x="977" y="8206"/>
                  </a:cubicBezTo>
                  <a:lnTo>
                    <a:pt x="1263" y="9372"/>
                  </a:lnTo>
                  <a:cubicBezTo>
                    <a:pt x="1287" y="9420"/>
                    <a:pt x="1311" y="9468"/>
                    <a:pt x="1358" y="9492"/>
                  </a:cubicBezTo>
                  <a:cubicBezTo>
                    <a:pt x="1382" y="9503"/>
                    <a:pt x="1412" y="9509"/>
                    <a:pt x="1442" y="9509"/>
                  </a:cubicBezTo>
                  <a:cubicBezTo>
                    <a:pt x="1471" y="9509"/>
                    <a:pt x="1501" y="9503"/>
                    <a:pt x="1525" y="9492"/>
                  </a:cubicBezTo>
                  <a:lnTo>
                    <a:pt x="1882" y="9325"/>
                  </a:lnTo>
                  <a:lnTo>
                    <a:pt x="1882" y="9801"/>
                  </a:lnTo>
                  <a:cubicBezTo>
                    <a:pt x="1882" y="9873"/>
                    <a:pt x="1930" y="9944"/>
                    <a:pt x="1977" y="9968"/>
                  </a:cubicBezTo>
                  <a:cubicBezTo>
                    <a:pt x="2013" y="9980"/>
                    <a:pt x="2049" y="9986"/>
                    <a:pt x="2082" y="9986"/>
                  </a:cubicBezTo>
                  <a:cubicBezTo>
                    <a:pt x="2114" y="9986"/>
                    <a:pt x="2144" y="9980"/>
                    <a:pt x="2168" y="9968"/>
                  </a:cubicBezTo>
                  <a:lnTo>
                    <a:pt x="2692" y="9634"/>
                  </a:lnTo>
                  <a:lnTo>
                    <a:pt x="2692" y="12135"/>
                  </a:lnTo>
                  <a:lnTo>
                    <a:pt x="2358" y="12135"/>
                  </a:lnTo>
                  <a:cubicBezTo>
                    <a:pt x="2263" y="12135"/>
                    <a:pt x="2192" y="12230"/>
                    <a:pt x="2192" y="12325"/>
                  </a:cubicBezTo>
                  <a:cubicBezTo>
                    <a:pt x="2192" y="12421"/>
                    <a:pt x="2263" y="12516"/>
                    <a:pt x="2358" y="12516"/>
                  </a:cubicBezTo>
                  <a:lnTo>
                    <a:pt x="5049" y="12516"/>
                  </a:lnTo>
                  <a:cubicBezTo>
                    <a:pt x="5430" y="12516"/>
                    <a:pt x="5764" y="12183"/>
                    <a:pt x="5764" y="11802"/>
                  </a:cubicBezTo>
                  <a:lnTo>
                    <a:pt x="5764" y="9372"/>
                  </a:lnTo>
                  <a:cubicBezTo>
                    <a:pt x="5764" y="8753"/>
                    <a:pt x="5430" y="8158"/>
                    <a:pt x="4907" y="7848"/>
                  </a:cubicBezTo>
                  <a:cubicBezTo>
                    <a:pt x="4716" y="7729"/>
                    <a:pt x="4478" y="7586"/>
                    <a:pt x="4240" y="7444"/>
                  </a:cubicBezTo>
                  <a:cubicBezTo>
                    <a:pt x="4192" y="7420"/>
                    <a:pt x="4145" y="7372"/>
                    <a:pt x="4073" y="7324"/>
                  </a:cubicBezTo>
                  <a:cubicBezTo>
                    <a:pt x="4145" y="7253"/>
                    <a:pt x="4192" y="7158"/>
                    <a:pt x="4192" y="7062"/>
                  </a:cubicBezTo>
                  <a:lnTo>
                    <a:pt x="4192" y="7039"/>
                  </a:lnTo>
                  <a:lnTo>
                    <a:pt x="4907" y="7158"/>
                  </a:lnTo>
                  <a:lnTo>
                    <a:pt x="4930" y="7158"/>
                  </a:lnTo>
                  <a:cubicBezTo>
                    <a:pt x="5026" y="7158"/>
                    <a:pt x="5097" y="7086"/>
                    <a:pt x="5121" y="6991"/>
                  </a:cubicBezTo>
                  <a:cubicBezTo>
                    <a:pt x="5121" y="6896"/>
                    <a:pt x="5049" y="6801"/>
                    <a:pt x="4954" y="6777"/>
                  </a:cubicBezTo>
                  <a:lnTo>
                    <a:pt x="4478" y="6705"/>
                  </a:lnTo>
                  <a:lnTo>
                    <a:pt x="4502" y="6681"/>
                  </a:lnTo>
                  <a:cubicBezTo>
                    <a:pt x="4573" y="6634"/>
                    <a:pt x="4597" y="6515"/>
                    <a:pt x="4549" y="6420"/>
                  </a:cubicBezTo>
                  <a:cubicBezTo>
                    <a:pt x="4508" y="6378"/>
                    <a:pt x="4450" y="6353"/>
                    <a:pt x="4395" y="6353"/>
                  </a:cubicBezTo>
                  <a:cubicBezTo>
                    <a:pt x="4356" y="6353"/>
                    <a:pt x="4317" y="6366"/>
                    <a:pt x="4287" y="6396"/>
                  </a:cubicBezTo>
                  <a:lnTo>
                    <a:pt x="4073" y="6539"/>
                  </a:lnTo>
                  <a:cubicBezTo>
                    <a:pt x="4002" y="6491"/>
                    <a:pt x="3930" y="6443"/>
                    <a:pt x="3811" y="6443"/>
                  </a:cubicBezTo>
                  <a:lnTo>
                    <a:pt x="3811" y="6038"/>
                  </a:lnTo>
                  <a:cubicBezTo>
                    <a:pt x="4049" y="5896"/>
                    <a:pt x="4264" y="5705"/>
                    <a:pt x="4406" y="5467"/>
                  </a:cubicBezTo>
                  <a:cubicBezTo>
                    <a:pt x="4478" y="5372"/>
                    <a:pt x="4454" y="5253"/>
                    <a:pt x="4359" y="5205"/>
                  </a:cubicBezTo>
                  <a:cubicBezTo>
                    <a:pt x="4334" y="5188"/>
                    <a:pt x="4302" y="5180"/>
                    <a:pt x="4269" y="5180"/>
                  </a:cubicBezTo>
                  <a:cubicBezTo>
                    <a:pt x="4209" y="5180"/>
                    <a:pt x="4143" y="5206"/>
                    <a:pt x="4097" y="5253"/>
                  </a:cubicBezTo>
                  <a:cubicBezTo>
                    <a:pt x="3835" y="5681"/>
                    <a:pt x="3382" y="5919"/>
                    <a:pt x="2882" y="5919"/>
                  </a:cubicBezTo>
                  <a:cubicBezTo>
                    <a:pt x="2073" y="5919"/>
                    <a:pt x="1430" y="5276"/>
                    <a:pt x="1430" y="4467"/>
                  </a:cubicBezTo>
                  <a:lnTo>
                    <a:pt x="1430" y="3181"/>
                  </a:lnTo>
                  <a:cubicBezTo>
                    <a:pt x="1882" y="3109"/>
                    <a:pt x="2216" y="2966"/>
                    <a:pt x="2430" y="2704"/>
                  </a:cubicBezTo>
                  <a:cubicBezTo>
                    <a:pt x="2859" y="3038"/>
                    <a:pt x="3406" y="3205"/>
                    <a:pt x="4145" y="3205"/>
                  </a:cubicBezTo>
                  <a:lnTo>
                    <a:pt x="4335" y="3205"/>
                  </a:lnTo>
                  <a:lnTo>
                    <a:pt x="4335" y="4467"/>
                  </a:lnTo>
                  <a:cubicBezTo>
                    <a:pt x="4335" y="4514"/>
                    <a:pt x="4335" y="4586"/>
                    <a:pt x="4335" y="4657"/>
                  </a:cubicBezTo>
                  <a:cubicBezTo>
                    <a:pt x="4311" y="4752"/>
                    <a:pt x="4383" y="4848"/>
                    <a:pt x="4502" y="4848"/>
                  </a:cubicBezTo>
                  <a:lnTo>
                    <a:pt x="4526" y="4848"/>
                  </a:lnTo>
                  <a:cubicBezTo>
                    <a:pt x="4597" y="4848"/>
                    <a:pt x="4692" y="4776"/>
                    <a:pt x="4692" y="4705"/>
                  </a:cubicBezTo>
                  <a:cubicBezTo>
                    <a:pt x="4716" y="4610"/>
                    <a:pt x="4716" y="4538"/>
                    <a:pt x="4716" y="4467"/>
                  </a:cubicBezTo>
                  <a:lnTo>
                    <a:pt x="4716" y="3038"/>
                  </a:lnTo>
                  <a:cubicBezTo>
                    <a:pt x="4811" y="2847"/>
                    <a:pt x="4883" y="2609"/>
                    <a:pt x="4907" y="2395"/>
                  </a:cubicBezTo>
                  <a:cubicBezTo>
                    <a:pt x="5026" y="1728"/>
                    <a:pt x="4621" y="1085"/>
                    <a:pt x="3978" y="871"/>
                  </a:cubicBezTo>
                  <a:lnTo>
                    <a:pt x="3978" y="585"/>
                  </a:lnTo>
                  <a:cubicBezTo>
                    <a:pt x="3978" y="371"/>
                    <a:pt x="3883" y="180"/>
                    <a:pt x="3692" y="85"/>
                  </a:cubicBezTo>
                  <a:cubicBezTo>
                    <a:pt x="3598" y="31"/>
                    <a:pt x="3490" y="0"/>
                    <a:pt x="3379" y="0"/>
                  </a:cubicBezTo>
                  <a:cubicBezTo>
                    <a:pt x="3292" y="0"/>
                    <a:pt x="3204" y="19"/>
                    <a:pt x="3120" y="61"/>
                  </a:cubicBezTo>
                  <a:lnTo>
                    <a:pt x="2882" y="204"/>
                  </a:lnTo>
                  <a:lnTo>
                    <a:pt x="2644" y="61"/>
                  </a:lnTo>
                  <a:cubicBezTo>
                    <a:pt x="2561" y="19"/>
                    <a:pt x="2473" y="0"/>
                    <a:pt x="23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16;p74">
              <a:extLst>
                <a:ext uri="{FF2B5EF4-FFF2-40B4-BE49-F238E27FC236}">
                  <a16:creationId xmlns:a16="http://schemas.microsoft.com/office/drawing/2014/main" id="{B49AF5AC-36AE-CA1A-9D35-C78904292D32}"/>
                </a:ext>
              </a:extLst>
            </p:cNvPr>
            <p:cNvSpPr/>
            <p:nvPr/>
          </p:nvSpPr>
          <p:spPr>
            <a:xfrm>
              <a:off x="5583903" y="2884349"/>
              <a:ext cx="39299" cy="16420"/>
            </a:xfrm>
            <a:custGeom>
              <a:avLst/>
              <a:gdLst/>
              <a:ahLst/>
              <a:cxnLst/>
              <a:rect l="l" t="t" r="r" b="b"/>
              <a:pathLst>
                <a:path w="1144" h="478" extrusionOk="0">
                  <a:moveTo>
                    <a:pt x="204" y="0"/>
                  </a:moveTo>
                  <a:cubicBezTo>
                    <a:pt x="140" y="0"/>
                    <a:pt x="79" y="27"/>
                    <a:pt x="48" y="73"/>
                  </a:cubicBezTo>
                  <a:cubicBezTo>
                    <a:pt x="1" y="168"/>
                    <a:pt x="25" y="287"/>
                    <a:pt x="120" y="335"/>
                  </a:cubicBezTo>
                  <a:cubicBezTo>
                    <a:pt x="263" y="430"/>
                    <a:pt x="429" y="478"/>
                    <a:pt x="572" y="478"/>
                  </a:cubicBezTo>
                  <a:cubicBezTo>
                    <a:pt x="715" y="478"/>
                    <a:pt x="882" y="430"/>
                    <a:pt x="1025" y="335"/>
                  </a:cubicBezTo>
                  <a:cubicBezTo>
                    <a:pt x="1120" y="287"/>
                    <a:pt x="1144" y="168"/>
                    <a:pt x="1096" y="73"/>
                  </a:cubicBezTo>
                  <a:cubicBezTo>
                    <a:pt x="1066" y="27"/>
                    <a:pt x="1005" y="0"/>
                    <a:pt x="940" y="0"/>
                  </a:cubicBezTo>
                  <a:cubicBezTo>
                    <a:pt x="905" y="0"/>
                    <a:pt x="868" y="8"/>
                    <a:pt x="834" y="25"/>
                  </a:cubicBezTo>
                  <a:cubicBezTo>
                    <a:pt x="751" y="85"/>
                    <a:pt x="662" y="114"/>
                    <a:pt x="572" y="114"/>
                  </a:cubicBezTo>
                  <a:cubicBezTo>
                    <a:pt x="483" y="114"/>
                    <a:pt x="394" y="85"/>
                    <a:pt x="310" y="25"/>
                  </a:cubicBezTo>
                  <a:cubicBezTo>
                    <a:pt x="277" y="8"/>
                    <a:pt x="240" y="0"/>
                    <a:pt x="2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17;p74">
              <a:extLst>
                <a:ext uri="{FF2B5EF4-FFF2-40B4-BE49-F238E27FC236}">
                  <a16:creationId xmlns:a16="http://schemas.microsoft.com/office/drawing/2014/main" id="{80CA3443-2E64-AC25-CD11-5C64A23D9D32}"/>
                </a:ext>
              </a:extLst>
            </p:cNvPr>
            <p:cNvSpPr/>
            <p:nvPr/>
          </p:nvSpPr>
          <p:spPr>
            <a:xfrm>
              <a:off x="5572464" y="2846733"/>
              <a:ext cx="12298" cy="18860"/>
            </a:xfrm>
            <a:custGeom>
              <a:avLst/>
              <a:gdLst/>
              <a:ahLst/>
              <a:cxnLst/>
              <a:rect l="l" t="t" r="r" b="b"/>
              <a:pathLst>
                <a:path w="358" h="549" extrusionOk="0">
                  <a:moveTo>
                    <a:pt x="167" y="1"/>
                  </a:moveTo>
                  <a:cubicBezTo>
                    <a:pt x="72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72" y="549"/>
                    <a:pt x="167" y="549"/>
                  </a:cubicBezTo>
                  <a:cubicBezTo>
                    <a:pt x="262" y="549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18;p74">
              <a:extLst>
                <a:ext uri="{FF2B5EF4-FFF2-40B4-BE49-F238E27FC236}">
                  <a16:creationId xmlns:a16="http://schemas.microsoft.com/office/drawing/2014/main" id="{D19F7256-23F3-FCA4-1EB4-702B08F85128}"/>
                </a:ext>
              </a:extLst>
            </p:cNvPr>
            <p:cNvSpPr/>
            <p:nvPr/>
          </p:nvSpPr>
          <p:spPr>
            <a:xfrm>
              <a:off x="5622378" y="2846733"/>
              <a:ext cx="13123" cy="18860"/>
            </a:xfrm>
            <a:custGeom>
              <a:avLst/>
              <a:gdLst/>
              <a:ahLst/>
              <a:cxnLst/>
              <a:rect l="l" t="t" r="r" b="b"/>
              <a:pathLst>
                <a:path w="382" h="549" extrusionOk="0">
                  <a:moveTo>
                    <a:pt x="191" y="1"/>
                  </a:moveTo>
                  <a:cubicBezTo>
                    <a:pt x="95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95" y="549"/>
                    <a:pt x="191" y="549"/>
                  </a:cubicBezTo>
                  <a:cubicBezTo>
                    <a:pt x="286" y="549"/>
                    <a:pt x="381" y="453"/>
                    <a:pt x="381" y="358"/>
                  </a:cubicBezTo>
                  <a:lnTo>
                    <a:pt x="381" y="191"/>
                  </a:lnTo>
                  <a:cubicBezTo>
                    <a:pt x="381" y="72"/>
                    <a:pt x="286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19;p74">
              <a:extLst>
                <a:ext uri="{FF2B5EF4-FFF2-40B4-BE49-F238E27FC236}">
                  <a16:creationId xmlns:a16="http://schemas.microsoft.com/office/drawing/2014/main" id="{C8450EDE-2560-FF87-6A04-74AAA6D5D092}"/>
                </a:ext>
              </a:extLst>
            </p:cNvPr>
            <p:cNvSpPr/>
            <p:nvPr/>
          </p:nvSpPr>
          <p:spPr>
            <a:xfrm>
              <a:off x="5627256" y="3072532"/>
              <a:ext cx="39334" cy="12298"/>
            </a:xfrm>
            <a:custGeom>
              <a:avLst/>
              <a:gdLst/>
              <a:ahLst/>
              <a:cxnLst/>
              <a:rect l="l" t="t" r="r" b="b"/>
              <a:pathLst>
                <a:path w="1145" h="35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954" y="358"/>
                  </a:lnTo>
                  <a:cubicBezTo>
                    <a:pt x="1049" y="358"/>
                    <a:pt x="1144" y="286"/>
                    <a:pt x="1144" y="191"/>
                  </a:cubicBezTo>
                  <a:cubicBezTo>
                    <a:pt x="1144" y="96"/>
                    <a:pt x="1049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3406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Focus on High-Impact Service Attributes</a:t>
            </a:r>
            <a:endParaRPr sz="2800"/>
          </a:p>
        </p:txBody>
      </p:sp>
      <p:sp>
        <p:nvSpPr>
          <p:cNvPr id="953" name="Google Shape;953;p66"/>
          <p:cNvSpPr txBox="1">
            <a:spLocks noGrp="1"/>
          </p:cNvSpPr>
          <p:nvPr>
            <p:ph type="title" idx="2"/>
          </p:nvPr>
        </p:nvSpPr>
        <p:spPr>
          <a:xfrm>
            <a:off x="1665432" y="1517171"/>
            <a:ext cx="7149383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Prioritize Inflight entertainment, Cleanliness, and Online boarding</a:t>
            </a:r>
            <a:endParaRPr/>
          </a:p>
        </p:txBody>
      </p:sp>
      <p:sp>
        <p:nvSpPr>
          <p:cNvPr id="954" name="Google Shape;954;p66"/>
          <p:cNvSpPr txBox="1">
            <a:spLocks noGrp="1"/>
          </p:cNvSpPr>
          <p:nvPr>
            <p:ph type="subTitle" idx="1"/>
          </p:nvPr>
        </p:nvSpPr>
        <p:spPr>
          <a:xfrm>
            <a:off x="1665434" y="1881258"/>
            <a:ext cx="6765466" cy="835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attributes show the largest rating gap (~0.8–0.9) between satisfied and dissatisfied customers. Improving these areas is most likely to increase satisfaction.</a:t>
            </a:r>
            <a:endParaRPr/>
          </a:p>
        </p:txBody>
      </p:sp>
      <p:sp>
        <p:nvSpPr>
          <p:cNvPr id="961" name="Google Shape;961;p66"/>
          <p:cNvSpPr txBox="1">
            <a:spLocks noGrp="1"/>
          </p:cNvSpPr>
          <p:nvPr>
            <p:ph type="title" idx="9"/>
          </p:nvPr>
        </p:nvSpPr>
        <p:spPr>
          <a:xfrm>
            <a:off x="1665435" y="2716501"/>
            <a:ext cx="5225223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Differentiate Secondary Services</a:t>
            </a:r>
            <a:endParaRPr/>
          </a:p>
        </p:txBody>
      </p:sp>
      <p:sp>
        <p:nvSpPr>
          <p:cNvPr id="962" name="Google Shape;962;p66"/>
          <p:cNvSpPr txBox="1">
            <a:spLocks noGrp="1"/>
          </p:cNvSpPr>
          <p:nvPr>
            <p:ph type="subTitle" idx="13"/>
          </p:nvPr>
        </p:nvSpPr>
        <p:spPr>
          <a:xfrm>
            <a:off x="1665435" y="3081160"/>
            <a:ext cx="6765465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Attributes such as food and wifi show smaller or segment-specific impact. Optimize rather than heavily invest across all segments.</a:t>
            </a:r>
            <a:endParaRPr/>
          </a:p>
        </p:txBody>
      </p:sp>
      <p:sp>
        <p:nvSpPr>
          <p:cNvPr id="965" name="Google Shape;965;p66"/>
          <p:cNvSpPr/>
          <p:nvPr/>
        </p:nvSpPr>
        <p:spPr>
          <a:xfrm>
            <a:off x="712374" y="162870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6"/>
          <p:cNvSpPr/>
          <p:nvPr/>
        </p:nvSpPr>
        <p:spPr>
          <a:xfrm>
            <a:off x="712376" y="282955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66"/>
          <p:cNvGrpSpPr/>
          <p:nvPr/>
        </p:nvGrpSpPr>
        <p:grpSpPr>
          <a:xfrm>
            <a:off x="873633" y="1777958"/>
            <a:ext cx="404982" cy="428994"/>
            <a:chOff x="6761953" y="2720487"/>
            <a:chExt cx="404982" cy="428994"/>
          </a:xfrm>
        </p:grpSpPr>
        <p:sp>
          <p:nvSpPr>
            <p:cNvPr id="996" name="Google Shape;996;p66"/>
            <p:cNvSpPr/>
            <p:nvPr/>
          </p:nvSpPr>
          <p:spPr>
            <a:xfrm>
              <a:off x="7002490" y="2756901"/>
              <a:ext cx="98179" cy="76778"/>
            </a:xfrm>
            <a:custGeom>
              <a:avLst/>
              <a:gdLst/>
              <a:ahLst/>
              <a:cxnLst/>
              <a:rect l="l" t="t" r="r" b="b"/>
              <a:pathLst>
                <a:path w="2858" h="2235" extrusionOk="0">
                  <a:moveTo>
                    <a:pt x="1845" y="1"/>
                  </a:moveTo>
                  <a:cubicBezTo>
                    <a:pt x="1807" y="1"/>
                    <a:pt x="1768" y="14"/>
                    <a:pt x="1739" y="44"/>
                  </a:cubicBezTo>
                  <a:lnTo>
                    <a:pt x="834" y="758"/>
                  </a:lnTo>
                  <a:lnTo>
                    <a:pt x="238" y="639"/>
                  </a:lnTo>
                  <a:cubicBezTo>
                    <a:pt x="143" y="639"/>
                    <a:pt x="48" y="687"/>
                    <a:pt x="24" y="806"/>
                  </a:cubicBezTo>
                  <a:cubicBezTo>
                    <a:pt x="0" y="901"/>
                    <a:pt x="72" y="996"/>
                    <a:pt x="167" y="1020"/>
                  </a:cubicBezTo>
                  <a:lnTo>
                    <a:pt x="762" y="1116"/>
                  </a:lnTo>
                  <a:lnTo>
                    <a:pt x="1334" y="2140"/>
                  </a:lnTo>
                  <a:cubicBezTo>
                    <a:pt x="1358" y="2187"/>
                    <a:pt x="1429" y="2235"/>
                    <a:pt x="1477" y="2235"/>
                  </a:cubicBezTo>
                  <a:cubicBezTo>
                    <a:pt x="1524" y="2235"/>
                    <a:pt x="1548" y="2211"/>
                    <a:pt x="1572" y="2211"/>
                  </a:cubicBezTo>
                  <a:cubicBezTo>
                    <a:pt x="1667" y="2163"/>
                    <a:pt x="1691" y="2044"/>
                    <a:pt x="1643" y="1949"/>
                  </a:cubicBezTo>
                  <a:lnTo>
                    <a:pt x="1238" y="1211"/>
                  </a:lnTo>
                  <a:lnTo>
                    <a:pt x="2001" y="1378"/>
                  </a:lnTo>
                  <a:lnTo>
                    <a:pt x="2334" y="1806"/>
                  </a:lnTo>
                  <a:cubicBezTo>
                    <a:pt x="2358" y="1878"/>
                    <a:pt x="2405" y="1901"/>
                    <a:pt x="2477" y="1901"/>
                  </a:cubicBezTo>
                  <a:cubicBezTo>
                    <a:pt x="2501" y="1901"/>
                    <a:pt x="2548" y="1878"/>
                    <a:pt x="2572" y="1854"/>
                  </a:cubicBezTo>
                  <a:cubicBezTo>
                    <a:pt x="2667" y="1806"/>
                    <a:pt x="2691" y="1687"/>
                    <a:pt x="2620" y="1616"/>
                  </a:cubicBezTo>
                  <a:lnTo>
                    <a:pt x="2382" y="1258"/>
                  </a:lnTo>
                  <a:lnTo>
                    <a:pt x="2739" y="1020"/>
                  </a:lnTo>
                  <a:cubicBezTo>
                    <a:pt x="2834" y="973"/>
                    <a:pt x="2858" y="854"/>
                    <a:pt x="2786" y="758"/>
                  </a:cubicBezTo>
                  <a:cubicBezTo>
                    <a:pt x="2756" y="712"/>
                    <a:pt x="2695" y="686"/>
                    <a:pt x="2637" y="686"/>
                  </a:cubicBezTo>
                  <a:cubicBezTo>
                    <a:pt x="2605" y="686"/>
                    <a:pt x="2574" y="694"/>
                    <a:pt x="2548" y="711"/>
                  </a:cubicBezTo>
                  <a:lnTo>
                    <a:pt x="2072" y="1020"/>
                  </a:lnTo>
                  <a:lnTo>
                    <a:pt x="1310" y="854"/>
                  </a:lnTo>
                  <a:lnTo>
                    <a:pt x="1953" y="330"/>
                  </a:lnTo>
                  <a:cubicBezTo>
                    <a:pt x="2048" y="258"/>
                    <a:pt x="2048" y="139"/>
                    <a:pt x="1977" y="68"/>
                  </a:cubicBezTo>
                  <a:cubicBezTo>
                    <a:pt x="1949" y="26"/>
                    <a:pt x="1897" y="1"/>
                    <a:pt x="18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6"/>
            <p:cNvSpPr/>
            <p:nvPr/>
          </p:nvSpPr>
          <p:spPr>
            <a:xfrm>
              <a:off x="7049930" y="2850821"/>
              <a:ext cx="20474" cy="46685"/>
            </a:xfrm>
            <a:custGeom>
              <a:avLst/>
              <a:gdLst/>
              <a:ahLst/>
              <a:cxnLst/>
              <a:rect l="l" t="t" r="r" b="b"/>
              <a:pathLst>
                <a:path w="596" h="1359" extrusionOk="0">
                  <a:moveTo>
                    <a:pt x="429" y="1"/>
                  </a:moveTo>
                  <a:cubicBezTo>
                    <a:pt x="334" y="1"/>
                    <a:pt x="239" y="49"/>
                    <a:pt x="215" y="144"/>
                  </a:cubicBezTo>
                  <a:lnTo>
                    <a:pt x="24" y="1144"/>
                  </a:lnTo>
                  <a:cubicBezTo>
                    <a:pt x="0" y="1239"/>
                    <a:pt x="72" y="1335"/>
                    <a:pt x="167" y="1358"/>
                  </a:cubicBezTo>
                  <a:lnTo>
                    <a:pt x="215" y="1358"/>
                  </a:lnTo>
                  <a:cubicBezTo>
                    <a:pt x="286" y="1358"/>
                    <a:pt x="381" y="1287"/>
                    <a:pt x="381" y="1215"/>
                  </a:cubicBezTo>
                  <a:lnTo>
                    <a:pt x="572" y="215"/>
                  </a:lnTo>
                  <a:cubicBezTo>
                    <a:pt x="596" y="120"/>
                    <a:pt x="548" y="25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6"/>
            <p:cNvSpPr/>
            <p:nvPr/>
          </p:nvSpPr>
          <p:spPr>
            <a:xfrm>
              <a:off x="7072844" y="2855596"/>
              <a:ext cx="20474" cy="45998"/>
            </a:xfrm>
            <a:custGeom>
              <a:avLst/>
              <a:gdLst/>
              <a:ahLst/>
              <a:cxnLst/>
              <a:rect l="l" t="t" r="r" b="b"/>
              <a:pathLst>
                <a:path w="596" h="1339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24"/>
                  </a:lnTo>
                  <a:cubicBezTo>
                    <a:pt x="0" y="1219"/>
                    <a:pt x="72" y="1315"/>
                    <a:pt x="167" y="1338"/>
                  </a:cubicBezTo>
                  <a:lnTo>
                    <a:pt x="191" y="1338"/>
                  </a:lnTo>
                  <a:cubicBezTo>
                    <a:pt x="286" y="1338"/>
                    <a:pt x="357" y="1291"/>
                    <a:pt x="381" y="1196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6"/>
            <p:cNvSpPr/>
            <p:nvPr/>
          </p:nvSpPr>
          <p:spPr>
            <a:xfrm>
              <a:off x="7094932" y="2859684"/>
              <a:ext cx="20474" cy="46822"/>
            </a:xfrm>
            <a:custGeom>
              <a:avLst/>
              <a:gdLst/>
              <a:ahLst/>
              <a:cxnLst/>
              <a:rect l="l" t="t" r="r" b="b"/>
              <a:pathLst>
                <a:path w="596" h="1363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48"/>
                  </a:lnTo>
                  <a:cubicBezTo>
                    <a:pt x="0" y="1243"/>
                    <a:pt x="72" y="1338"/>
                    <a:pt x="167" y="1362"/>
                  </a:cubicBezTo>
                  <a:lnTo>
                    <a:pt x="214" y="1362"/>
                  </a:lnTo>
                  <a:cubicBezTo>
                    <a:pt x="286" y="1362"/>
                    <a:pt x="381" y="1291"/>
                    <a:pt x="381" y="1219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6"/>
            <p:cNvSpPr/>
            <p:nvPr/>
          </p:nvSpPr>
          <p:spPr>
            <a:xfrm>
              <a:off x="7049106" y="2958653"/>
              <a:ext cx="34387" cy="117176"/>
            </a:xfrm>
            <a:custGeom>
              <a:avLst/>
              <a:gdLst/>
              <a:ahLst/>
              <a:cxnLst/>
              <a:rect l="l" t="t" r="r" b="b"/>
              <a:pathLst>
                <a:path w="1001" h="3411" extrusionOk="0">
                  <a:moveTo>
                    <a:pt x="797" y="1"/>
                  </a:moveTo>
                  <a:cubicBezTo>
                    <a:pt x="715" y="1"/>
                    <a:pt x="640" y="66"/>
                    <a:pt x="620" y="148"/>
                  </a:cubicBezTo>
                  <a:lnTo>
                    <a:pt x="24" y="3197"/>
                  </a:lnTo>
                  <a:cubicBezTo>
                    <a:pt x="1" y="3292"/>
                    <a:pt x="72" y="3387"/>
                    <a:pt x="167" y="3411"/>
                  </a:cubicBezTo>
                  <a:lnTo>
                    <a:pt x="215" y="3411"/>
                  </a:lnTo>
                  <a:cubicBezTo>
                    <a:pt x="286" y="3411"/>
                    <a:pt x="358" y="3363"/>
                    <a:pt x="382" y="3268"/>
                  </a:cubicBezTo>
                  <a:lnTo>
                    <a:pt x="977" y="220"/>
                  </a:lnTo>
                  <a:cubicBezTo>
                    <a:pt x="1001" y="124"/>
                    <a:pt x="929" y="29"/>
                    <a:pt x="834" y="5"/>
                  </a:cubicBezTo>
                  <a:cubicBezTo>
                    <a:pt x="822" y="2"/>
                    <a:pt x="809" y="1"/>
                    <a:pt x="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6"/>
            <p:cNvSpPr/>
            <p:nvPr/>
          </p:nvSpPr>
          <p:spPr>
            <a:xfrm>
              <a:off x="6818395" y="2871295"/>
              <a:ext cx="137479" cy="137479"/>
            </a:xfrm>
            <a:custGeom>
              <a:avLst/>
              <a:gdLst/>
              <a:ahLst/>
              <a:cxnLst/>
              <a:rect l="l" t="t" r="r" b="b"/>
              <a:pathLst>
                <a:path w="4002" h="4002" extrusionOk="0">
                  <a:moveTo>
                    <a:pt x="2001" y="357"/>
                  </a:moveTo>
                  <a:cubicBezTo>
                    <a:pt x="2049" y="357"/>
                    <a:pt x="2168" y="477"/>
                    <a:pt x="2287" y="762"/>
                  </a:cubicBezTo>
                  <a:cubicBezTo>
                    <a:pt x="2335" y="929"/>
                    <a:pt x="2382" y="1096"/>
                    <a:pt x="2406" y="1310"/>
                  </a:cubicBezTo>
                  <a:cubicBezTo>
                    <a:pt x="2263" y="1286"/>
                    <a:pt x="2144" y="1286"/>
                    <a:pt x="2001" y="1286"/>
                  </a:cubicBezTo>
                  <a:cubicBezTo>
                    <a:pt x="1858" y="1286"/>
                    <a:pt x="1715" y="1286"/>
                    <a:pt x="1573" y="1310"/>
                  </a:cubicBezTo>
                  <a:cubicBezTo>
                    <a:pt x="1620" y="1096"/>
                    <a:pt x="1668" y="929"/>
                    <a:pt x="1715" y="762"/>
                  </a:cubicBezTo>
                  <a:cubicBezTo>
                    <a:pt x="1811" y="477"/>
                    <a:pt x="1930" y="357"/>
                    <a:pt x="2001" y="357"/>
                  </a:cubicBezTo>
                  <a:close/>
                  <a:moveTo>
                    <a:pt x="1454" y="453"/>
                  </a:moveTo>
                  <a:lnTo>
                    <a:pt x="1454" y="453"/>
                  </a:lnTo>
                  <a:cubicBezTo>
                    <a:pt x="1334" y="691"/>
                    <a:pt x="1263" y="1000"/>
                    <a:pt x="1215" y="1334"/>
                  </a:cubicBezTo>
                  <a:cubicBezTo>
                    <a:pt x="1001" y="1358"/>
                    <a:pt x="811" y="1405"/>
                    <a:pt x="668" y="1453"/>
                  </a:cubicBezTo>
                  <a:cubicBezTo>
                    <a:pt x="572" y="1477"/>
                    <a:pt x="501" y="1501"/>
                    <a:pt x="430" y="1524"/>
                  </a:cubicBezTo>
                  <a:cubicBezTo>
                    <a:pt x="572" y="1024"/>
                    <a:pt x="953" y="619"/>
                    <a:pt x="1454" y="453"/>
                  </a:cubicBezTo>
                  <a:close/>
                  <a:moveTo>
                    <a:pt x="2549" y="453"/>
                  </a:moveTo>
                  <a:cubicBezTo>
                    <a:pt x="3025" y="619"/>
                    <a:pt x="3406" y="1024"/>
                    <a:pt x="3573" y="1524"/>
                  </a:cubicBezTo>
                  <a:cubicBezTo>
                    <a:pt x="3502" y="1501"/>
                    <a:pt x="3406" y="1477"/>
                    <a:pt x="3335" y="1453"/>
                  </a:cubicBezTo>
                  <a:cubicBezTo>
                    <a:pt x="3168" y="1405"/>
                    <a:pt x="2978" y="1358"/>
                    <a:pt x="2787" y="1334"/>
                  </a:cubicBezTo>
                  <a:cubicBezTo>
                    <a:pt x="2740" y="1000"/>
                    <a:pt x="2668" y="691"/>
                    <a:pt x="2549" y="453"/>
                  </a:cubicBezTo>
                  <a:close/>
                  <a:moveTo>
                    <a:pt x="1168" y="1715"/>
                  </a:moveTo>
                  <a:cubicBezTo>
                    <a:pt x="1168" y="1810"/>
                    <a:pt x="1168" y="1905"/>
                    <a:pt x="1168" y="2001"/>
                  </a:cubicBezTo>
                  <a:cubicBezTo>
                    <a:pt x="1168" y="2096"/>
                    <a:pt x="1168" y="2191"/>
                    <a:pt x="1168" y="2263"/>
                  </a:cubicBezTo>
                  <a:cubicBezTo>
                    <a:pt x="1049" y="2263"/>
                    <a:pt x="930" y="2239"/>
                    <a:pt x="834" y="2191"/>
                  </a:cubicBezTo>
                  <a:cubicBezTo>
                    <a:pt x="501" y="2120"/>
                    <a:pt x="382" y="2025"/>
                    <a:pt x="358" y="2001"/>
                  </a:cubicBezTo>
                  <a:cubicBezTo>
                    <a:pt x="382" y="1953"/>
                    <a:pt x="501" y="1858"/>
                    <a:pt x="834" y="1786"/>
                  </a:cubicBezTo>
                  <a:cubicBezTo>
                    <a:pt x="930" y="1763"/>
                    <a:pt x="1049" y="1739"/>
                    <a:pt x="1168" y="1715"/>
                  </a:cubicBezTo>
                  <a:close/>
                  <a:moveTo>
                    <a:pt x="2811" y="1715"/>
                  </a:moveTo>
                  <a:lnTo>
                    <a:pt x="2811" y="1715"/>
                  </a:lnTo>
                  <a:cubicBezTo>
                    <a:pt x="2930" y="1739"/>
                    <a:pt x="3049" y="1763"/>
                    <a:pt x="3168" y="1786"/>
                  </a:cubicBezTo>
                  <a:cubicBezTo>
                    <a:pt x="3478" y="1858"/>
                    <a:pt x="3597" y="1953"/>
                    <a:pt x="3621" y="2001"/>
                  </a:cubicBezTo>
                  <a:cubicBezTo>
                    <a:pt x="3597" y="2025"/>
                    <a:pt x="3478" y="2120"/>
                    <a:pt x="3168" y="2191"/>
                  </a:cubicBezTo>
                  <a:cubicBezTo>
                    <a:pt x="3049" y="2239"/>
                    <a:pt x="2930" y="2263"/>
                    <a:pt x="2811" y="2263"/>
                  </a:cubicBezTo>
                  <a:cubicBezTo>
                    <a:pt x="2811" y="2191"/>
                    <a:pt x="2835" y="2096"/>
                    <a:pt x="2835" y="2001"/>
                  </a:cubicBezTo>
                  <a:cubicBezTo>
                    <a:pt x="2835" y="1905"/>
                    <a:pt x="2811" y="1810"/>
                    <a:pt x="2811" y="1715"/>
                  </a:cubicBezTo>
                  <a:close/>
                  <a:moveTo>
                    <a:pt x="2001" y="1643"/>
                  </a:moveTo>
                  <a:cubicBezTo>
                    <a:pt x="2144" y="1643"/>
                    <a:pt x="2311" y="1667"/>
                    <a:pt x="2454" y="1667"/>
                  </a:cubicBezTo>
                  <a:cubicBezTo>
                    <a:pt x="2454" y="1786"/>
                    <a:pt x="2454" y="1882"/>
                    <a:pt x="2454" y="2001"/>
                  </a:cubicBezTo>
                  <a:cubicBezTo>
                    <a:pt x="2454" y="2096"/>
                    <a:pt x="2454" y="2215"/>
                    <a:pt x="2454" y="2310"/>
                  </a:cubicBezTo>
                  <a:cubicBezTo>
                    <a:pt x="2311" y="2334"/>
                    <a:pt x="2144" y="2334"/>
                    <a:pt x="2001" y="2334"/>
                  </a:cubicBezTo>
                  <a:cubicBezTo>
                    <a:pt x="1835" y="2334"/>
                    <a:pt x="1692" y="2334"/>
                    <a:pt x="1549" y="2310"/>
                  </a:cubicBezTo>
                  <a:cubicBezTo>
                    <a:pt x="1549" y="2215"/>
                    <a:pt x="1525" y="2096"/>
                    <a:pt x="1525" y="2001"/>
                  </a:cubicBezTo>
                  <a:cubicBezTo>
                    <a:pt x="1525" y="1882"/>
                    <a:pt x="1549" y="1786"/>
                    <a:pt x="1549" y="1667"/>
                  </a:cubicBezTo>
                  <a:cubicBezTo>
                    <a:pt x="1692" y="1667"/>
                    <a:pt x="1835" y="1643"/>
                    <a:pt x="2001" y="1643"/>
                  </a:cubicBezTo>
                  <a:close/>
                  <a:moveTo>
                    <a:pt x="430" y="2453"/>
                  </a:moveTo>
                  <a:lnTo>
                    <a:pt x="430" y="2453"/>
                  </a:lnTo>
                  <a:cubicBezTo>
                    <a:pt x="501" y="2477"/>
                    <a:pt x="572" y="2525"/>
                    <a:pt x="668" y="2548"/>
                  </a:cubicBezTo>
                  <a:cubicBezTo>
                    <a:pt x="834" y="2572"/>
                    <a:pt x="1001" y="2620"/>
                    <a:pt x="1215" y="2644"/>
                  </a:cubicBezTo>
                  <a:cubicBezTo>
                    <a:pt x="1263" y="2977"/>
                    <a:pt x="1334" y="3287"/>
                    <a:pt x="1454" y="3525"/>
                  </a:cubicBezTo>
                  <a:cubicBezTo>
                    <a:pt x="953" y="3358"/>
                    <a:pt x="572" y="2953"/>
                    <a:pt x="430" y="2453"/>
                  </a:cubicBezTo>
                  <a:close/>
                  <a:moveTo>
                    <a:pt x="3573" y="2453"/>
                  </a:moveTo>
                  <a:cubicBezTo>
                    <a:pt x="3406" y="2953"/>
                    <a:pt x="3025" y="3358"/>
                    <a:pt x="2549" y="3525"/>
                  </a:cubicBezTo>
                  <a:cubicBezTo>
                    <a:pt x="2668" y="3287"/>
                    <a:pt x="2740" y="2977"/>
                    <a:pt x="2787" y="2644"/>
                  </a:cubicBezTo>
                  <a:cubicBezTo>
                    <a:pt x="2978" y="2620"/>
                    <a:pt x="3168" y="2572"/>
                    <a:pt x="3335" y="2548"/>
                  </a:cubicBezTo>
                  <a:cubicBezTo>
                    <a:pt x="3406" y="2501"/>
                    <a:pt x="3502" y="2477"/>
                    <a:pt x="3573" y="2453"/>
                  </a:cubicBezTo>
                  <a:close/>
                  <a:moveTo>
                    <a:pt x="2406" y="2691"/>
                  </a:moveTo>
                  <a:cubicBezTo>
                    <a:pt x="2382" y="2882"/>
                    <a:pt x="2335" y="3072"/>
                    <a:pt x="2287" y="3215"/>
                  </a:cubicBezTo>
                  <a:cubicBezTo>
                    <a:pt x="2168" y="3525"/>
                    <a:pt x="2049" y="3620"/>
                    <a:pt x="2001" y="3620"/>
                  </a:cubicBezTo>
                  <a:cubicBezTo>
                    <a:pt x="1930" y="3620"/>
                    <a:pt x="1811" y="3525"/>
                    <a:pt x="1715" y="3215"/>
                  </a:cubicBezTo>
                  <a:cubicBezTo>
                    <a:pt x="1668" y="3072"/>
                    <a:pt x="1620" y="2882"/>
                    <a:pt x="1573" y="2691"/>
                  </a:cubicBezTo>
                  <a:close/>
                  <a:moveTo>
                    <a:pt x="2001" y="0"/>
                  </a:moveTo>
                  <a:cubicBezTo>
                    <a:pt x="882" y="0"/>
                    <a:pt x="1" y="881"/>
                    <a:pt x="1" y="2001"/>
                  </a:cubicBezTo>
                  <a:cubicBezTo>
                    <a:pt x="1" y="3096"/>
                    <a:pt x="882" y="4001"/>
                    <a:pt x="2001" y="4001"/>
                  </a:cubicBezTo>
                  <a:cubicBezTo>
                    <a:pt x="3097" y="4001"/>
                    <a:pt x="4002" y="3096"/>
                    <a:pt x="4002" y="2001"/>
                  </a:cubicBezTo>
                  <a:cubicBezTo>
                    <a:pt x="4002" y="881"/>
                    <a:pt x="3097" y="0"/>
                    <a:pt x="2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6"/>
            <p:cNvSpPr/>
            <p:nvPr/>
          </p:nvSpPr>
          <p:spPr>
            <a:xfrm>
              <a:off x="6820044" y="3018530"/>
              <a:ext cx="133391" cy="48403"/>
            </a:xfrm>
            <a:custGeom>
              <a:avLst/>
              <a:gdLst/>
              <a:ahLst/>
              <a:cxnLst/>
              <a:rect l="l" t="t" r="r" b="b"/>
              <a:pathLst>
                <a:path w="3883" h="1409" extrusionOk="0">
                  <a:moveTo>
                    <a:pt x="3525" y="382"/>
                  </a:moveTo>
                  <a:lnTo>
                    <a:pt x="3525" y="1049"/>
                  </a:lnTo>
                  <a:lnTo>
                    <a:pt x="382" y="1049"/>
                  </a:lnTo>
                  <a:lnTo>
                    <a:pt x="382" y="382"/>
                  </a:lnTo>
                  <a:close/>
                  <a:moveTo>
                    <a:pt x="382" y="1"/>
                  </a:moveTo>
                  <a:cubicBezTo>
                    <a:pt x="167" y="1"/>
                    <a:pt x="0" y="168"/>
                    <a:pt x="0" y="382"/>
                  </a:cubicBezTo>
                  <a:lnTo>
                    <a:pt x="0" y="1049"/>
                  </a:lnTo>
                  <a:cubicBezTo>
                    <a:pt x="0" y="1263"/>
                    <a:pt x="167" y="1406"/>
                    <a:pt x="382" y="1406"/>
                  </a:cubicBezTo>
                  <a:lnTo>
                    <a:pt x="3525" y="1406"/>
                  </a:lnTo>
                  <a:cubicBezTo>
                    <a:pt x="3537" y="1407"/>
                    <a:pt x="3549" y="1408"/>
                    <a:pt x="3561" y="1408"/>
                  </a:cubicBezTo>
                  <a:cubicBezTo>
                    <a:pt x="3736" y="1408"/>
                    <a:pt x="3882" y="1249"/>
                    <a:pt x="3882" y="1049"/>
                  </a:cubicBezTo>
                  <a:lnTo>
                    <a:pt x="3882" y="382"/>
                  </a:lnTo>
                  <a:cubicBezTo>
                    <a:pt x="3882" y="168"/>
                    <a:pt x="3716" y="1"/>
                    <a:pt x="35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6"/>
            <p:cNvSpPr/>
            <p:nvPr/>
          </p:nvSpPr>
          <p:spPr>
            <a:xfrm>
              <a:off x="6836395" y="3081532"/>
              <a:ext cx="101477" cy="12298"/>
            </a:xfrm>
            <a:custGeom>
              <a:avLst/>
              <a:gdLst/>
              <a:ahLst/>
              <a:cxnLst/>
              <a:rect l="l" t="t" r="r" b="b"/>
              <a:pathLst>
                <a:path w="2954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2763" y="358"/>
                  </a:lnTo>
                  <a:cubicBezTo>
                    <a:pt x="2859" y="358"/>
                    <a:pt x="2954" y="286"/>
                    <a:pt x="2954" y="191"/>
                  </a:cubicBezTo>
                  <a:cubicBezTo>
                    <a:pt x="2954" y="72"/>
                    <a:pt x="2859" y="1"/>
                    <a:pt x="2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6"/>
            <p:cNvSpPr/>
            <p:nvPr/>
          </p:nvSpPr>
          <p:spPr>
            <a:xfrm>
              <a:off x="6861782" y="3108533"/>
              <a:ext cx="50739" cy="12298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91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62"/>
                    <a:pt x="71" y="358"/>
                    <a:pt x="191" y="358"/>
                  </a:cubicBezTo>
                  <a:lnTo>
                    <a:pt x="1286" y="358"/>
                  </a:lnTo>
                  <a:cubicBezTo>
                    <a:pt x="1381" y="358"/>
                    <a:pt x="1477" y="262"/>
                    <a:pt x="1477" y="167"/>
                  </a:cubicBezTo>
                  <a:cubicBezTo>
                    <a:pt x="1477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6"/>
            <p:cNvSpPr/>
            <p:nvPr/>
          </p:nvSpPr>
          <p:spPr>
            <a:xfrm>
              <a:off x="6761953" y="2720487"/>
              <a:ext cx="404982" cy="428994"/>
            </a:xfrm>
            <a:custGeom>
              <a:avLst/>
              <a:gdLst/>
              <a:ahLst/>
              <a:cxnLst/>
              <a:rect l="l" t="t" r="r" b="b"/>
              <a:pathLst>
                <a:path w="11789" h="12488" extrusionOk="0">
                  <a:moveTo>
                    <a:pt x="6818" y="0"/>
                  </a:moveTo>
                  <a:cubicBezTo>
                    <a:pt x="6588" y="0"/>
                    <a:pt x="6375" y="160"/>
                    <a:pt x="6311" y="413"/>
                  </a:cubicBezTo>
                  <a:lnTo>
                    <a:pt x="5716" y="3438"/>
                  </a:lnTo>
                  <a:lnTo>
                    <a:pt x="834" y="3438"/>
                  </a:lnTo>
                  <a:cubicBezTo>
                    <a:pt x="382" y="3438"/>
                    <a:pt x="1" y="3819"/>
                    <a:pt x="1" y="4271"/>
                  </a:cubicBezTo>
                  <a:lnTo>
                    <a:pt x="1" y="10320"/>
                  </a:lnTo>
                  <a:cubicBezTo>
                    <a:pt x="1" y="10415"/>
                    <a:pt x="72" y="10511"/>
                    <a:pt x="191" y="10511"/>
                  </a:cubicBezTo>
                  <a:cubicBezTo>
                    <a:pt x="286" y="10511"/>
                    <a:pt x="358" y="10415"/>
                    <a:pt x="358" y="10320"/>
                  </a:cubicBezTo>
                  <a:lnTo>
                    <a:pt x="358" y="4271"/>
                  </a:lnTo>
                  <a:cubicBezTo>
                    <a:pt x="358" y="4009"/>
                    <a:pt x="572" y="3819"/>
                    <a:pt x="834" y="3819"/>
                  </a:cubicBezTo>
                  <a:lnTo>
                    <a:pt x="6907" y="3819"/>
                  </a:lnTo>
                  <a:lnTo>
                    <a:pt x="6907" y="12130"/>
                  </a:lnTo>
                  <a:lnTo>
                    <a:pt x="834" y="12130"/>
                  </a:lnTo>
                  <a:cubicBezTo>
                    <a:pt x="572" y="12130"/>
                    <a:pt x="358" y="11916"/>
                    <a:pt x="358" y="11677"/>
                  </a:cubicBezTo>
                  <a:lnTo>
                    <a:pt x="358" y="11058"/>
                  </a:lnTo>
                  <a:cubicBezTo>
                    <a:pt x="358" y="10963"/>
                    <a:pt x="286" y="10868"/>
                    <a:pt x="191" y="10868"/>
                  </a:cubicBezTo>
                  <a:cubicBezTo>
                    <a:pt x="72" y="10868"/>
                    <a:pt x="1" y="10963"/>
                    <a:pt x="1" y="11058"/>
                  </a:cubicBezTo>
                  <a:lnTo>
                    <a:pt x="1" y="11677"/>
                  </a:lnTo>
                  <a:cubicBezTo>
                    <a:pt x="1" y="12130"/>
                    <a:pt x="382" y="12487"/>
                    <a:pt x="834" y="12487"/>
                  </a:cubicBezTo>
                  <a:lnTo>
                    <a:pt x="7097" y="12487"/>
                  </a:lnTo>
                  <a:cubicBezTo>
                    <a:pt x="7193" y="12487"/>
                    <a:pt x="7288" y="12416"/>
                    <a:pt x="7288" y="12320"/>
                  </a:cubicBezTo>
                  <a:lnTo>
                    <a:pt x="7288" y="12130"/>
                  </a:lnTo>
                  <a:lnTo>
                    <a:pt x="9074" y="12487"/>
                  </a:lnTo>
                  <a:lnTo>
                    <a:pt x="9169" y="12487"/>
                  </a:lnTo>
                  <a:cubicBezTo>
                    <a:pt x="9407" y="12487"/>
                    <a:pt x="9622" y="12320"/>
                    <a:pt x="9669" y="12082"/>
                  </a:cubicBezTo>
                  <a:lnTo>
                    <a:pt x="11741" y="1461"/>
                  </a:lnTo>
                  <a:cubicBezTo>
                    <a:pt x="11789" y="1199"/>
                    <a:pt x="11598" y="913"/>
                    <a:pt x="11336" y="866"/>
                  </a:cubicBezTo>
                  <a:lnTo>
                    <a:pt x="10836" y="770"/>
                  </a:lnTo>
                  <a:cubicBezTo>
                    <a:pt x="10824" y="767"/>
                    <a:pt x="10811" y="766"/>
                    <a:pt x="10799" y="766"/>
                  </a:cubicBezTo>
                  <a:cubicBezTo>
                    <a:pt x="10717" y="766"/>
                    <a:pt x="10643" y="831"/>
                    <a:pt x="10622" y="913"/>
                  </a:cubicBezTo>
                  <a:cubicBezTo>
                    <a:pt x="10598" y="1009"/>
                    <a:pt x="10670" y="1104"/>
                    <a:pt x="10765" y="1128"/>
                  </a:cubicBezTo>
                  <a:lnTo>
                    <a:pt x="11265" y="1223"/>
                  </a:lnTo>
                  <a:cubicBezTo>
                    <a:pt x="11336" y="1247"/>
                    <a:pt x="11384" y="1318"/>
                    <a:pt x="11384" y="1390"/>
                  </a:cubicBezTo>
                  <a:lnTo>
                    <a:pt x="9312" y="12011"/>
                  </a:lnTo>
                  <a:cubicBezTo>
                    <a:pt x="9293" y="12070"/>
                    <a:pt x="9241" y="12112"/>
                    <a:pt x="9183" y="12112"/>
                  </a:cubicBezTo>
                  <a:cubicBezTo>
                    <a:pt x="9171" y="12112"/>
                    <a:pt x="9158" y="12110"/>
                    <a:pt x="9145" y="12106"/>
                  </a:cubicBezTo>
                  <a:lnTo>
                    <a:pt x="7288" y="11749"/>
                  </a:lnTo>
                  <a:lnTo>
                    <a:pt x="7288" y="11130"/>
                  </a:lnTo>
                  <a:lnTo>
                    <a:pt x="7717" y="11225"/>
                  </a:lnTo>
                  <a:cubicBezTo>
                    <a:pt x="7764" y="11225"/>
                    <a:pt x="7812" y="11225"/>
                    <a:pt x="7859" y="11177"/>
                  </a:cubicBezTo>
                  <a:cubicBezTo>
                    <a:pt x="7883" y="11154"/>
                    <a:pt x="7907" y="11106"/>
                    <a:pt x="7931" y="11058"/>
                  </a:cubicBezTo>
                  <a:lnTo>
                    <a:pt x="8645" y="7319"/>
                  </a:lnTo>
                  <a:cubicBezTo>
                    <a:pt x="8669" y="7224"/>
                    <a:pt x="8622" y="7129"/>
                    <a:pt x="8502" y="7105"/>
                  </a:cubicBezTo>
                  <a:cubicBezTo>
                    <a:pt x="8490" y="7102"/>
                    <a:pt x="8477" y="7101"/>
                    <a:pt x="8465" y="7101"/>
                  </a:cubicBezTo>
                  <a:cubicBezTo>
                    <a:pt x="8383" y="7101"/>
                    <a:pt x="8309" y="7165"/>
                    <a:pt x="8288" y="7248"/>
                  </a:cubicBezTo>
                  <a:lnTo>
                    <a:pt x="7597" y="10820"/>
                  </a:lnTo>
                  <a:lnTo>
                    <a:pt x="7288" y="10749"/>
                  </a:lnTo>
                  <a:lnTo>
                    <a:pt x="7288" y="5914"/>
                  </a:lnTo>
                  <a:lnTo>
                    <a:pt x="8502" y="6153"/>
                  </a:lnTo>
                  <a:lnTo>
                    <a:pt x="8431" y="6534"/>
                  </a:lnTo>
                  <a:cubicBezTo>
                    <a:pt x="8407" y="6629"/>
                    <a:pt x="8479" y="6724"/>
                    <a:pt x="8574" y="6748"/>
                  </a:cubicBezTo>
                  <a:lnTo>
                    <a:pt x="8622" y="6748"/>
                  </a:lnTo>
                  <a:cubicBezTo>
                    <a:pt x="8693" y="6748"/>
                    <a:pt x="8788" y="6700"/>
                    <a:pt x="8788" y="6605"/>
                  </a:cubicBezTo>
                  <a:lnTo>
                    <a:pt x="8907" y="6057"/>
                  </a:lnTo>
                  <a:cubicBezTo>
                    <a:pt x="8931" y="5938"/>
                    <a:pt x="8860" y="5843"/>
                    <a:pt x="8764" y="5843"/>
                  </a:cubicBezTo>
                  <a:lnTo>
                    <a:pt x="7288" y="5557"/>
                  </a:lnTo>
                  <a:lnTo>
                    <a:pt x="7288" y="3628"/>
                  </a:lnTo>
                  <a:cubicBezTo>
                    <a:pt x="7288" y="3533"/>
                    <a:pt x="7193" y="3438"/>
                    <a:pt x="7097" y="3438"/>
                  </a:cubicBezTo>
                  <a:lnTo>
                    <a:pt x="6097" y="3438"/>
                  </a:lnTo>
                  <a:lnTo>
                    <a:pt x="6669" y="485"/>
                  </a:lnTo>
                  <a:cubicBezTo>
                    <a:pt x="6688" y="406"/>
                    <a:pt x="6741" y="360"/>
                    <a:pt x="6799" y="360"/>
                  </a:cubicBezTo>
                  <a:cubicBezTo>
                    <a:pt x="6811" y="360"/>
                    <a:pt x="6823" y="362"/>
                    <a:pt x="6835" y="366"/>
                  </a:cubicBezTo>
                  <a:lnTo>
                    <a:pt x="10050" y="985"/>
                  </a:lnTo>
                  <a:cubicBezTo>
                    <a:pt x="10063" y="988"/>
                    <a:pt x="10075" y="989"/>
                    <a:pt x="10088" y="989"/>
                  </a:cubicBezTo>
                  <a:cubicBezTo>
                    <a:pt x="10169" y="989"/>
                    <a:pt x="10244" y="925"/>
                    <a:pt x="10265" y="842"/>
                  </a:cubicBezTo>
                  <a:cubicBezTo>
                    <a:pt x="10289" y="747"/>
                    <a:pt x="10217" y="651"/>
                    <a:pt x="10122" y="628"/>
                  </a:cubicBezTo>
                  <a:lnTo>
                    <a:pt x="6907" y="8"/>
                  </a:lnTo>
                  <a:cubicBezTo>
                    <a:pt x="6877" y="3"/>
                    <a:pt x="6847" y="0"/>
                    <a:pt x="68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1514;p74">
            <a:extLst>
              <a:ext uri="{FF2B5EF4-FFF2-40B4-BE49-F238E27FC236}">
                <a16:creationId xmlns:a16="http://schemas.microsoft.com/office/drawing/2014/main" id="{63A07B2A-0BBD-117B-75AC-04E381576495}"/>
              </a:ext>
            </a:extLst>
          </p:cNvPr>
          <p:cNvGrpSpPr/>
          <p:nvPr/>
        </p:nvGrpSpPr>
        <p:grpSpPr>
          <a:xfrm>
            <a:off x="973462" y="2963652"/>
            <a:ext cx="198008" cy="429956"/>
            <a:chOff x="5504549" y="2720316"/>
            <a:chExt cx="198008" cy="429956"/>
          </a:xfrm>
          <a:solidFill>
            <a:schemeClr val="bg1"/>
          </a:solidFill>
        </p:grpSpPr>
        <p:sp>
          <p:nvSpPr>
            <p:cNvPr id="40" name="Google Shape;1515;p74">
              <a:extLst>
                <a:ext uri="{FF2B5EF4-FFF2-40B4-BE49-F238E27FC236}">
                  <a16:creationId xmlns:a16="http://schemas.microsoft.com/office/drawing/2014/main" id="{0B5886EA-1B28-6B5B-704F-4B0E9033BD91}"/>
                </a:ext>
              </a:extLst>
            </p:cNvPr>
            <p:cNvSpPr/>
            <p:nvPr/>
          </p:nvSpPr>
          <p:spPr>
            <a:xfrm>
              <a:off x="5504549" y="2720316"/>
              <a:ext cx="198008" cy="429956"/>
            </a:xfrm>
            <a:custGeom>
              <a:avLst/>
              <a:gdLst/>
              <a:ahLst/>
              <a:cxnLst/>
              <a:rect l="l" t="t" r="r" b="b"/>
              <a:pathLst>
                <a:path w="5764" h="12516" extrusionOk="0">
                  <a:moveTo>
                    <a:pt x="3417" y="367"/>
                  </a:moveTo>
                  <a:cubicBezTo>
                    <a:pt x="3458" y="367"/>
                    <a:pt x="3488" y="381"/>
                    <a:pt x="3502" y="394"/>
                  </a:cubicBezTo>
                  <a:cubicBezTo>
                    <a:pt x="3549" y="418"/>
                    <a:pt x="3621" y="466"/>
                    <a:pt x="3621" y="585"/>
                  </a:cubicBezTo>
                  <a:lnTo>
                    <a:pt x="3621" y="1014"/>
                  </a:lnTo>
                  <a:cubicBezTo>
                    <a:pt x="3621" y="1061"/>
                    <a:pt x="3573" y="1109"/>
                    <a:pt x="3525" y="1133"/>
                  </a:cubicBezTo>
                  <a:lnTo>
                    <a:pt x="2906" y="1276"/>
                  </a:lnTo>
                  <a:cubicBezTo>
                    <a:pt x="2894" y="1288"/>
                    <a:pt x="2888" y="1293"/>
                    <a:pt x="2882" y="1293"/>
                  </a:cubicBezTo>
                  <a:cubicBezTo>
                    <a:pt x="2876" y="1293"/>
                    <a:pt x="2870" y="1288"/>
                    <a:pt x="2859" y="1276"/>
                  </a:cubicBezTo>
                  <a:lnTo>
                    <a:pt x="2239" y="1133"/>
                  </a:lnTo>
                  <a:cubicBezTo>
                    <a:pt x="2192" y="1109"/>
                    <a:pt x="2144" y="1061"/>
                    <a:pt x="2144" y="1014"/>
                  </a:cubicBezTo>
                  <a:lnTo>
                    <a:pt x="2144" y="585"/>
                  </a:lnTo>
                  <a:cubicBezTo>
                    <a:pt x="2144" y="466"/>
                    <a:pt x="2216" y="418"/>
                    <a:pt x="2263" y="394"/>
                  </a:cubicBezTo>
                  <a:cubicBezTo>
                    <a:pt x="2263" y="394"/>
                    <a:pt x="2311" y="371"/>
                    <a:pt x="2358" y="371"/>
                  </a:cubicBezTo>
                  <a:cubicBezTo>
                    <a:pt x="2382" y="371"/>
                    <a:pt x="2430" y="371"/>
                    <a:pt x="2454" y="394"/>
                  </a:cubicBezTo>
                  <a:lnTo>
                    <a:pt x="2739" y="537"/>
                  </a:lnTo>
                  <a:cubicBezTo>
                    <a:pt x="2787" y="561"/>
                    <a:pt x="2835" y="573"/>
                    <a:pt x="2882" y="573"/>
                  </a:cubicBezTo>
                  <a:cubicBezTo>
                    <a:pt x="2930" y="573"/>
                    <a:pt x="2978" y="561"/>
                    <a:pt x="3025" y="537"/>
                  </a:cubicBezTo>
                  <a:lnTo>
                    <a:pt x="3311" y="394"/>
                  </a:lnTo>
                  <a:cubicBezTo>
                    <a:pt x="3351" y="374"/>
                    <a:pt x="3387" y="367"/>
                    <a:pt x="3417" y="367"/>
                  </a:cubicBezTo>
                  <a:close/>
                  <a:moveTo>
                    <a:pt x="3454" y="6205"/>
                  </a:moveTo>
                  <a:lnTo>
                    <a:pt x="3454" y="6443"/>
                  </a:lnTo>
                  <a:lnTo>
                    <a:pt x="2311" y="6443"/>
                  </a:lnTo>
                  <a:lnTo>
                    <a:pt x="2311" y="6205"/>
                  </a:lnTo>
                  <a:cubicBezTo>
                    <a:pt x="2501" y="6253"/>
                    <a:pt x="2692" y="6300"/>
                    <a:pt x="2882" y="6300"/>
                  </a:cubicBezTo>
                  <a:cubicBezTo>
                    <a:pt x="3073" y="6300"/>
                    <a:pt x="3263" y="6253"/>
                    <a:pt x="3454" y="6205"/>
                  </a:cubicBezTo>
                  <a:close/>
                  <a:moveTo>
                    <a:pt x="3811" y="6801"/>
                  </a:moveTo>
                  <a:cubicBezTo>
                    <a:pt x="3835" y="6801"/>
                    <a:pt x="3835" y="6824"/>
                    <a:pt x="3835" y="6824"/>
                  </a:cubicBezTo>
                  <a:lnTo>
                    <a:pt x="3835" y="7039"/>
                  </a:lnTo>
                  <a:cubicBezTo>
                    <a:pt x="3835" y="7062"/>
                    <a:pt x="3835" y="7062"/>
                    <a:pt x="3811" y="7062"/>
                  </a:cubicBezTo>
                  <a:lnTo>
                    <a:pt x="1954" y="7062"/>
                  </a:lnTo>
                  <a:cubicBezTo>
                    <a:pt x="1930" y="7062"/>
                    <a:pt x="1930" y="7062"/>
                    <a:pt x="1930" y="7039"/>
                  </a:cubicBezTo>
                  <a:lnTo>
                    <a:pt x="1930" y="6824"/>
                  </a:lnTo>
                  <a:cubicBezTo>
                    <a:pt x="1930" y="6824"/>
                    <a:pt x="1930" y="6801"/>
                    <a:pt x="1954" y="6801"/>
                  </a:cubicBezTo>
                  <a:close/>
                  <a:moveTo>
                    <a:pt x="3668" y="7420"/>
                  </a:moveTo>
                  <a:lnTo>
                    <a:pt x="2882" y="8920"/>
                  </a:lnTo>
                  <a:lnTo>
                    <a:pt x="2096" y="7420"/>
                  </a:lnTo>
                  <a:close/>
                  <a:moveTo>
                    <a:pt x="1811" y="7682"/>
                  </a:moveTo>
                  <a:lnTo>
                    <a:pt x="2644" y="9253"/>
                  </a:lnTo>
                  <a:lnTo>
                    <a:pt x="2263" y="9492"/>
                  </a:lnTo>
                  <a:lnTo>
                    <a:pt x="2263" y="9063"/>
                  </a:lnTo>
                  <a:cubicBezTo>
                    <a:pt x="2263" y="8991"/>
                    <a:pt x="2216" y="8944"/>
                    <a:pt x="2168" y="8896"/>
                  </a:cubicBezTo>
                  <a:cubicBezTo>
                    <a:pt x="2144" y="8884"/>
                    <a:pt x="2114" y="8878"/>
                    <a:pt x="2085" y="8878"/>
                  </a:cubicBezTo>
                  <a:cubicBezTo>
                    <a:pt x="2055" y="8878"/>
                    <a:pt x="2025" y="8884"/>
                    <a:pt x="2001" y="8896"/>
                  </a:cubicBezTo>
                  <a:lnTo>
                    <a:pt x="1573" y="9063"/>
                  </a:lnTo>
                  <a:lnTo>
                    <a:pt x="1311" y="7991"/>
                  </a:lnTo>
                  <a:lnTo>
                    <a:pt x="1715" y="7753"/>
                  </a:lnTo>
                  <a:cubicBezTo>
                    <a:pt x="1739" y="7729"/>
                    <a:pt x="1787" y="7705"/>
                    <a:pt x="1811" y="7682"/>
                  </a:cubicBezTo>
                  <a:close/>
                  <a:moveTo>
                    <a:pt x="3954" y="7682"/>
                  </a:moveTo>
                  <a:cubicBezTo>
                    <a:pt x="3978" y="7705"/>
                    <a:pt x="4025" y="7729"/>
                    <a:pt x="4049" y="7753"/>
                  </a:cubicBezTo>
                  <a:lnTo>
                    <a:pt x="4454" y="7991"/>
                  </a:lnTo>
                  <a:lnTo>
                    <a:pt x="4192" y="9063"/>
                  </a:lnTo>
                  <a:lnTo>
                    <a:pt x="3763" y="8896"/>
                  </a:lnTo>
                  <a:cubicBezTo>
                    <a:pt x="3728" y="8884"/>
                    <a:pt x="3698" y="8878"/>
                    <a:pt x="3668" y="8878"/>
                  </a:cubicBezTo>
                  <a:cubicBezTo>
                    <a:pt x="3638" y="8878"/>
                    <a:pt x="3609" y="8884"/>
                    <a:pt x="3573" y="8896"/>
                  </a:cubicBezTo>
                  <a:cubicBezTo>
                    <a:pt x="3525" y="8944"/>
                    <a:pt x="3502" y="8991"/>
                    <a:pt x="3502" y="9063"/>
                  </a:cubicBezTo>
                  <a:lnTo>
                    <a:pt x="3502" y="9492"/>
                  </a:lnTo>
                  <a:lnTo>
                    <a:pt x="3120" y="9253"/>
                  </a:lnTo>
                  <a:lnTo>
                    <a:pt x="3954" y="7682"/>
                  </a:lnTo>
                  <a:close/>
                  <a:moveTo>
                    <a:pt x="4788" y="8206"/>
                  </a:moveTo>
                  <a:cubicBezTo>
                    <a:pt x="5169" y="8468"/>
                    <a:pt x="5383" y="8896"/>
                    <a:pt x="5383" y="9372"/>
                  </a:cubicBezTo>
                  <a:lnTo>
                    <a:pt x="5383" y="11778"/>
                  </a:lnTo>
                  <a:cubicBezTo>
                    <a:pt x="5383" y="11992"/>
                    <a:pt x="5240" y="12135"/>
                    <a:pt x="5049" y="12135"/>
                  </a:cubicBezTo>
                  <a:lnTo>
                    <a:pt x="3073" y="12135"/>
                  </a:lnTo>
                  <a:lnTo>
                    <a:pt x="3073" y="9658"/>
                  </a:lnTo>
                  <a:lnTo>
                    <a:pt x="3597" y="9968"/>
                  </a:lnTo>
                  <a:cubicBezTo>
                    <a:pt x="3621" y="9980"/>
                    <a:pt x="3650" y="9986"/>
                    <a:pt x="3680" y="9986"/>
                  </a:cubicBezTo>
                  <a:cubicBezTo>
                    <a:pt x="3710" y="9986"/>
                    <a:pt x="3740" y="9980"/>
                    <a:pt x="3763" y="9968"/>
                  </a:cubicBezTo>
                  <a:cubicBezTo>
                    <a:pt x="3835" y="9944"/>
                    <a:pt x="3859" y="9873"/>
                    <a:pt x="3859" y="9801"/>
                  </a:cubicBezTo>
                  <a:lnTo>
                    <a:pt x="3859" y="9325"/>
                  </a:lnTo>
                  <a:lnTo>
                    <a:pt x="4240" y="9492"/>
                  </a:lnTo>
                  <a:cubicBezTo>
                    <a:pt x="4264" y="9503"/>
                    <a:pt x="4287" y="9509"/>
                    <a:pt x="4311" y="9509"/>
                  </a:cubicBezTo>
                  <a:cubicBezTo>
                    <a:pt x="4335" y="9509"/>
                    <a:pt x="4359" y="9503"/>
                    <a:pt x="4383" y="9492"/>
                  </a:cubicBezTo>
                  <a:cubicBezTo>
                    <a:pt x="4430" y="9468"/>
                    <a:pt x="4478" y="9420"/>
                    <a:pt x="4478" y="9372"/>
                  </a:cubicBezTo>
                  <a:lnTo>
                    <a:pt x="4788" y="8206"/>
                  </a:lnTo>
                  <a:close/>
                  <a:moveTo>
                    <a:pt x="2386" y="0"/>
                  </a:moveTo>
                  <a:cubicBezTo>
                    <a:pt x="2275" y="0"/>
                    <a:pt x="2166" y="31"/>
                    <a:pt x="2073" y="85"/>
                  </a:cubicBezTo>
                  <a:cubicBezTo>
                    <a:pt x="1882" y="180"/>
                    <a:pt x="1787" y="371"/>
                    <a:pt x="1787" y="585"/>
                  </a:cubicBezTo>
                  <a:lnTo>
                    <a:pt x="1787" y="871"/>
                  </a:lnTo>
                  <a:cubicBezTo>
                    <a:pt x="1596" y="942"/>
                    <a:pt x="1430" y="1037"/>
                    <a:pt x="1263" y="1180"/>
                  </a:cubicBezTo>
                  <a:cubicBezTo>
                    <a:pt x="1192" y="1252"/>
                    <a:pt x="1192" y="1371"/>
                    <a:pt x="1263" y="1442"/>
                  </a:cubicBezTo>
                  <a:cubicBezTo>
                    <a:pt x="1311" y="1466"/>
                    <a:pt x="1358" y="1490"/>
                    <a:pt x="1406" y="1490"/>
                  </a:cubicBezTo>
                  <a:cubicBezTo>
                    <a:pt x="1453" y="1490"/>
                    <a:pt x="1477" y="1466"/>
                    <a:pt x="1525" y="1442"/>
                  </a:cubicBezTo>
                  <a:cubicBezTo>
                    <a:pt x="1620" y="1347"/>
                    <a:pt x="1715" y="1276"/>
                    <a:pt x="1835" y="1228"/>
                  </a:cubicBezTo>
                  <a:cubicBezTo>
                    <a:pt x="1906" y="1347"/>
                    <a:pt x="2001" y="1442"/>
                    <a:pt x="2144" y="1466"/>
                  </a:cubicBezTo>
                  <a:lnTo>
                    <a:pt x="2763" y="1633"/>
                  </a:lnTo>
                  <a:cubicBezTo>
                    <a:pt x="2811" y="1657"/>
                    <a:pt x="2835" y="1657"/>
                    <a:pt x="2882" y="1657"/>
                  </a:cubicBezTo>
                  <a:cubicBezTo>
                    <a:pt x="2930" y="1657"/>
                    <a:pt x="2978" y="1657"/>
                    <a:pt x="3001" y="1633"/>
                  </a:cubicBezTo>
                  <a:lnTo>
                    <a:pt x="3621" y="1466"/>
                  </a:lnTo>
                  <a:cubicBezTo>
                    <a:pt x="3763" y="1442"/>
                    <a:pt x="3859" y="1347"/>
                    <a:pt x="3930" y="1228"/>
                  </a:cubicBezTo>
                  <a:cubicBezTo>
                    <a:pt x="4359" y="1418"/>
                    <a:pt x="4621" y="1871"/>
                    <a:pt x="4549" y="2347"/>
                  </a:cubicBezTo>
                  <a:cubicBezTo>
                    <a:pt x="4526" y="2514"/>
                    <a:pt x="4478" y="2681"/>
                    <a:pt x="4406" y="2824"/>
                  </a:cubicBezTo>
                  <a:cubicBezTo>
                    <a:pt x="4306" y="2829"/>
                    <a:pt x="4209" y="2832"/>
                    <a:pt x="4115" y="2832"/>
                  </a:cubicBezTo>
                  <a:cubicBezTo>
                    <a:pt x="3452" y="2832"/>
                    <a:pt x="2951" y="2684"/>
                    <a:pt x="2597" y="2371"/>
                  </a:cubicBezTo>
                  <a:cubicBezTo>
                    <a:pt x="2525" y="2300"/>
                    <a:pt x="2454" y="2300"/>
                    <a:pt x="2382" y="2300"/>
                  </a:cubicBezTo>
                  <a:cubicBezTo>
                    <a:pt x="2311" y="2300"/>
                    <a:pt x="2239" y="2347"/>
                    <a:pt x="2216" y="2419"/>
                  </a:cubicBezTo>
                  <a:cubicBezTo>
                    <a:pt x="2049" y="2633"/>
                    <a:pt x="1787" y="2776"/>
                    <a:pt x="1358" y="2824"/>
                  </a:cubicBezTo>
                  <a:cubicBezTo>
                    <a:pt x="1287" y="2657"/>
                    <a:pt x="1239" y="2514"/>
                    <a:pt x="1215" y="2371"/>
                  </a:cubicBezTo>
                  <a:cubicBezTo>
                    <a:pt x="1192" y="2252"/>
                    <a:pt x="1192" y="2109"/>
                    <a:pt x="1215" y="1990"/>
                  </a:cubicBezTo>
                  <a:cubicBezTo>
                    <a:pt x="1239" y="1895"/>
                    <a:pt x="1168" y="1800"/>
                    <a:pt x="1072" y="1776"/>
                  </a:cubicBezTo>
                  <a:cubicBezTo>
                    <a:pt x="1060" y="1773"/>
                    <a:pt x="1047" y="1771"/>
                    <a:pt x="1035" y="1771"/>
                  </a:cubicBezTo>
                  <a:cubicBezTo>
                    <a:pt x="953" y="1771"/>
                    <a:pt x="879" y="1836"/>
                    <a:pt x="858" y="1919"/>
                  </a:cubicBezTo>
                  <a:cubicBezTo>
                    <a:pt x="834" y="2085"/>
                    <a:pt x="834" y="2276"/>
                    <a:pt x="858" y="2443"/>
                  </a:cubicBezTo>
                  <a:cubicBezTo>
                    <a:pt x="906" y="2633"/>
                    <a:pt x="953" y="2847"/>
                    <a:pt x="1049" y="3038"/>
                  </a:cubicBezTo>
                  <a:lnTo>
                    <a:pt x="1049" y="4467"/>
                  </a:lnTo>
                  <a:cubicBezTo>
                    <a:pt x="1049" y="5134"/>
                    <a:pt x="1406" y="5705"/>
                    <a:pt x="1954" y="6038"/>
                  </a:cubicBezTo>
                  <a:lnTo>
                    <a:pt x="1954" y="6443"/>
                  </a:lnTo>
                  <a:cubicBezTo>
                    <a:pt x="1739" y="6443"/>
                    <a:pt x="1573" y="6610"/>
                    <a:pt x="1573" y="6824"/>
                  </a:cubicBezTo>
                  <a:lnTo>
                    <a:pt x="1573" y="7062"/>
                  </a:lnTo>
                  <a:cubicBezTo>
                    <a:pt x="1573" y="7158"/>
                    <a:pt x="1620" y="7253"/>
                    <a:pt x="1692" y="7324"/>
                  </a:cubicBezTo>
                  <a:cubicBezTo>
                    <a:pt x="1620" y="7372"/>
                    <a:pt x="1573" y="7420"/>
                    <a:pt x="1525" y="7444"/>
                  </a:cubicBezTo>
                  <a:cubicBezTo>
                    <a:pt x="1430" y="7515"/>
                    <a:pt x="1144" y="7682"/>
                    <a:pt x="858" y="7848"/>
                  </a:cubicBezTo>
                  <a:cubicBezTo>
                    <a:pt x="334" y="8158"/>
                    <a:pt x="1" y="8753"/>
                    <a:pt x="1" y="9372"/>
                  </a:cubicBezTo>
                  <a:lnTo>
                    <a:pt x="1" y="11778"/>
                  </a:lnTo>
                  <a:cubicBezTo>
                    <a:pt x="1" y="12183"/>
                    <a:pt x="334" y="12492"/>
                    <a:pt x="715" y="12492"/>
                  </a:cubicBezTo>
                  <a:lnTo>
                    <a:pt x="1644" y="12492"/>
                  </a:lnTo>
                  <a:cubicBezTo>
                    <a:pt x="1739" y="12492"/>
                    <a:pt x="1811" y="12421"/>
                    <a:pt x="1811" y="12325"/>
                  </a:cubicBezTo>
                  <a:cubicBezTo>
                    <a:pt x="1811" y="12230"/>
                    <a:pt x="1739" y="12135"/>
                    <a:pt x="1644" y="12135"/>
                  </a:cubicBezTo>
                  <a:lnTo>
                    <a:pt x="715" y="12135"/>
                  </a:lnTo>
                  <a:cubicBezTo>
                    <a:pt x="525" y="12135"/>
                    <a:pt x="382" y="11992"/>
                    <a:pt x="382" y="11778"/>
                  </a:cubicBezTo>
                  <a:lnTo>
                    <a:pt x="382" y="9372"/>
                  </a:lnTo>
                  <a:cubicBezTo>
                    <a:pt x="382" y="8896"/>
                    <a:pt x="596" y="8468"/>
                    <a:pt x="977" y="8206"/>
                  </a:cubicBezTo>
                  <a:lnTo>
                    <a:pt x="1263" y="9372"/>
                  </a:lnTo>
                  <a:cubicBezTo>
                    <a:pt x="1287" y="9420"/>
                    <a:pt x="1311" y="9468"/>
                    <a:pt x="1358" y="9492"/>
                  </a:cubicBezTo>
                  <a:cubicBezTo>
                    <a:pt x="1382" y="9503"/>
                    <a:pt x="1412" y="9509"/>
                    <a:pt x="1442" y="9509"/>
                  </a:cubicBezTo>
                  <a:cubicBezTo>
                    <a:pt x="1471" y="9509"/>
                    <a:pt x="1501" y="9503"/>
                    <a:pt x="1525" y="9492"/>
                  </a:cubicBezTo>
                  <a:lnTo>
                    <a:pt x="1882" y="9325"/>
                  </a:lnTo>
                  <a:lnTo>
                    <a:pt x="1882" y="9801"/>
                  </a:lnTo>
                  <a:cubicBezTo>
                    <a:pt x="1882" y="9873"/>
                    <a:pt x="1930" y="9944"/>
                    <a:pt x="1977" y="9968"/>
                  </a:cubicBezTo>
                  <a:cubicBezTo>
                    <a:pt x="2013" y="9980"/>
                    <a:pt x="2049" y="9986"/>
                    <a:pt x="2082" y="9986"/>
                  </a:cubicBezTo>
                  <a:cubicBezTo>
                    <a:pt x="2114" y="9986"/>
                    <a:pt x="2144" y="9980"/>
                    <a:pt x="2168" y="9968"/>
                  </a:cubicBezTo>
                  <a:lnTo>
                    <a:pt x="2692" y="9634"/>
                  </a:lnTo>
                  <a:lnTo>
                    <a:pt x="2692" y="12135"/>
                  </a:lnTo>
                  <a:lnTo>
                    <a:pt x="2358" y="12135"/>
                  </a:lnTo>
                  <a:cubicBezTo>
                    <a:pt x="2263" y="12135"/>
                    <a:pt x="2192" y="12230"/>
                    <a:pt x="2192" y="12325"/>
                  </a:cubicBezTo>
                  <a:cubicBezTo>
                    <a:pt x="2192" y="12421"/>
                    <a:pt x="2263" y="12516"/>
                    <a:pt x="2358" y="12516"/>
                  </a:cubicBezTo>
                  <a:lnTo>
                    <a:pt x="5049" y="12516"/>
                  </a:lnTo>
                  <a:cubicBezTo>
                    <a:pt x="5430" y="12516"/>
                    <a:pt x="5764" y="12183"/>
                    <a:pt x="5764" y="11802"/>
                  </a:cubicBezTo>
                  <a:lnTo>
                    <a:pt x="5764" y="9372"/>
                  </a:lnTo>
                  <a:cubicBezTo>
                    <a:pt x="5764" y="8753"/>
                    <a:pt x="5430" y="8158"/>
                    <a:pt x="4907" y="7848"/>
                  </a:cubicBezTo>
                  <a:cubicBezTo>
                    <a:pt x="4716" y="7729"/>
                    <a:pt x="4478" y="7586"/>
                    <a:pt x="4240" y="7444"/>
                  </a:cubicBezTo>
                  <a:cubicBezTo>
                    <a:pt x="4192" y="7420"/>
                    <a:pt x="4145" y="7372"/>
                    <a:pt x="4073" y="7324"/>
                  </a:cubicBezTo>
                  <a:cubicBezTo>
                    <a:pt x="4145" y="7253"/>
                    <a:pt x="4192" y="7158"/>
                    <a:pt x="4192" y="7062"/>
                  </a:cubicBezTo>
                  <a:lnTo>
                    <a:pt x="4192" y="7039"/>
                  </a:lnTo>
                  <a:lnTo>
                    <a:pt x="4907" y="7158"/>
                  </a:lnTo>
                  <a:lnTo>
                    <a:pt x="4930" y="7158"/>
                  </a:lnTo>
                  <a:cubicBezTo>
                    <a:pt x="5026" y="7158"/>
                    <a:pt x="5097" y="7086"/>
                    <a:pt x="5121" y="6991"/>
                  </a:cubicBezTo>
                  <a:cubicBezTo>
                    <a:pt x="5121" y="6896"/>
                    <a:pt x="5049" y="6801"/>
                    <a:pt x="4954" y="6777"/>
                  </a:cubicBezTo>
                  <a:lnTo>
                    <a:pt x="4478" y="6705"/>
                  </a:lnTo>
                  <a:lnTo>
                    <a:pt x="4502" y="6681"/>
                  </a:lnTo>
                  <a:cubicBezTo>
                    <a:pt x="4573" y="6634"/>
                    <a:pt x="4597" y="6515"/>
                    <a:pt x="4549" y="6420"/>
                  </a:cubicBezTo>
                  <a:cubicBezTo>
                    <a:pt x="4508" y="6378"/>
                    <a:pt x="4450" y="6353"/>
                    <a:pt x="4395" y="6353"/>
                  </a:cubicBezTo>
                  <a:cubicBezTo>
                    <a:pt x="4356" y="6353"/>
                    <a:pt x="4317" y="6366"/>
                    <a:pt x="4287" y="6396"/>
                  </a:cubicBezTo>
                  <a:lnTo>
                    <a:pt x="4073" y="6539"/>
                  </a:lnTo>
                  <a:cubicBezTo>
                    <a:pt x="4002" y="6491"/>
                    <a:pt x="3930" y="6443"/>
                    <a:pt x="3811" y="6443"/>
                  </a:cubicBezTo>
                  <a:lnTo>
                    <a:pt x="3811" y="6038"/>
                  </a:lnTo>
                  <a:cubicBezTo>
                    <a:pt x="4049" y="5896"/>
                    <a:pt x="4264" y="5705"/>
                    <a:pt x="4406" y="5467"/>
                  </a:cubicBezTo>
                  <a:cubicBezTo>
                    <a:pt x="4478" y="5372"/>
                    <a:pt x="4454" y="5253"/>
                    <a:pt x="4359" y="5205"/>
                  </a:cubicBezTo>
                  <a:cubicBezTo>
                    <a:pt x="4334" y="5188"/>
                    <a:pt x="4302" y="5180"/>
                    <a:pt x="4269" y="5180"/>
                  </a:cubicBezTo>
                  <a:cubicBezTo>
                    <a:pt x="4209" y="5180"/>
                    <a:pt x="4143" y="5206"/>
                    <a:pt x="4097" y="5253"/>
                  </a:cubicBezTo>
                  <a:cubicBezTo>
                    <a:pt x="3835" y="5681"/>
                    <a:pt x="3382" y="5919"/>
                    <a:pt x="2882" y="5919"/>
                  </a:cubicBezTo>
                  <a:cubicBezTo>
                    <a:pt x="2073" y="5919"/>
                    <a:pt x="1430" y="5276"/>
                    <a:pt x="1430" y="4467"/>
                  </a:cubicBezTo>
                  <a:lnTo>
                    <a:pt x="1430" y="3181"/>
                  </a:lnTo>
                  <a:cubicBezTo>
                    <a:pt x="1882" y="3109"/>
                    <a:pt x="2216" y="2966"/>
                    <a:pt x="2430" y="2704"/>
                  </a:cubicBezTo>
                  <a:cubicBezTo>
                    <a:pt x="2859" y="3038"/>
                    <a:pt x="3406" y="3205"/>
                    <a:pt x="4145" y="3205"/>
                  </a:cubicBezTo>
                  <a:lnTo>
                    <a:pt x="4335" y="3205"/>
                  </a:lnTo>
                  <a:lnTo>
                    <a:pt x="4335" y="4467"/>
                  </a:lnTo>
                  <a:cubicBezTo>
                    <a:pt x="4335" y="4514"/>
                    <a:pt x="4335" y="4586"/>
                    <a:pt x="4335" y="4657"/>
                  </a:cubicBezTo>
                  <a:cubicBezTo>
                    <a:pt x="4311" y="4752"/>
                    <a:pt x="4383" y="4848"/>
                    <a:pt x="4502" y="4848"/>
                  </a:cubicBezTo>
                  <a:lnTo>
                    <a:pt x="4526" y="4848"/>
                  </a:lnTo>
                  <a:cubicBezTo>
                    <a:pt x="4597" y="4848"/>
                    <a:pt x="4692" y="4776"/>
                    <a:pt x="4692" y="4705"/>
                  </a:cubicBezTo>
                  <a:cubicBezTo>
                    <a:pt x="4716" y="4610"/>
                    <a:pt x="4716" y="4538"/>
                    <a:pt x="4716" y="4467"/>
                  </a:cubicBezTo>
                  <a:lnTo>
                    <a:pt x="4716" y="3038"/>
                  </a:lnTo>
                  <a:cubicBezTo>
                    <a:pt x="4811" y="2847"/>
                    <a:pt x="4883" y="2609"/>
                    <a:pt x="4907" y="2395"/>
                  </a:cubicBezTo>
                  <a:cubicBezTo>
                    <a:pt x="5026" y="1728"/>
                    <a:pt x="4621" y="1085"/>
                    <a:pt x="3978" y="871"/>
                  </a:cubicBezTo>
                  <a:lnTo>
                    <a:pt x="3978" y="585"/>
                  </a:lnTo>
                  <a:cubicBezTo>
                    <a:pt x="3978" y="371"/>
                    <a:pt x="3883" y="180"/>
                    <a:pt x="3692" y="85"/>
                  </a:cubicBezTo>
                  <a:cubicBezTo>
                    <a:pt x="3598" y="31"/>
                    <a:pt x="3490" y="0"/>
                    <a:pt x="3379" y="0"/>
                  </a:cubicBezTo>
                  <a:cubicBezTo>
                    <a:pt x="3292" y="0"/>
                    <a:pt x="3204" y="19"/>
                    <a:pt x="3120" y="61"/>
                  </a:cubicBezTo>
                  <a:lnTo>
                    <a:pt x="2882" y="204"/>
                  </a:lnTo>
                  <a:lnTo>
                    <a:pt x="2644" y="61"/>
                  </a:lnTo>
                  <a:cubicBezTo>
                    <a:pt x="2561" y="19"/>
                    <a:pt x="2473" y="0"/>
                    <a:pt x="23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16;p74">
              <a:extLst>
                <a:ext uri="{FF2B5EF4-FFF2-40B4-BE49-F238E27FC236}">
                  <a16:creationId xmlns:a16="http://schemas.microsoft.com/office/drawing/2014/main" id="{B49AF5AC-36AE-CA1A-9D35-C78904292D32}"/>
                </a:ext>
              </a:extLst>
            </p:cNvPr>
            <p:cNvSpPr/>
            <p:nvPr/>
          </p:nvSpPr>
          <p:spPr>
            <a:xfrm>
              <a:off x="5583903" y="2884349"/>
              <a:ext cx="39299" cy="16420"/>
            </a:xfrm>
            <a:custGeom>
              <a:avLst/>
              <a:gdLst/>
              <a:ahLst/>
              <a:cxnLst/>
              <a:rect l="l" t="t" r="r" b="b"/>
              <a:pathLst>
                <a:path w="1144" h="478" extrusionOk="0">
                  <a:moveTo>
                    <a:pt x="204" y="0"/>
                  </a:moveTo>
                  <a:cubicBezTo>
                    <a:pt x="140" y="0"/>
                    <a:pt x="79" y="27"/>
                    <a:pt x="48" y="73"/>
                  </a:cubicBezTo>
                  <a:cubicBezTo>
                    <a:pt x="1" y="168"/>
                    <a:pt x="25" y="287"/>
                    <a:pt x="120" y="335"/>
                  </a:cubicBezTo>
                  <a:cubicBezTo>
                    <a:pt x="263" y="430"/>
                    <a:pt x="429" y="478"/>
                    <a:pt x="572" y="478"/>
                  </a:cubicBezTo>
                  <a:cubicBezTo>
                    <a:pt x="715" y="478"/>
                    <a:pt x="882" y="430"/>
                    <a:pt x="1025" y="335"/>
                  </a:cubicBezTo>
                  <a:cubicBezTo>
                    <a:pt x="1120" y="287"/>
                    <a:pt x="1144" y="168"/>
                    <a:pt x="1096" y="73"/>
                  </a:cubicBezTo>
                  <a:cubicBezTo>
                    <a:pt x="1066" y="27"/>
                    <a:pt x="1005" y="0"/>
                    <a:pt x="940" y="0"/>
                  </a:cubicBezTo>
                  <a:cubicBezTo>
                    <a:pt x="905" y="0"/>
                    <a:pt x="868" y="8"/>
                    <a:pt x="834" y="25"/>
                  </a:cubicBezTo>
                  <a:cubicBezTo>
                    <a:pt x="751" y="85"/>
                    <a:pt x="662" y="114"/>
                    <a:pt x="572" y="114"/>
                  </a:cubicBezTo>
                  <a:cubicBezTo>
                    <a:pt x="483" y="114"/>
                    <a:pt x="394" y="85"/>
                    <a:pt x="310" y="25"/>
                  </a:cubicBezTo>
                  <a:cubicBezTo>
                    <a:pt x="277" y="8"/>
                    <a:pt x="240" y="0"/>
                    <a:pt x="2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17;p74">
              <a:extLst>
                <a:ext uri="{FF2B5EF4-FFF2-40B4-BE49-F238E27FC236}">
                  <a16:creationId xmlns:a16="http://schemas.microsoft.com/office/drawing/2014/main" id="{80CA3443-2E64-AC25-CD11-5C64A23D9D32}"/>
                </a:ext>
              </a:extLst>
            </p:cNvPr>
            <p:cNvSpPr/>
            <p:nvPr/>
          </p:nvSpPr>
          <p:spPr>
            <a:xfrm>
              <a:off x="5572464" y="2846733"/>
              <a:ext cx="12298" cy="18860"/>
            </a:xfrm>
            <a:custGeom>
              <a:avLst/>
              <a:gdLst/>
              <a:ahLst/>
              <a:cxnLst/>
              <a:rect l="l" t="t" r="r" b="b"/>
              <a:pathLst>
                <a:path w="358" h="549" extrusionOk="0">
                  <a:moveTo>
                    <a:pt x="167" y="1"/>
                  </a:moveTo>
                  <a:cubicBezTo>
                    <a:pt x="72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72" y="549"/>
                    <a:pt x="167" y="549"/>
                  </a:cubicBezTo>
                  <a:cubicBezTo>
                    <a:pt x="262" y="549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18;p74">
              <a:extLst>
                <a:ext uri="{FF2B5EF4-FFF2-40B4-BE49-F238E27FC236}">
                  <a16:creationId xmlns:a16="http://schemas.microsoft.com/office/drawing/2014/main" id="{D19F7256-23F3-FCA4-1EB4-702B08F85128}"/>
                </a:ext>
              </a:extLst>
            </p:cNvPr>
            <p:cNvSpPr/>
            <p:nvPr/>
          </p:nvSpPr>
          <p:spPr>
            <a:xfrm>
              <a:off x="5622378" y="2846733"/>
              <a:ext cx="13123" cy="18860"/>
            </a:xfrm>
            <a:custGeom>
              <a:avLst/>
              <a:gdLst/>
              <a:ahLst/>
              <a:cxnLst/>
              <a:rect l="l" t="t" r="r" b="b"/>
              <a:pathLst>
                <a:path w="382" h="549" extrusionOk="0">
                  <a:moveTo>
                    <a:pt x="191" y="1"/>
                  </a:moveTo>
                  <a:cubicBezTo>
                    <a:pt x="95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95" y="549"/>
                    <a:pt x="191" y="549"/>
                  </a:cubicBezTo>
                  <a:cubicBezTo>
                    <a:pt x="286" y="549"/>
                    <a:pt x="381" y="453"/>
                    <a:pt x="381" y="358"/>
                  </a:cubicBezTo>
                  <a:lnTo>
                    <a:pt x="381" y="191"/>
                  </a:lnTo>
                  <a:cubicBezTo>
                    <a:pt x="381" y="72"/>
                    <a:pt x="286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19;p74">
              <a:extLst>
                <a:ext uri="{FF2B5EF4-FFF2-40B4-BE49-F238E27FC236}">
                  <a16:creationId xmlns:a16="http://schemas.microsoft.com/office/drawing/2014/main" id="{C8450EDE-2560-FF87-6A04-74AAA6D5D092}"/>
                </a:ext>
              </a:extLst>
            </p:cNvPr>
            <p:cNvSpPr/>
            <p:nvPr/>
          </p:nvSpPr>
          <p:spPr>
            <a:xfrm>
              <a:off x="5627256" y="3072532"/>
              <a:ext cx="39334" cy="12298"/>
            </a:xfrm>
            <a:custGeom>
              <a:avLst/>
              <a:gdLst/>
              <a:ahLst/>
              <a:cxnLst/>
              <a:rect l="l" t="t" r="r" b="b"/>
              <a:pathLst>
                <a:path w="1145" h="35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954" y="358"/>
                  </a:lnTo>
                  <a:cubicBezTo>
                    <a:pt x="1049" y="358"/>
                    <a:pt x="1144" y="286"/>
                    <a:pt x="1144" y="191"/>
                  </a:cubicBezTo>
                  <a:cubicBezTo>
                    <a:pt x="1144" y="96"/>
                    <a:pt x="1049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6229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Apply Segment-Specific Service Strategy</a:t>
            </a:r>
            <a:endParaRPr sz="2800"/>
          </a:p>
        </p:txBody>
      </p:sp>
      <p:sp>
        <p:nvSpPr>
          <p:cNvPr id="953" name="Google Shape;953;p66"/>
          <p:cNvSpPr txBox="1">
            <a:spLocks noGrp="1"/>
          </p:cNvSpPr>
          <p:nvPr>
            <p:ph type="title" idx="2"/>
          </p:nvPr>
        </p:nvSpPr>
        <p:spPr>
          <a:xfrm>
            <a:off x="1665433" y="1517171"/>
            <a:ext cx="6420476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Enhance Service Quality for Business Travelers</a:t>
            </a:r>
            <a:endParaRPr/>
          </a:p>
        </p:txBody>
      </p:sp>
      <p:sp>
        <p:nvSpPr>
          <p:cNvPr id="954" name="Google Shape;954;p66"/>
          <p:cNvSpPr txBox="1">
            <a:spLocks noGrp="1"/>
          </p:cNvSpPr>
          <p:nvPr>
            <p:ph type="subTitle" idx="1"/>
          </p:nvPr>
        </p:nvSpPr>
        <p:spPr>
          <a:xfrm>
            <a:off x="1665434" y="1881258"/>
            <a:ext cx="6765466" cy="835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Strong rating gaps across all service attributes indicate high sensitivity. Service improvements will directly increase satisfaction.</a:t>
            </a:r>
            <a:endParaRPr/>
          </a:p>
        </p:txBody>
      </p:sp>
      <p:sp>
        <p:nvSpPr>
          <p:cNvPr id="961" name="Google Shape;961;p66"/>
          <p:cNvSpPr txBox="1">
            <a:spLocks noGrp="1"/>
          </p:cNvSpPr>
          <p:nvPr>
            <p:ph type="title" idx="9"/>
          </p:nvPr>
        </p:nvSpPr>
        <p:spPr>
          <a:xfrm>
            <a:off x="1665435" y="2716501"/>
            <a:ext cx="5225223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Re-evaluate Strategy for Personal Travelers</a:t>
            </a:r>
            <a:endParaRPr/>
          </a:p>
        </p:txBody>
      </p:sp>
      <p:sp>
        <p:nvSpPr>
          <p:cNvPr id="962" name="Google Shape;962;p66"/>
          <p:cNvSpPr txBox="1">
            <a:spLocks noGrp="1"/>
          </p:cNvSpPr>
          <p:nvPr>
            <p:ph type="subTitle" idx="13"/>
          </p:nvPr>
        </p:nvSpPr>
        <p:spPr>
          <a:xfrm>
            <a:off x="1665435" y="3081160"/>
            <a:ext cx="6765465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Minimal rating differences and observed inconsistencies suggest service is not the primary driver. Investigate alternative factors (e.g., pricing, expectations, travel purpose)</a:t>
            </a:r>
            <a:endParaRPr/>
          </a:p>
        </p:txBody>
      </p:sp>
      <p:sp>
        <p:nvSpPr>
          <p:cNvPr id="965" name="Google Shape;965;p66"/>
          <p:cNvSpPr/>
          <p:nvPr/>
        </p:nvSpPr>
        <p:spPr>
          <a:xfrm>
            <a:off x="712374" y="162870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6"/>
          <p:cNvSpPr/>
          <p:nvPr/>
        </p:nvSpPr>
        <p:spPr>
          <a:xfrm>
            <a:off x="712376" y="282955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66"/>
          <p:cNvGrpSpPr/>
          <p:nvPr/>
        </p:nvGrpSpPr>
        <p:grpSpPr>
          <a:xfrm>
            <a:off x="873633" y="1777958"/>
            <a:ext cx="404982" cy="428994"/>
            <a:chOff x="6761953" y="2720487"/>
            <a:chExt cx="404982" cy="428994"/>
          </a:xfrm>
        </p:grpSpPr>
        <p:sp>
          <p:nvSpPr>
            <p:cNvPr id="996" name="Google Shape;996;p66"/>
            <p:cNvSpPr/>
            <p:nvPr/>
          </p:nvSpPr>
          <p:spPr>
            <a:xfrm>
              <a:off x="7002490" y="2756901"/>
              <a:ext cx="98179" cy="76778"/>
            </a:xfrm>
            <a:custGeom>
              <a:avLst/>
              <a:gdLst/>
              <a:ahLst/>
              <a:cxnLst/>
              <a:rect l="l" t="t" r="r" b="b"/>
              <a:pathLst>
                <a:path w="2858" h="2235" extrusionOk="0">
                  <a:moveTo>
                    <a:pt x="1845" y="1"/>
                  </a:moveTo>
                  <a:cubicBezTo>
                    <a:pt x="1807" y="1"/>
                    <a:pt x="1768" y="14"/>
                    <a:pt x="1739" y="44"/>
                  </a:cubicBezTo>
                  <a:lnTo>
                    <a:pt x="834" y="758"/>
                  </a:lnTo>
                  <a:lnTo>
                    <a:pt x="238" y="639"/>
                  </a:lnTo>
                  <a:cubicBezTo>
                    <a:pt x="143" y="639"/>
                    <a:pt x="48" y="687"/>
                    <a:pt x="24" y="806"/>
                  </a:cubicBezTo>
                  <a:cubicBezTo>
                    <a:pt x="0" y="901"/>
                    <a:pt x="72" y="996"/>
                    <a:pt x="167" y="1020"/>
                  </a:cubicBezTo>
                  <a:lnTo>
                    <a:pt x="762" y="1116"/>
                  </a:lnTo>
                  <a:lnTo>
                    <a:pt x="1334" y="2140"/>
                  </a:lnTo>
                  <a:cubicBezTo>
                    <a:pt x="1358" y="2187"/>
                    <a:pt x="1429" y="2235"/>
                    <a:pt x="1477" y="2235"/>
                  </a:cubicBezTo>
                  <a:cubicBezTo>
                    <a:pt x="1524" y="2235"/>
                    <a:pt x="1548" y="2211"/>
                    <a:pt x="1572" y="2211"/>
                  </a:cubicBezTo>
                  <a:cubicBezTo>
                    <a:pt x="1667" y="2163"/>
                    <a:pt x="1691" y="2044"/>
                    <a:pt x="1643" y="1949"/>
                  </a:cubicBezTo>
                  <a:lnTo>
                    <a:pt x="1238" y="1211"/>
                  </a:lnTo>
                  <a:lnTo>
                    <a:pt x="2001" y="1378"/>
                  </a:lnTo>
                  <a:lnTo>
                    <a:pt x="2334" y="1806"/>
                  </a:lnTo>
                  <a:cubicBezTo>
                    <a:pt x="2358" y="1878"/>
                    <a:pt x="2405" y="1901"/>
                    <a:pt x="2477" y="1901"/>
                  </a:cubicBezTo>
                  <a:cubicBezTo>
                    <a:pt x="2501" y="1901"/>
                    <a:pt x="2548" y="1878"/>
                    <a:pt x="2572" y="1854"/>
                  </a:cubicBezTo>
                  <a:cubicBezTo>
                    <a:pt x="2667" y="1806"/>
                    <a:pt x="2691" y="1687"/>
                    <a:pt x="2620" y="1616"/>
                  </a:cubicBezTo>
                  <a:lnTo>
                    <a:pt x="2382" y="1258"/>
                  </a:lnTo>
                  <a:lnTo>
                    <a:pt x="2739" y="1020"/>
                  </a:lnTo>
                  <a:cubicBezTo>
                    <a:pt x="2834" y="973"/>
                    <a:pt x="2858" y="854"/>
                    <a:pt x="2786" y="758"/>
                  </a:cubicBezTo>
                  <a:cubicBezTo>
                    <a:pt x="2756" y="712"/>
                    <a:pt x="2695" y="686"/>
                    <a:pt x="2637" y="686"/>
                  </a:cubicBezTo>
                  <a:cubicBezTo>
                    <a:pt x="2605" y="686"/>
                    <a:pt x="2574" y="694"/>
                    <a:pt x="2548" y="711"/>
                  </a:cubicBezTo>
                  <a:lnTo>
                    <a:pt x="2072" y="1020"/>
                  </a:lnTo>
                  <a:lnTo>
                    <a:pt x="1310" y="854"/>
                  </a:lnTo>
                  <a:lnTo>
                    <a:pt x="1953" y="330"/>
                  </a:lnTo>
                  <a:cubicBezTo>
                    <a:pt x="2048" y="258"/>
                    <a:pt x="2048" y="139"/>
                    <a:pt x="1977" y="68"/>
                  </a:cubicBezTo>
                  <a:cubicBezTo>
                    <a:pt x="1949" y="26"/>
                    <a:pt x="1897" y="1"/>
                    <a:pt x="18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6"/>
            <p:cNvSpPr/>
            <p:nvPr/>
          </p:nvSpPr>
          <p:spPr>
            <a:xfrm>
              <a:off x="7049930" y="2850821"/>
              <a:ext cx="20474" cy="46685"/>
            </a:xfrm>
            <a:custGeom>
              <a:avLst/>
              <a:gdLst/>
              <a:ahLst/>
              <a:cxnLst/>
              <a:rect l="l" t="t" r="r" b="b"/>
              <a:pathLst>
                <a:path w="596" h="1359" extrusionOk="0">
                  <a:moveTo>
                    <a:pt x="429" y="1"/>
                  </a:moveTo>
                  <a:cubicBezTo>
                    <a:pt x="334" y="1"/>
                    <a:pt x="239" y="49"/>
                    <a:pt x="215" y="144"/>
                  </a:cubicBezTo>
                  <a:lnTo>
                    <a:pt x="24" y="1144"/>
                  </a:lnTo>
                  <a:cubicBezTo>
                    <a:pt x="0" y="1239"/>
                    <a:pt x="72" y="1335"/>
                    <a:pt x="167" y="1358"/>
                  </a:cubicBezTo>
                  <a:lnTo>
                    <a:pt x="215" y="1358"/>
                  </a:lnTo>
                  <a:cubicBezTo>
                    <a:pt x="286" y="1358"/>
                    <a:pt x="381" y="1287"/>
                    <a:pt x="381" y="1215"/>
                  </a:cubicBezTo>
                  <a:lnTo>
                    <a:pt x="572" y="215"/>
                  </a:lnTo>
                  <a:cubicBezTo>
                    <a:pt x="596" y="120"/>
                    <a:pt x="548" y="25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6"/>
            <p:cNvSpPr/>
            <p:nvPr/>
          </p:nvSpPr>
          <p:spPr>
            <a:xfrm>
              <a:off x="7072844" y="2855596"/>
              <a:ext cx="20474" cy="45998"/>
            </a:xfrm>
            <a:custGeom>
              <a:avLst/>
              <a:gdLst/>
              <a:ahLst/>
              <a:cxnLst/>
              <a:rect l="l" t="t" r="r" b="b"/>
              <a:pathLst>
                <a:path w="596" h="1339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24"/>
                  </a:lnTo>
                  <a:cubicBezTo>
                    <a:pt x="0" y="1219"/>
                    <a:pt x="72" y="1315"/>
                    <a:pt x="167" y="1338"/>
                  </a:cubicBezTo>
                  <a:lnTo>
                    <a:pt x="191" y="1338"/>
                  </a:lnTo>
                  <a:cubicBezTo>
                    <a:pt x="286" y="1338"/>
                    <a:pt x="357" y="1291"/>
                    <a:pt x="381" y="1196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6"/>
            <p:cNvSpPr/>
            <p:nvPr/>
          </p:nvSpPr>
          <p:spPr>
            <a:xfrm>
              <a:off x="7094932" y="2859684"/>
              <a:ext cx="20474" cy="46822"/>
            </a:xfrm>
            <a:custGeom>
              <a:avLst/>
              <a:gdLst/>
              <a:ahLst/>
              <a:cxnLst/>
              <a:rect l="l" t="t" r="r" b="b"/>
              <a:pathLst>
                <a:path w="596" h="1363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48"/>
                  </a:lnTo>
                  <a:cubicBezTo>
                    <a:pt x="0" y="1243"/>
                    <a:pt x="72" y="1338"/>
                    <a:pt x="167" y="1362"/>
                  </a:cubicBezTo>
                  <a:lnTo>
                    <a:pt x="214" y="1362"/>
                  </a:lnTo>
                  <a:cubicBezTo>
                    <a:pt x="286" y="1362"/>
                    <a:pt x="381" y="1291"/>
                    <a:pt x="381" y="1219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6"/>
            <p:cNvSpPr/>
            <p:nvPr/>
          </p:nvSpPr>
          <p:spPr>
            <a:xfrm>
              <a:off x="7049106" y="2958653"/>
              <a:ext cx="34387" cy="117176"/>
            </a:xfrm>
            <a:custGeom>
              <a:avLst/>
              <a:gdLst/>
              <a:ahLst/>
              <a:cxnLst/>
              <a:rect l="l" t="t" r="r" b="b"/>
              <a:pathLst>
                <a:path w="1001" h="3411" extrusionOk="0">
                  <a:moveTo>
                    <a:pt x="797" y="1"/>
                  </a:moveTo>
                  <a:cubicBezTo>
                    <a:pt x="715" y="1"/>
                    <a:pt x="640" y="66"/>
                    <a:pt x="620" y="148"/>
                  </a:cubicBezTo>
                  <a:lnTo>
                    <a:pt x="24" y="3197"/>
                  </a:lnTo>
                  <a:cubicBezTo>
                    <a:pt x="1" y="3292"/>
                    <a:pt x="72" y="3387"/>
                    <a:pt x="167" y="3411"/>
                  </a:cubicBezTo>
                  <a:lnTo>
                    <a:pt x="215" y="3411"/>
                  </a:lnTo>
                  <a:cubicBezTo>
                    <a:pt x="286" y="3411"/>
                    <a:pt x="358" y="3363"/>
                    <a:pt x="382" y="3268"/>
                  </a:cubicBezTo>
                  <a:lnTo>
                    <a:pt x="977" y="220"/>
                  </a:lnTo>
                  <a:cubicBezTo>
                    <a:pt x="1001" y="124"/>
                    <a:pt x="929" y="29"/>
                    <a:pt x="834" y="5"/>
                  </a:cubicBezTo>
                  <a:cubicBezTo>
                    <a:pt x="822" y="2"/>
                    <a:pt x="809" y="1"/>
                    <a:pt x="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6"/>
            <p:cNvSpPr/>
            <p:nvPr/>
          </p:nvSpPr>
          <p:spPr>
            <a:xfrm>
              <a:off x="6818395" y="2871295"/>
              <a:ext cx="137479" cy="137479"/>
            </a:xfrm>
            <a:custGeom>
              <a:avLst/>
              <a:gdLst/>
              <a:ahLst/>
              <a:cxnLst/>
              <a:rect l="l" t="t" r="r" b="b"/>
              <a:pathLst>
                <a:path w="4002" h="4002" extrusionOk="0">
                  <a:moveTo>
                    <a:pt x="2001" y="357"/>
                  </a:moveTo>
                  <a:cubicBezTo>
                    <a:pt x="2049" y="357"/>
                    <a:pt x="2168" y="477"/>
                    <a:pt x="2287" y="762"/>
                  </a:cubicBezTo>
                  <a:cubicBezTo>
                    <a:pt x="2335" y="929"/>
                    <a:pt x="2382" y="1096"/>
                    <a:pt x="2406" y="1310"/>
                  </a:cubicBezTo>
                  <a:cubicBezTo>
                    <a:pt x="2263" y="1286"/>
                    <a:pt x="2144" y="1286"/>
                    <a:pt x="2001" y="1286"/>
                  </a:cubicBezTo>
                  <a:cubicBezTo>
                    <a:pt x="1858" y="1286"/>
                    <a:pt x="1715" y="1286"/>
                    <a:pt x="1573" y="1310"/>
                  </a:cubicBezTo>
                  <a:cubicBezTo>
                    <a:pt x="1620" y="1096"/>
                    <a:pt x="1668" y="929"/>
                    <a:pt x="1715" y="762"/>
                  </a:cubicBezTo>
                  <a:cubicBezTo>
                    <a:pt x="1811" y="477"/>
                    <a:pt x="1930" y="357"/>
                    <a:pt x="2001" y="357"/>
                  </a:cubicBezTo>
                  <a:close/>
                  <a:moveTo>
                    <a:pt x="1454" y="453"/>
                  </a:moveTo>
                  <a:lnTo>
                    <a:pt x="1454" y="453"/>
                  </a:lnTo>
                  <a:cubicBezTo>
                    <a:pt x="1334" y="691"/>
                    <a:pt x="1263" y="1000"/>
                    <a:pt x="1215" y="1334"/>
                  </a:cubicBezTo>
                  <a:cubicBezTo>
                    <a:pt x="1001" y="1358"/>
                    <a:pt x="811" y="1405"/>
                    <a:pt x="668" y="1453"/>
                  </a:cubicBezTo>
                  <a:cubicBezTo>
                    <a:pt x="572" y="1477"/>
                    <a:pt x="501" y="1501"/>
                    <a:pt x="430" y="1524"/>
                  </a:cubicBezTo>
                  <a:cubicBezTo>
                    <a:pt x="572" y="1024"/>
                    <a:pt x="953" y="619"/>
                    <a:pt x="1454" y="453"/>
                  </a:cubicBezTo>
                  <a:close/>
                  <a:moveTo>
                    <a:pt x="2549" y="453"/>
                  </a:moveTo>
                  <a:cubicBezTo>
                    <a:pt x="3025" y="619"/>
                    <a:pt x="3406" y="1024"/>
                    <a:pt x="3573" y="1524"/>
                  </a:cubicBezTo>
                  <a:cubicBezTo>
                    <a:pt x="3502" y="1501"/>
                    <a:pt x="3406" y="1477"/>
                    <a:pt x="3335" y="1453"/>
                  </a:cubicBezTo>
                  <a:cubicBezTo>
                    <a:pt x="3168" y="1405"/>
                    <a:pt x="2978" y="1358"/>
                    <a:pt x="2787" y="1334"/>
                  </a:cubicBezTo>
                  <a:cubicBezTo>
                    <a:pt x="2740" y="1000"/>
                    <a:pt x="2668" y="691"/>
                    <a:pt x="2549" y="453"/>
                  </a:cubicBezTo>
                  <a:close/>
                  <a:moveTo>
                    <a:pt x="1168" y="1715"/>
                  </a:moveTo>
                  <a:cubicBezTo>
                    <a:pt x="1168" y="1810"/>
                    <a:pt x="1168" y="1905"/>
                    <a:pt x="1168" y="2001"/>
                  </a:cubicBezTo>
                  <a:cubicBezTo>
                    <a:pt x="1168" y="2096"/>
                    <a:pt x="1168" y="2191"/>
                    <a:pt x="1168" y="2263"/>
                  </a:cubicBezTo>
                  <a:cubicBezTo>
                    <a:pt x="1049" y="2263"/>
                    <a:pt x="930" y="2239"/>
                    <a:pt x="834" y="2191"/>
                  </a:cubicBezTo>
                  <a:cubicBezTo>
                    <a:pt x="501" y="2120"/>
                    <a:pt x="382" y="2025"/>
                    <a:pt x="358" y="2001"/>
                  </a:cubicBezTo>
                  <a:cubicBezTo>
                    <a:pt x="382" y="1953"/>
                    <a:pt x="501" y="1858"/>
                    <a:pt x="834" y="1786"/>
                  </a:cubicBezTo>
                  <a:cubicBezTo>
                    <a:pt x="930" y="1763"/>
                    <a:pt x="1049" y="1739"/>
                    <a:pt x="1168" y="1715"/>
                  </a:cubicBezTo>
                  <a:close/>
                  <a:moveTo>
                    <a:pt x="2811" y="1715"/>
                  </a:moveTo>
                  <a:lnTo>
                    <a:pt x="2811" y="1715"/>
                  </a:lnTo>
                  <a:cubicBezTo>
                    <a:pt x="2930" y="1739"/>
                    <a:pt x="3049" y="1763"/>
                    <a:pt x="3168" y="1786"/>
                  </a:cubicBezTo>
                  <a:cubicBezTo>
                    <a:pt x="3478" y="1858"/>
                    <a:pt x="3597" y="1953"/>
                    <a:pt x="3621" y="2001"/>
                  </a:cubicBezTo>
                  <a:cubicBezTo>
                    <a:pt x="3597" y="2025"/>
                    <a:pt x="3478" y="2120"/>
                    <a:pt x="3168" y="2191"/>
                  </a:cubicBezTo>
                  <a:cubicBezTo>
                    <a:pt x="3049" y="2239"/>
                    <a:pt x="2930" y="2263"/>
                    <a:pt x="2811" y="2263"/>
                  </a:cubicBezTo>
                  <a:cubicBezTo>
                    <a:pt x="2811" y="2191"/>
                    <a:pt x="2835" y="2096"/>
                    <a:pt x="2835" y="2001"/>
                  </a:cubicBezTo>
                  <a:cubicBezTo>
                    <a:pt x="2835" y="1905"/>
                    <a:pt x="2811" y="1810"/>
                    <a:pt x="2811" y="1715"/>
                  </a:cubicBezTo>
                  <a:close/>
                  <a:moveTo>
                    <a:pt x="2001" y="1643"/>
                  </a:moveTo>
                  <a:cubicBezTo>
                    <a:pt x="2144" y="1643"/>
                    <a:pt x="2311" y="1667"/>
                    <a:pt x="2454" y="1667"/>
                  </a:cubicBezTo>
                  <a:cubicBezTo>
                    <a:pt x="2454" y="1786"/>
                    <a:pt x="2454" y="1882"/>
                    <a:pt x="2454" y="2001"/>
                  </a:cubicBezTo>
                  <a:cubicBezTo>
                    <a:pt x="2454" y="2096"/>
                    <a:pt x="2454" y="2215"/>
                    <a:pt x="2454" y="2310"/>
                  </a:cubicBezTo>
                  <a:cubicBezTo>
                    <a:pt x="2311" y="2334"/>
                    <a:pt x="2144" y="2334"/>
                    <a:pt x="2001" y="2334"/>
                  </a:cubicBezTo>
                  <a:cubicBezTo>
                    <a:pt x="1835" y="2334"/>
                    <a:pt x="1692" y="2334"/>
                    <a:pt x="1549" y="2310"/>
                  </a:cubicBezTo>
                  <a:cubicBezTo>
                    <a:pt x="1549" y="2215"/>
                    <a:pt x="1525" y="2096"/>
                    <a:pt x="1525" y="2001"/>
                  </a:cubicBezTo>
                  <a:cubicBezTo>
                    <a:pt x="1525" y="1882"/>
                    <a:pt x="1549" y="1786"/>
                    <a:pt x="1549" y="1667"/>
                  </a:cubicBezTo>
                  <a:cubicBezTo>
                    <a:pt x="1692" y="1667"/>
                    <a:pt x="1835" y="1643"/>
                    <a:pt x="2001" y="1643"/>
                  </a:cubicBezTo>
                  <a:close/>
                  <a:moveTo>
                    <a:pt x="430" y="2453"/>
                  </a:moveTo>
                  <a:lnTo>
                    <a:pt x="430" y="2453"/>
                  </a:lnTo>
                  <a:cubicBezTo>
                    <a:pt x="501" y="2477"/>
                    <a:pt x="572" y="2525"/>
                    <a:pt x="668" y="2548"/>
                  </a:cubicBezTo>
                  <a:cubicBezTo>
                    <a:pt x="834" y="2572"/>
                    <a:pt x="1001" y="2620"/>
                    <a:pt x="1215" y="2644"/>
                  </a:cubicBezTo>
                  <a:cubicBezTo>
                    <a:pt x="1263" y="2977"/>
                    <a:pt x="1334" y="3287"/>
                    <a:pt x="1454" y="3525"/>
                  </a:cubicBezTo>
                  <a:cubicBezTo>
                    <a:pt x="953" y="3358"/>
                    <a:pt x="572" y="2953"/>
                    <a:pt x="430" y="2453"/>
                  </a:cubicBezTo>
                  <a:close/>
                  <a:moveTo>
                    <a:pt x="3573" y="2453"/>
                  </a:moveTo>
                  <a:cubicBezTo>
                    <a:pt x="3406" y="2953"/>
                    <a:pt x="3025" y="3358"/>
                    <a:pt x="2549" y="3525"/>
                  </a:cubicBezTo>
                  <a:cubicBezTo>
                    <a:pt x="2668" y="3287"/>
                    <a:pt x="2740" y="2977"/>
                    <a:pt x="2787" y="2644"/>
                  </a:cubicBezTo>
                  <a:cubicBezTo>
                    <a:pt x="2978" y="2620"/>
                    <a:pt x="3168" y="2572"/>
                    <a:pt x="3335" y="2548"/>
                  </a:cubicBezTo>
                  <a:cubicBezTo>
                    <a:pt x="3406" y="2501"/>
                    <a:pt x="3502" y="2477"/>
                    <a:pt x="3573" y="2453"/>
                  </a:cubicBezTo>
                  <a:close/>
                  <a:moveTo>
                    <a:pt x="2406" y="2691"/>
                  </a:moveTo>
                  <a:cubicBezTo>
                    <a:pt x="2382" y="2882"/>
                    <a:pt x="2335" y="3072"/>
                    <a:pt x="2287" y="3215"/>
                  </a:cubicBezTo>
                  <a:cubicBezTo>
                    <a:pt x="2168" y="3525"/>
                    <a:pt x="2049" y="3620"/>
                    <a:pt x="2001" y="3620"/>
                  </a:cubicBezTo>
                  <a:cubicBezTo>
                    <a:pt x="1930" y="3620"/>
                    <a:pt x="1811" y="3525"/>
                    <a:pt x="1715" y="3215"/>
                  </a:cubicBezTo>
                  <a:cubicBezTo>
                    <a:pt x="1668" y="3072"/>
                    <a:pt x="1620" y="2882"/>
                    <a:pt x="1573" y="2691"/>
                  </a:cubicBezTo>
                  <a:close/>
                  <a:moveTo>
                    <a:pt x="2001" y="0"/>
                  </a:moveTo>
                  <a:cubicBezTo>
                    <a:pt x="882" y="0"/>
                    <a:pt x="1" y="881"/>
                    <a:pt x="1" y="2001"/>
                  </a:cubicBezTo>
                  <a:cubicBezTo>
                    <a:pt x="1" y="3096"/>
                    <a:pt x="882" y="4001"/>
                    <a:pt x="2001" y="4001"/>
                  </a:cubicBezTo>
                  <a:cubicBezTo>
                    <a:pt x="3097" y="4001"/>
                    <a:pt x="4002" y="3096"/>
                    <a:pt x="4002" y="2001"/>
                  </a:cubicBezTo>
                  <a:cubicBezTo>
                    <a:pt x="4002" y="881"/>
                    <a:pt x="3097" y="0"/>
                    <a:pt x="2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6"/>
            <p:cNvSpPr/>
            <p:nvPr/>
          </p:nvSpPr>
          <p:spPr>
            <a:xfrm>
              <a:off x="6820044" y="3018530"/>
              <a:ext cx="133391" cy="48403"/>
            </a:xfrm>
            <a:custGeom>
              <a:avLst/>
              <a:gdLst/>
              <a:ahLst/>
              <a:cxnLst/>
              <a:rect l="l" t="t" r="r" b="b"/>
              <a:pathLst>
                <a:path w="3883" h="1409" extrusionOk="0">
                  <a:moveTo>
                    <a:pt x="3525" y="382"/>
                  </a:moveTo>
                  <a:lnTo>
                    <a:pt x="3525" y="1049"/>
                  </a:lnTo>
                  <a:lnTo>
                    <a:pt x="382" y="1049"/>
                  </a:lnTo>
                  <a:lnTo>
                    <a:pt x="382" y="382"/>
                  </a:lnTo>
                  <a:close/>
                  <a:moveTo>
                    <a:pt x="382" y="1"/>
                  </a:moveTo>
                  <a:cubicBezTo>
                    <a:pt x="167" y="1"/>
                    <a:pt x="0" y="168"/>
                    <a:pt x="0" y="382"/>
                  </a:cubicBezTo>
                  <a:lnTo>
                    <a:pt x="0" y="1049"/>
                  </a:lnTo>
                  <a:cubicBezTo>
                    <a:pt x="0" y="1263"/>
                    <a:pt x="167" y="1406"/>
                    <a:pt x="382" y="1406"/>
                  </a:cubicBezTo>
                  <a:lnTo>
                    <a:pt x="3525" y="1406"/>
                  </a:lnTo>
                  <a:cubicBezTo>
                    <a:pt x="3537" y="1407"/>
                    <a:pt x="3549" y="1408"/>
                    <a:pt x="3561" y="1408"/>
                  </a:cubicBezTo>
                  <a:cubicBezTo>
                    <a:pt x="3736" y="1408"/>
                    <a:pt x="3882" y="1249"/>
                    <a:pt x="3882" y="1049"/>
                  </a:cubicBezTo>
                  <a:lnTo>
                    <a:pt x="3882" y="382"/>
                  </a:lnTo>
                  <a:cubicBezTo>
                    <a:pt x="3882" y="168"/>
                    <a:pt x="3716" y="1"/>
                    <a:pt x="35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6"/>
            <p:cNvSpPr/>
            <p:nvPr/>
          </p:nvSpPr>
          <p:spPr>
            <a:xfrm>
              <a:off x="6836395" y="3081532"/>
              <a:ext cx="101477" cy="12298"/>
            </a:xfrm>
            <a:custGeom>
              <a:avLst/>
              <a:gdLst/>
              <a:ahLst/>
              <a:cxnLst/>
              <a:rect l="l" t="t" r="r" b="b"/>
              <a:pathLst>
                <a:path w="2954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2763" y="358"/>
                  </a:lnTo>
                  <a:cubicBezTo>
                    <a:pt x="2859" y="358"/>
                    <a:pt x="2954" y="286"/>
                    <a:pt x="2954" y="191"/>
                  </a:cubicBezTo>
                  <a:cubicBezTo>
                    <a:pt x="2954" y="72"/>
                    <a:pt x="2859" y="1"/>
                    <a:pt x="2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6"/>
            <p:cNvSpPr/>
            <p:nvPr/>
          </p:nvSpPr>
          <p:spPr>
            <a:xfrm>
              <a:off x="6861782" y="3108533"/>
              <a:ext cx="50739" cy="12298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91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62"/>
                    <a:pt x="71" y="358"/>
                    <a:pt x="191" y="358"/>
                  </a:cubicBezTo>
                  <a:lnTo>
                    <a:pt x="1286" y="358"/>
                  </a:lnTo>
                  <a:cubicBezTo>
                    <a:pt x="1381" y="358"/>
                    <a:pt x="1477" y="262"/>
                    <a:pt x="1477" y="167"/>
                  </a:cubicBezTo>
                  <a:cubicBezTo>
                    <a:pt x="1477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6"/>
            <p:cNvSpPr/>
            <p:nvPr/>
          </p:nvSpPr>
          <p:spPr>
            <a:xfrm>
              <a:off x="6761953" y="2720487"/>
              <a:ext cx="404982" cy="428994"/>
            </a:xfrm>
            <a:custGeom>
              <a:avLst/>
              <a:gdLst/>
              <a:ahLst/>
              <a:cxnLst/>
              <a:rect l="l" t="t" r="r" b="b"/>
              <a:pathLst>
                <a:path w="11789" h="12488" extrusionOk="0">
                  <a:moveTo>
                    <a:pt x="6818" y="0"/>
                  </a:moveTo>
                  <a:cubicBezTo>
                    <a:pt x="6588" y="0"/>
                    <a:pt x="6375" y="160"/>
                    <a:pt x="6311" y="413"/>
                  </a:cubicBezTo>
                  <a:lnTo>
                    <a:pt x="5716" y="3438"/>
                  </a:lnTo>
                  <a:lnTo>
                    <a:pt x="834" y="3438"/>
                  </a:lnTo>
                  <a:cubicBezTo>
                    <a:pt x="382" y="3438"/>
                    <a:pt x="1" y="3819"/>
                    <a:pt x="1" y="4271"/>
                  </a:cubicBezTo>
                  <a:lnTo>
                    <a:pt x="1" y="10320"/>
                  </a:lnTo>
                  <a:cubicBezTo>
                    <a:pt x="1" y="10415"/>
                    <a:pt x="72" y="10511"/>
                    <a:pt x="191" y="10511"/>
                  </a:cubicBezTo>
                  <a:cubicBezTo>
                    <a:pt x="286" y="10511"/>
                    <a:pt x="358" y="10415"/>
                    <a:pt x="358" y="10320"/>
                  </a:cubicBezTo>
                  <a:lnTo>
                    <a:pt x="358" y="4271"/>
                  </a:lnTo>
                  <a:cubicBezTo>
                    <a:pt x="358" y="4009"/>
                    <a:pt x="572" y="3819"/>
                    <a:pt x="834" y="3819"/>
                  </a:cubicBezTo>
                  <a:lnTo>
                    <a:pt x="6907" y="3819"/>
                  </a:lnTo>
                  <a:lnTo>
                    <a:pt x="6907" y="12130"/>
                  </a:lnTo>
                  <a:lnTo>
                    <a:pt x="834" y="12130"/>
                  </a:lnTo>
                  <a:cubicBezTo>
                    <a:pt x="572" y="12130"/>
                    <a:pt x="358" y="11916"/>
                    <a:pt x="358" y="11677"/>
                  </a:cubicBezTo>
                  <a:lnTo>
                    <a:pt x="358" y="11058"/>
                  </a:lnTo>
                  <a:cubicBezTo>
                    <a:pt x="358" y="10963"/>
                    <a:pt x="286" y="10868"/>
                    <a:pt x="191" y="10868"/>
                  </a:cubicBezTo>
                  <a:cubicBezTo>
                    <a:pt x="72" y="10868"/>
                    <a:pt x="1" y="10963"/>
                    <a:pt x="1" y="11058"/>
                  </a:cubicBezTo>
                  <a:lnTo>
                    <a:pt x="1" y="11677"/>
                  </a:lnTo>
                  <a:cubicBezTo>
                    <a:pt x="1" y="12130"/>
                    <a:pt x="382" y="12487"/>
                    <a:pt x="834" y="12487"/>
                  </a:cubicBezTo>
                  <a:lnTo>
                    <a:pt x="7097" y="12487"/>
                  </a:lnTo>
                  <a:cubicBezTo>
                    <a:pt x="7193" y="12487"/>
                    <a:pt x="7288" y="12416"/>
                    <a:pt x="7288" y="12320"/>
                  </a:cubicBezTo>
                  <a:lnTo>
                    <a:pt x="7288" y="12130"/>
                  </a:lnTo>
                  <a:lnTo>
                    <a:pt x="9074" y="12487"/>
                  </a:lnTo>
                  <a:lnTo>
                    <a:pt x="9169" y="12487"/>
                  </a:lnTo>
                  <a:cubicBezTo>
                    <a:pt x="9407" y="12487"/>
                    <a:pt x="9622" y="12320"/>
                    <a:pt x="9669" y="12082"/>
                  </a:cubicBezTo>
                  <a:lnTo>
                    <a:pt x="11741" y="1461"/>
                  </a:lnTo>
                  <a:cubicBezTo>
                    <a:pt x="11789" y="1199"/>
                    <a:pt x="11598" y="913"/>
                    <a:pt x="11336" y="866"/>
                  </a:cubicBezTo>
                  <a:lnTo>
                    <a:pt x="10836" y="770"/>
                  </a:lnTo>
                  <a:cubicBezTo>
                    <a:pt x="10824" y="767"/>
                    <a:pt x="10811" y="766"/>
                    <a:pt x="10799" y="766"/>
                  </a:cubicBezTo>
                  <a:cubicBezTo>
                    <a:pt x="10717" y="766"/>
                    <a:pt x="10643" y="831"/>
                    <a:pt x="10622" y="913"/>
                  </a:cubicBezTo>
                  <a:cubicBezTo>
                    <a:pt x="10598" y="1009"/>
                    <a:pt x="10670" y="1104"/>
                    <a:pt x="10765" y="1128"/>
                  </a:cubicBezTo>
                  <a:lnTo>
                    <a:pt x="11265" y="1223"/>
                  </a:lnTo>
                  <a:cubicBezTo>
                    <a:pt x="11336" y="1247"/>
                    <a:pt x="11384" y="1318"/>
                    <a:pt x="11384" y="1390"/>
                  </a:cubicBezTo>
                  <a:lnTo>
                    <a:pt x="9312" y="12011"/>
                  </a:lnTo>
                  <a:cubicBezTo>
                    <a:pt x="9293" y="12070"/>
                    <a:pt x="9241" y="12112"/>
                    <a:pt x="9183" y="12112"/>
                  </a:cubicBezTo>
                  <a:cubicBezTo>
                    <a:pt x="9171" y="12112"/>
                    <a:pt x="9158" y="12110"/>
                    <a:pt x="9145" y="12106"/>
                  </a:cubicBezTo>
                  <a:lnTo>
                    <a:pt x="7288" y="11749"/>
                  </a:lnTo>
                  <a:lnTo>
                    <a:pt x="7288" y="11130"/>
                  </a:lnTo>
                  <a:lnTo>
                    <a:pt x="7717" y="11225"/>
                  </a:lnTo>
                  <a:cubicBezTo>
                    <a:pt x="7764" y="11225"/>
                    <a:pt x="7812" y="11225"/>
                    <a:pt x="7859" y="11177"/>
                  </a:cubicBezTo>
                  <a:cubicBezTo>
                    <a:pt x="7883" y="11154"/>
                    <a:pt x="7907" y="11106"/>
                    <a:pt x="7931" y="11058"/>
                  </a:cubicBezTo>
                  <a:lnTo>
                    <a:pt x="8645" y="7319"/>
                  </a:lnTo>
                  <a:cubicBezTo>
                    <a:pt x="8669" y="7224"/>
                    <a:pt x="8622" y="7129"/>
                    <a:pt x="8502" y="7105"/>
                  </a:cubicBezTo>
                  <a:cubicBezTo>
                    <a:pt x="8490" y="7102"/>
                    <a:pt x="8477" y="7101"/>
                    <a:pt x="8465" y="7101"/>
                  </a:cubicBezTo>
                  <a:cubicBezTo>
                    <a:pt x="8383" y="7101"/>
                    <a:pt x="8309" y="7165"/>
                    <a:pt x="8288" y="7248"/>
                  </a:cubicBezTo>
                  <a:lnTo>
                    <a:pt x="7597" y="10820"/>
                  </a:lnTo>
                  <a:lnTo>
                    <a:pt x="7288" y="10749"/>
                  </a:lnTo>
                  <a:lnTo>
                    <a:pt x="7288" y="5914"/>
                  </a:lnTo>
                  <a:lnTo>
                    <a:pt x="8502" y="6153"/>
                  </a:lnTo>
                  <a:lnTo>
                    <a:pt x="8431" y="6534"/>
                  </a:lnTo>
                  <a:cubicBezTo>
                    <a:pt x="8407" y="6629"/>
                    <a:pt x="8479" y="6724"/>
                    <a:pt x="8574" y="6748"/>
                  </a:cubicBezTo>
                  <a:lnTo>
                    <a:pt x="8622" y="6748"/>
                  </a:lnTo>
                  <a:cubicBezTo>
                    <a:pt x="8693" y="6748"/>
                    <a:pt x="8788" y="6700"/>
                    <a:pt x="8788" y="6605"/>
                  </a:cubicBezTo>
                  <a:lnTo>
                    <a:pt x="8907" y="6057"/>
                  </a:lnTo>
                  <a:cubicBezTo>
                    <a:pt x="8931" y="5938"/>
                    <a:pt x="8860" y="5843"/>
                    <a:pt x="8764" y="5843"/>
                  </a:cubicBezTo>
                  <a:lnTo>
                    <a:pt x="7288" y="5557"/>
                  </a:lnTo>
                  <a:lnTo>
                    <a:pt x="7288" y="3628"/>
                  </a:lnTo>
                  <a:cubicBezTo>
                    <a:pt x="7288" y="3533"/>
                    <a:pt x="7193" y="3438"/>
                    <a:pt x="7097" y="3438"/>
                  </a:cubicBezTo>
                  <a:lnTo>
                    <a:pt x="6097" y="3438"/>
                  </a:lnTo>
                  <a:lnTo>
                    <a:pt x="6669" y="485"/>
                  </a:lnTo>
                  <a:cubicBezTo>
                    <a:pt x="6688" y="406"/>
                    <a:pt x="6741" y="360"/>
                    <a:pt x="6799" y="360"/>
                  </a:cubicBezTo>
                  <a:cubicBezTo>
                    <a:pt x="6811" y="360"/>
                    <a:pt x="6823" y="362"/>
                    <a:pt x="6835" y="366"/>
                  </a:cubicBezTo>
                  <a:lnTo>
                    <a:pt x="10050" y="985"/>
                  </a:lnTo>
                  <a:cubicBezTo>
                    <a:pt x="10063" y="988"/>
                    <a:pt x="10075" y="989"/>
                    <a:pt x="10088" y="989"/>
                  </a:cubicBezTo>
                  <a:cubicBezTo>
                    <a:pt x="10169" y="989"/>
                    <a:pt x="10244" y="925"/>
                    <a:pt x="10265" y="842"/>
                  </a:cubicBezTo>
                  <a:cubicBezTo>
                    <a:pt x="10289" y="747"/>
                    <a:pt x="10217" y="651"/>
                    <a:pt x="10122" y="628"/>
                  </a:cubicBezTo>
                  <a:lnTo>
                    <a:pt x="6907" y="8"/>
                  </a:lnTo>
                  <a:cubicBezTo>
                    <a:pt x="6877" y="3"/>
                    <a:pt x="6847" y="0"/>
                    <a:pt x="68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1514;p74">
            <a:extLst>
              <a:ext uri="{FF2B5EF4-FFF2-40B4-BE49-F238E27FC236}">
                <a16:creationId xmlns:a16="http://schemas.microsoft.com/office/drawing/2014/main" id="{63A07B2A-0BBD-117B-75AC-04E381576495}"/>
              </a:ext>
            </a:extLst>
          </p:cNvPr>
          <p:cNvGrpSpPr/>
          <p:nvPr/>
        </p:nvGrpSpPr>
        <p:grpSpPr>
          <a:xfrm>
            <a:off x="973462" y="2963652"/>
            <a:ext cx="198008" cy="429956"/>
            <a:chOff x="5504549" y="2720316"/>
            <a:chExt cx="198008" cy="429956"/>
          </a:xfrm>
          <a:solidFill>
            <a:schemeClr val="bg1"/>
          </a:solidFill>
        </p:grpSpPr>
        <p:sp>
          <p:nvSpPr>
            <p:cNvPr id="40" name="Google Shape;1515;p74">
              <a:extLst>
                <a:ext uri="{FF2B5EF4-FFF2-40B4-BE49-F238E27FC236}">
                  <a16:creationId xmlns:a16="http://schemas.microsoft.com/office/drawing/2014/main" id="{0B5886EA-1B28-6B5B-704F-4B0E9033BD91}"/>
                </a:ext>
              </a:extLst>
            </p:cNvPr>
            <p:cNvSpPr/>
            <p:nvPr/>
          </p:nvSpPr>
          <p:spPr>
            <a:xfrm>
              <a:off x="5504549" y="2720316"/>
              <a:ext cx="198008" cy="429956"/>
            </a:xfrm>
            <a:custGeom>
              <a:avLst/>
              <a:gdLst/>
              <a:ahLst/>
              <a:cxnLst/>
              <a:rect l="l" t="t" r="r" b="b"/>
              <a:pathLst>
                <a:path w="5764" h="12516" extrusionOk="0">
                  <a:moveTo>
                    <a:pt x="3417" y="367"/>
                  </a:moveTo>
                  <a:cubicBezTo>
                    <a:pt x="3458" y="367"/>
                    <a:pt x="3488" y="381"/>
                    <a:pt x="3502" y="394"/>
                  </a:cubicBezTo>
                  <a:cubicBezTo>
                    <a:pt x="3549" y="418"/>
                    <a:pt x="3621" y="466"/>
                    <a:pt x="3621" y="585"/>
                  </a:cubicBezTo>
                  <a:lnTo>
                    <a:pt x="3621" y="1014"/>
                  </a:lnTo>
                  <a:cubicBezTo>
                    <a:pt x="3621" y="1061"/>
                    <a:pt x="3573" y="1109"/>
                    <a:pt x="3525" y="1133"/>
                  </a:cubicBezTo>
                  <a:lnTo>
                    <a:pt x="2906" y="1276"/>
                  </a:lnTo>
                  <a:cubicBezTo>
                    <a:pt x="2894" y="1288"/>
                    <a:pt x="2888" y="1293"/>
                    <a:pt x="2882" y="1293"/>
                  </a:cubicBezTo>
                  <a:cubicBezTo>
                    <a:pt x="2876" y="1293"/>
                    <a:pt x="2870" y="1288"/>
                    <a:pt x="2859" y="1276"/>
                  </a:cubicBezTo>
                  <a:lnTo>
                    <a:pt x="2239" y="1133"/>
                  </a:lnTo>
                  <a:cubicBezTo>
                    <a:pt x="2192" y="1109"/>
                    <a:pt x="2144" y="1061"/>
                    <a:pt x="2144" y="1014"/>
                  </a:cubicBezTo>
                  <a:lnTo>
                    <a:pt x="2144" y="585"/>
                  </a:lnTo>
                  <a:cubicBezTo>
                    <a:pt x="2144" y="466"/>
                    <a:pt x="2216" y="418"/>
                    <a:pt x="2263" y="394"/>
                  </a:cubicBezTo>
                  <a:cubicBezTo>
                    <a:pt x="2263" y="394"/>
                    <a:pt x="2311" y="371"/>
                    <a:pt x="2358" y="371"/>
                  </a:cubicBezTo>
                  <a:cubicBezTo>
                    <a:pt x="2382" y="371"/>
                    <a:pt x="2430" y="371"/>
                    <a:pt x="2454" y="394"/>
                  </a:cubicBezTo>
                  <a:lnTo>
                    <a:pt x="2739" y="537"/>
                  </a:lnTo>
                  <a:cubicBezTo>
                    <a:pt x="2787" y="561"/>
                    <a:pt x="2835" y="573"/>
                    <a:pt x="2882" y="573"/>
                  </a:cubicBezTo>
                  <a:cubicBezTo>
                    <a:pt x="2930" y="573"/>
                    <a:pt x="2978" y="561"/>
                    <a:pt x="3025" y="537"/>
                  </a:cubicBezTo>
                  <a:lnTo>
                    <a:pt x="3311" y="394"/>
                  </a:lnTo>
                  <a:cubicBezTo>
                    <a:pt x="3351" y="374"/>
                    <a:pt x="3387" y="367"/>
                    <a:pt x="3417" y="367"/>
                  </a:cubicBezTo>
                  <a:close/>
                  <a:moveTo>
                    <a:pt x="3454" y="6205"/>
                  </a:moveTo>
                  <a:lnTo>
                    <a:pt x="3454" y="6443"/>
                  </a:lnTo>
                  <a:lnTo>
                    <a:pt x="2311" y="6443"/>
                  </a:lnTo>
                  <a:lnTo>
                    <a:pt x="2311" y="6205"/>
                  </a:lnTo>
                  <a:cubicBezTo>
                    <a:pt x="2501" y="6253"/>
                    <a:pt x="2692" y="6300"/>
                    <a:pt x="2882" y="6300"/>
                  </a:cubicBezTo>
                  <a:cubicBezTo>
                    <a:pt x="3073" y="6300"/>
                    <a:pt x="3263" y="6253"/>
                    <a:pt x="3454" y="6205"/>
                  </a:cubicBezTo>
                  <a:close/>
                  <a:moveTo>
                    <a:pt x="3811" y="6801"/>
                  </a:moveTo>
                  <a:cubicBezTo>
                    <a:pt x="3835" y="6801"/>
                    <a:pt x="3835" y="6824"/>
                    <a:pt x="3835" y="6824"/>
                  </a:cubicBezTo>
                  <a:lnTo>
                    <a:pt x="3835" y="7039"/>
                  </a:lnTo>
                  <a:cubicBezTo>
                    <a:pt x="3835" y="7062"/>
                    <a:pt x="3835" y="7062"/>
                    <a:pt x="3811" y="7062"/>
                  </a:cubicBezTo>
                  <a:lnTo>
                    <a:pt x="1954" y="7062"/>
                  </a:lnTo>
                  <a:cubicBezTo>
                    <a:pt x="1930" y="7062"/>
                    <a:pt x="1930" y="7062"/>
                    <a:pt x="1930" y="7039"/>
                  </a:cubicBezTo>
                  <a:lnTo>
                    <a:pt x="1930" y="6824"/>
                  </a:lnTo>
                  <a:cubicBezTo>
                    <a:pt x="1930" y="6824"/>
                    <a:pt x="1930" y="6801"/>
                    <a:pt x="1954" y="6801"/>
                  </a:cubicBezTo>
                  <a:close/>
                  <a:moveTo>
                    <a:pt x="3668" y="7420"/>
                  </a:moveTo>
                  <a:lnTo>
                    <a:pt x="2882" y="8920"/>
                  </a:lnTo>
                  <a:lnTo>
                    <a:pt x="2096" y="7420"/>
                  </a:lnTo>
                  <a:close/>
                  <a:moveTo>
                    <a:pt x="1811" y="7682"/>
                  </a:moveTo>
                  <a:lnTo>
                    <a:pt x="2644" y="9253"/>
                  </a:lnTo>
                  <a:lnTo>
                    <a:pt x="2263" y="9492"/>
                  </a:lnTo>
                  <a:lnTo>
                    <a:pt x="2263" y="9063"/>
                  </a:lnTo>
                  <a:cubicBezTo>
                    <a:pt x="2263" y="8991"/>
                    <a:pt x="2216" y="8944"/>
                    <a:pt x="2168" y="8896"/>
                  </a:cubicBezTo>
                  <a:cubicBezTo>
                    <a:pt x="2144" y="8884"/>
                    <a:pt x="2114" y="8878"/>
                    <a:pt x="2085" y="8878"/>
                  </a:cubicBezTo>
                  <a:cubicBezTo>
                    <a:pt x="2055" y="8878"/>
                    <a:pt x="2025" y="8884"/>
                    <a:pt x="2001" y="8896"/>
                  </a:cubicBezTo>
                  <a:lnTo>
                    <a:pt x="1573" y="9063"/>
                  </a:lnTo>
                  <a:lnTo>
                    <a:pt x="1311" y="7991"/>
                  </a:lnTo>
                  <a:lnTo>
                    <a:pt x="1715" y="7753"/>
                  </a:lnTo>
                  <a:cubicBezTo>
                    <a:pt x="1739" y="7729"/>
                    <a:pt x="1787" y="7705"/>
                    <a:pt x="1811" y="7682"/>
                  </a:cubicBezTo>
                  <a:close/>
                  <a:moveTo>
                    <a:pt x="3954" y="7682"/>
                  </a:moveTo>
                  <a:cubicBezTo>
                    <a:pt x="3978" y="7705"/>
                    <a:pt x="4025" y="7729"/>
                    <a:pt x="4049" y="7753"/>
                  </a:cubicBezTo>
                  <a:lnTo>
                    <a:pt x="4454" y="7991"/>
                  </a:lnTo>
                  <a:lnTo>
                    <a:pt x="4192" y="9063"/>
                  </a:lnTo>
                  <a:lnTo>
                    <a:pt x="3763" y="8896"/>
                  </a:lnTo>
                  <a:cubicBezTo>
                    <a:pt x="3728" y="8884"/>
                    <a:pt x="3698" y="8878"/>
                    <a:pt x="3668" y="8878"/>
                  </a:cubicBezTo>
                  <a:cubicBezTo>
                    <a:pt x="3638" y="8878"/>
                    <a:pt x="3609" y="8884"/>
                    <a:pt x="3573" y="8896"/>
                  </a:cubicBezTo>
                  <a:cubicBezTo>
                    <a:pt x="3525" y="8944"/>
                    <a:pt x="3502" y="8991"/>
                    <a:pt x="3502" y="9063"/>
                  </a:cubicBezTo>
                  <a:lnTo>
                    <a:pt x="3502" y="9492"/>
                  </a:lnTo>
                  <a:lnTo>
                    <a:pt x="3120" y="9253"/>
                  </a:lnTo>
                  <a:lnTo>
                    <a:pt x="3954" y="7682"/>
                  </a:lnTo>
                  <a:close/>
                  <a:moveTo>
                    <a:pt x="4788" y="8206"/>
                  </a:moveTo>
                  <a:cubicBezTo>
                    <a:pt x="5169" y="8468"/>
                    <a:pt x="5383" y="8896"/>
                    <a:pt x="5383" y="9372"/>
                  </a:cubicBezTo>
                  <a:lnTo>
                    <a:pt x="5383" y="11778"/>
                  </a:lnTo>
                  <a:cubicBezTo>
                    <a:pt x="5383" y="11992"/>
                    <a:pt x="5240" y="12135"/>
                    <a:pt x="5049" y="12135"/>
                  </a:cubicBezTo>
                  <a:lnTo>
                    <a:pt x="3073" y="12135"/>
                  </a:lnTo>
                  <a:lnTo>
                    <a:pt x="3073" y="9658"/>
                  </a:lnTo>
                  <a:lnTo>
                    <a:pt x="3597" y="9968"/>
                  </a:lnTo>
                  <a:cubicBezTo>
                    <a:pt x="3621" y="9980"/>
                    <a:pt x="3650" y="9986"/>
                    <a:pt x="3680" y="9986"/>
                  </a:cubicBezTo>
                  <a:cubicBezTo>
                    <a:pt x="3710" y="9986"/>
                    <a:pt x="3740" y="9980"/>
                    <a:pt x="3763" y="9968"/>
                  </a:cubicBezTo>
                  <a:cubicBezTo>
                    <a:pt x="3835" y="9944"/>
                    <a:pt x="3859" y="9873"/>
                    <a:pt x="3859" y="9801"/>
                  </a:cubicBezTo>
                  <a:lnTo>
                    <a:pt x="3859" y="9325"/>
                  </a:lnTo>
                  <a:lnTo>
                    <a:pt x="4240" y="9492"/>
                  </a:lnTo>
                  <a:cubicBezTo>
                    <a:pt x="4264" y="9503"/>
                    <a:pt x="4287" y="9509"/>
                    <a:pt x="4311" y="9509"/>
                  </a:cubicBezTo>
                  <a:cubicBezTo>
                    <a:pt x="4335" y="9509"/>
                    <a:pt x="4359" y="9503"/>
                    <a:pt x="4383" y="9492"/>
                  </a:cubicBezTo>
                  <a:cubicBezTo>
                    <a:pt x="4430" y="9468"/>
                    <a:pt x="4478" y="9420"/>
                    <a:pt x="4478" y="9372"/>
                  </a:cubicBezTo>
                  <a:lnTo>
                    <a:pt x="4788" y="8206"/>
                  </a:lnTo>
                  <a:close/>
                  <a:moveTo>
                    <a:pt x="2386" y="0"/>
                  </a:moveTo>
                  <a:cubicBezTo>
                    <a:pt x="2275" y="0"/>
                    <a:pt x="2166" y="31"/>
                    <a:pt x="2073" y="85"/>
                  </a:cubicBezTo>
                  <a:cubicBezTo>
                    <a:pt x="1882" y="180"/>
                    <a:pt x="1787" y="371"/>
                    <a:pt x="1787" y="585"/>
                  </a:cubicBezTo>
                  <a:lnTo>
                    <a:pt x="1787" y="871"/>
                  </a:lnTo>
                  <a:cubicBezTo>
                    <a:pt x="1596" y="942"/>
                    <a:pt x="1430" y="1037"/>
                    <a:pt x="1263" y="1180"/>
                  </a:cubicBezTo>
                  <a:cubicBezTo>
                    <a:pt x="1192" y="1252"/>
                    <a:pt x="1192" y="1371"/>
                    <a:pt x="1263" y="1442"/>
                  </a:cubicBezTo>
                  <a:cubicBezTo>
                    <a:pt x="1311" y="1466"/>
                    <a:pt x="1358" y="1490"/>
                    <a:pt x="1406" y="1490"/>
                  </a:cubicBezTo>
                  <a:cubicBezTo>
                    <a:pt x="1453" y="1490"/>
                    <a:pt x="1477" y="1466"/>
                    <a:pt x="1525" y="1442"/>
                  </a:cubicBezTo>
                  <a:cubicBezTo>
                    <a:pt x="1620" y="1347"/>
                    <a:pt x="1715" y="1276"/>
                    <a:pt x="1835" y="1228"/>
                  </a:cubicBezTo>
                  <a:cubicBezTo>
                    <a:pt x="1906" y="1347"/>
                    <a:pt x="2001" y="1442"/>
                    <a:pt x="2144" y="1466"/>
                  </a:cubicBezTo>
                  <a:lnTo>
                    <a:pt x="2763" y="1633"/>
                  </a:lnTo>
                  <a:cubicBezTo>
                    <a:pt x="2811" y="1657"/>
                    <a:pt x="2835" y="1657"/>
                    <a:pt x="2882" y="1657"/>
                  </a:cubicBezTo>
                  <a:cubicBezTo>
                    <a:pt x="2930" y="1657"/>
                    <a:pt x="2978" y="1657"/>
                    <a:pt x="3001" y="1633"/>
                  </a:cubicBezTo>
                  <a:lnTo>
                    <a:pt x="3621" y="1466"/>
                  </a:lnTo>
                  <a:cubicBezTo>
                    <a:pt x="3763" y="1442"/>
                    <a:pt x="3859" y="1347"/>
                    <a:pt x="3930" y="1228"/>
                  </a:cubicBezTo>
                  <a:cubicBezTo>
                    <a:pt x="4359" y="1418"/>
                    <a:pt x="4621" y="1871"/>
                    <a:pt x="4549" y="2347"/>
                  </a:cubicBezTo>
                  <a:cubicBezTo>
                    <a:pt x="4526" y="2514"/>
                    <a:pt x="4478" y="2681"/>
                    <a:pt x="4406" y="2824"/>
                  </a:cubicBezTo>
                  <a:cubicBezTo>
                    <a:pt x="4306" y="2829"/>
                    <a:pt x="4209" y="2832"/>
                    <a:pt x="4115" y="2832"/>
                  </a:cubicBezTo>
                  <a:cubicBezTo>
                    <a:pt x="3452" y="2832"/>
                    <a:pt x="2951" y="2684"/>
                    <a:pt x="2597" y="2371"/>
                  </a:cubicBezTo>
                  <a:cubicBezTo>
                    <a:pt x="2525" y="2300"/>
                    <a:pt x="2454" y="2300"/>
                    <a:pt x="2382" y="2300"/>
                  </a:cubicBezTo>
                  <a:cubicBezTo>
                    <a:pt x="2311" y="2300"/>
                    <a:pt x="2239" y="2347"/>
                    <a:pt x="2216" y="2419"/>
                  </a:cubicBezTo>
                  <a:cubicBezTo>
                    <a:pt x="2049" y="2633"/>
                    <a:pt x="1787" y="2776"/>
                    <a:pt x="1358" y="2824"/>
                  </a:cubicBezTo>
                  <a:cubicBezTo>
                    <a:pt x="1287" y="2657"/>
                    <a:pt x="1239" y="2514"/>
                    <a:pt x="1215" y="2371"/>
                  </a:cubicBezTo>
                  <a:cubicBezTo>
                    <a:pt x="1192" y="2252"/>
                    <a:pt x="1192" y="2109"/>
                    <a:pt x="1215" y="1990"/>
                  </a:cubicBezTo>
                  <a:cubicBezTo>
                    <a:pt x="1239" y="1895"/>
                    <a:pt x="1168" y="1800"/>
                    <a:pt x="1072" y="1776"/>
                  </a:cubicBezTo>
                  <a:cubicBezTo>
                    <a:pt x="1060" y="1773"/>
                    <a:pt x="1047" y="1771"/>
                    <a:pt x="1035" y="1771"/>
                  </a:cubicBezTo>
                  <a:cubicBezTo>
                    <a:pt x="953" y="1771"/>
                    <a:pt x="879" y="1836"/>
                    <a:pt x="858" y="1919"/>
                  </a:cubicBezTo>
                  <a:cubicBezTo>
                    <a:pt x="834" y="2085"/>
                    <a:pt x="834" y="2276"/>
                    <a:pt x="858" y="2443"/>
                  </a:cubicBezTo>
                  <a:cubicBezTo>
                    <a:pt x="906" y="2633"/>
                    <a:pt x="953" y="2847"/>
                    <a:pt x="1049" y="3038"/>
                  </a:cubicBezTo>
                  <a:lnTo>
                    <a:pt x="1049" y="4467"/>
                  </a:lnTo>
                  <a:cubicBezTo>
                    <a:pt x="1049" y="5134"/>
                    <a:pt x="1406" y="5705"/>
                    <a:pt x="1954" y="6038"/>
                  </a:cubicBezTo>
                  <a:lnTo>
                    <a:pt x="1954" y="6443"/>
                  </a:lnTo>
                  <a:cubicBezTo>
                    <a:pt x="1739" y="6443"/>
                    <a:pt x="1573" y="6610"/>
                    <a:pt x="1573" y="6824"/>
                  </a:cubicBezTo>
                  <a:lnTo>
                    <a:pt x="1573" y="7062"/>
                  </a:lnTo>
                  <a:cubicBezTo>
                    <a:pt x="1573" y="7158"/>
                    <a:pt x="1620" y="7253"/>
                    <a:pt x="1692" y="7324"/>
                  </a:cubicBezTo>
                  <a:cubicBezTo>
                    <a:pt x="1620" y="7372"/>
                    <a:pt x="1573" y="7420"/>
                    <a:pt x="1525" y="7444"/>
                  </a:cubicBezTo>
                  <a:cubicBezTo>
                    <a:pt x="1430" y="7515"/>
                    <a:pt x="1144" y="7682"/>
                    <a:pt x="858" y="7848"/>
                  </a:cubicBezTo>
                  <a:cubicBezTo>
                    <a:pt x="334" y="8158"/>
                    <a:pt x="1" y="8753"/>
                    <a:pt x="1" y="9372"/>
                  </a:cubicBezTo>
                  <a:lnTo>
                    <a:pt x="1" y="11778"/>
                  </a:lnTo>
                  <a:cubicBezTo>
                    <a:pt x="1" y="12183"/>
                    <a:pt x="334" y="12492"/>
                    <a:pt x="715" y="12492"/>
                  </a:cubicBezTo>
                  <a:lnTo>
                    <a:pt x="1644" y="12492"/>
                  </a:lnTo>
                  <a:cubicBezTo>
                    <a:pt x="1739" y="12492"/>
                    <a:pt x="1811" y="12421"/>
                    <a:pt x="1811" y="12325"/>
                  </a:cubicBezTo>
                  <a:cubicBezTo>
                    <a:pt x="1811" y="12230"/>
                    <a:pt x="1739" y="12135"/>
                    <a:pt x="1644" y="12135"/>
                  </a:cubicBezTo>
                  <a:lnTo>
                    <a:pt x="715" y="12135"/>
                  </a:lnTo>
                  <a:cubicBezTo>
                    <a:pt x="525" y="12135"/>
                    <a:pt x="382" y="11992"/>
                    <a:pt x="382" y="11778"/>
                  </a:cubicBezTo>
                  <a:lnTo>
                    <a:pt x="382" y="9372"/>
                  </a:lnTo>
                  <a:cubicBezTo>
                    <a:pt x="382" y="8896"/>
                    <a:pt x="596" y="8468"/>
                    <a:pt x="977" y="8206"/>
                  </a:cubicBezTo>
                  <a:lnTo>
                    <a:pt x="1263" y="9372"/>
                  </a:lnTo>
                  <a:cubicBezTo>
                    <a:pt x="1287" y="9420"/>
                    <a:pt x="1311" y="9468"/>
                    <a:pt x="1358" y="9492"/>
                  </a:cubicBezTo>
                  <a:cubicBezTo>
                    <a:pt x="1382" y="9503"/>
                    <a:pt x="1412" y="9509"/>
                    <a:pt x="1442" y="9509"/>
                  </a:cubicBezTo>
                  <a:cubicBezTo>
                    <a:pt x="1471" y="9509"/>
                    <a:pt x="1501" y="9503"/>
                    <a:pt x="1525" y="9492"/>
                  </a:cubicBezTo>
                  <a:lnTo>
                    <a:pt x="1882" y="9325"/>
                  </a:lnTo>
                  <a:lnTo>
                    <a:pt x="1882" y="9801"/>
                  </a:lnTo>
                  <a:cubicBezTo>
                    <a:pt x="1882" y="9873"/>
                    <a:pt x="1930" y="9944"/>
                    <a:pt x="1977" y="9968"/>
                  </a:cubicBezTo>
                  <a:cubicBezTo>
                    <a:pt x="2013" y="9980"/>
                    <a:pt x="2049" y="9986"/>
                    <a:pt x="2082" y="9986"/>
                  </a:cubicBezTo>
                  <a:cubicBezTo>
                    <a:pt x="2114" y="9986"/>
                    <a:pt x="2144" y="9980"/>
                    <a:pt x="2168" y="9968"/>
                  </a:cubicBezTo>
                  <a:lnTo>
                    <a:pt x="2692" y="9634"/>
                  </a:lnTo>
                  <a:lnTo>
                    <a:pt x="2692" y="12135"/>
                  </a:lnTo>
                  <a:lnTo>
                    <a:pt x="2358" y="12135"/>
                  </a:lnTo>
                  <a:cubicBezTo>
                    <a:pt x="2263" y="12135"/>
                    <a:pt x="2192" y="12230"/>
                    <a:pt x="2192" y="12325"/>
                  </a:cubicBezTo>
                  <a:cubicBezTo>
                    <a:pt x="2192" y="12421"/>
                    <a:pt x="2263" y="12516"/>
                    <a:pt x="2358" y="12516"/>
                  </a:cubicBezTo>
                  <a:lnTo>
                    <a:pt x="5049" y="12516"/>
                  </a:lnTo>
                  <a:cubicBezTo>
                    <a:pt x="5430" y="12516"/>
                    <a:pt x="5764" y="12183"/>
                    <a:pt x="5764" y="11802"/>
                  </a:cubicBezTo>
                  <a:lnTo>
                    <a:pt x="5764" y="9372"/>
                  </a:lnTo>
                  <a:cubicBezTo>
                    <a:pt x="5764" y="8753"/>
                    <a:pt x="5430" y="8158"/>
                    <a:pt x="4907" y="7848"/>
                  </a:cubicBezTo>
                  <a:cubicBezTo>
                    <a:pt x="4716" y="7729"/>
                    <a:pt x="4478" y="7586"/>
                    <a:pt x="4240" y="7444"/>
                  </a:cubicBezTo>
                  <a:cubicBezTo>
                    <a:pt x="4192" y="7420"/>
                    <a:pt x="4145" y="7372"/>
                    <a:pt x="4073" y="7324"/>
                  </a:cubicBezTo>
                  <a:cubicBezTo>
                    <a:pt x="4145" y="7253"/>
                    <a:pt x="4192" y="7158"/>
                    <a:pt x="4192" y="7062"/>
                  </a:cubicBezTo>
                  <a:lnTo>
                    <a:pt x="4192" y="7039"/>
                  </a:lnTo>
                  <a:lnTo>
                    <a:pt x="4907" y="7158"/>
                  </a:lnTo>
                  <a:lnTo>
                    <a:pt x="4930" y="7158"/>
                  </a:lnTo>
                  <a:cubicBezTo>
                    <a:pt x="5026" y="7158"/>
                    <a:pt x="5097" y="7086"/>
                    <a:pt x="5121" y="6991"/>
                  </a:cubicBezTo>
                  <a:cubicBezTo>
                    <a:pt x="5121" y="6896"/>
                    <a:pt x="5049" y="6801"/>
                    <a:pt x="4954" y="6777"/>
                  </a:cubicBezTo>
                  <a:lnTo>
                    <a:pt x="4478" y="6705"/>
                  </a:lnTo>
                  <a:lnTo>
                    <a:pt x="4502" y="6681"/>
                  </a:lnTo>
                  <a:cubicBezTo>
                    <a:pt x="4573" y="6634"/>
                    <a:pt x="4597" y="6515"/>
                    <a:pt x="4549" y="6420"/>
                  </a:cubicBezTo>
                  <a:cubicBezTo>
                    <a:pt x="4508" y="6378"/>
                    <a:pt x="4450" y="6353"/>
                    <a:pt x="4395" y="6353"/>
                  </a:cubicBezTo>
                  <a:cubicBezTo>
                    <a:pt x="4356" y="6353"/>
                    <a:pt x="4317" y="6366"/>
                    <a:pt x="4287" y="6396"/>
                  </a:cubicBezTo>
                  <a:lnTo>
                    <a:pt x="4073" y="6539"/>
                  </a:lnTo>
                  <a:cubicBezTo>
                    <a:pt x="4002" y="6491"/>
                    <a:pt x="3930" y="6443"/>
                    <a:pt x="3811" y="6443"/>
                  </a:cubicBezTo>
                  <a:lnTo>
                    <a:pt x="3811" y="6038"/>
                  </a:lnTo>
                  <a:cubicBezTo>
                    <a:pt x="4049" y="5896"/>
                    <a:pt x="4264" y="5705"/>
                    <a:pt x="4406" y="5467"/>
                  </a:cubicBezTo>
                  <a:cubicBezTo>
                    <a:pt x="4478" y="5372"/>
                    <a:pt x="4454" y="5253"/>
                    <a:pt x="4359" y="5205"/>
                  </a:cubicBezTo>
                  <a:cubicBezTo>
                    <a:pt x="4334" y="5188"/>
                    <a:pt x="4302" y="5180"/>
                    <a:pt x="4269" y="5180"/>
                  </a:cubicBezTo>
                  <a:cubicBezTo>
                    <a:pt x="4209" y="5180"/>
                    <a:pt x="4143" y="5206"/>
                    <a:pt x="4097" y="5253"/>
                  </a:cubicBezTo>
                  <a:cubicBezTo>
                    <a:pt x="3835" y="5681"/>
                    <a:pt x="3382" y="5919"/>
                    <a:pt x="2882" y="5919"/>
                  </a:cubicBezTo>
                  <a:cubicBezTo>
                    <a:pt x="2073" y="5919"/>
                    <a:pt x="1430" y="5276"/>
                    <a:pt x="1430" y="4467"/>
                  </a:cubicBezTo>
                  <a:lnTo>
                    <a:pt x="1430" y="3181"/>
                  </a:lnTo>
                  <a:cubicBezTo>
                    <a:pt x="1882" y="3109"/>
                    <a:pt x="2216" y="2966"/>
                    <a:pt x="2430" y="2704"/>
                  </a:cubicBezTo>
                  <a:cubicBezTo>
                    <a:pt x="2859" y="3038"/>
                    <a:pt x="3406" y="3205"/>
                    <a:pt x="4145" y="3205"/>
                  </a:cubicBezTo>
                  <a:lnTo>
                    <a:pt x="4335" y="3205"/>
                  </a:lnTo>
                  <a:lnTo>
                    <a:pt x="4335" y="4467"/>
                  </a:lnTo>
                  <a:cubicBezTo>
                    <a:pt x="4335" y="4514"/>
                    <a:pt x="4335" y="4586"/>
                    <a:pt x="4335" y="4657"/>
                  </a:cubicBezTo>
                  <a:cubicBezTo>
                    <a:pt x="4311" y="4752"/>
                    <a:pt x="4383" y="4848"/>
                    <a:pt x="4502" y="4848"/>
                  </a:cubicBezTo>
                  <a:lnTo>
                    <a:pt x="4526" y="4848"/>
                  </a:lnTo>
                  <a:cubicBezTo>
                    <a:pt x="4597" y="4848"/>
                    <a:pt x="4692" y="4776"/>
                    <a:pt x="4692" y="4705"/>
                  </a:cubicBezTo>
                  <a:cubicBezTo>
                    <a:pt x="4716" y="4610"/>
                    <a:pt x="4716" y="4538"/>
                    <a:pt x="4716" y="4467"/>
                  </a:cubicBezTo>
                  <a:lnTo>
                    <a:pt x="4716" y="3038"/>
                  </a:lnTo>
                  <a:cubicBezTo>
                    <a:pt x="4811" y="2847"/>
                    <a:pt x="4883" y="2609"/>
                    <a:pt x="4907" y="2395"/>
                  </a:cubicBezTo>
                  <a:cubicBezTo>
                    <a:pt x="5026" y="1728"/>
                    <a:pt x="4621" y="1085"/>
                    <a:pt x="3978" y="871"/>
                  </a:cubicBezTo>
                  <a:lnTo>
                    <a:pt x="3978" y="585"/>
                  </a:lnTo>
                  <a:cubicBezTo>
                    <a:pt x="3978" y="371"/>
                    <a:pt x="3883" y="180"/>
                    <a:pt x="3692" y="85"/>
                  </a:cubicBezTo>
                  <a:cubicBezTo>
                    <a:pt x="3598" y="31"/>
                    <a:pt x="3490" y="0"/>
                    <a:pt x="3379" y="0"/>
                  </a:cubicBezTo>
                  <a:cubicBezTo>
                    <a:pt x="3292" y="0"/>
                    <a:pt x="3204" y="19"/>
                    <a:pt x="3120" y="61"/>
                  </a:cubicBezTo>
                  <a:lnTo>
                    <a:pt x="2882" y="204"/>
                  </a:lnTo>
                  <a:lnTo>
                    <a:pt x="2644" y="61"/>
                  </a:lnTo>
                  <a:cubicBezTo>
                    <a:pt x="2561" y="19"/>
                    <a:pt x="2473" y="0"/>
                    <a:pt x="23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16;p74">
              <a:extLst>
                <a:ext uri="{FF2B5EF4-FFF2-40B4-BE49-F238E27FC236}">
                  <a16:creationId xmlns:a16="http://schemas.microsoft.com/office/drawing/2014/main" id="{B49AF5AC-36AE-CA1A-9D35-C78904292D32}"/>
                </a:ext>
              </a:extLst>
            </p:cNvPr>
            <p:cNvSpPr/>
            <p:nvPr/>
          </p:nvSpPr>
          <p:spPr>
            <a:xfrm>
              <a:off x="5583903" y="2884349"/>
              <a:ext cx="39299" cy="16420"/>
            </a:xfrm>
            <a:custGeom>
              <a:avLst/>
              <a:gdLst/>
              <a:ahLst/>
              <a:cxnLst/>
              <a:rect l="l" t="t" r="r" b="b"/>
              <a:pathLst>
                <a:path w="1144" h="478" extrusionOk="0">
                  <a:moveTo>
                    <a:pt x="204" y="0"/>
                  </a:moveTo>
                  <a:cubicBezTo>
                    <a:pt x="140" y="0"/>
                    <a:pt x="79" y="27"/>
                    <a:pt x="48" y="73"/>
                  </a:cubicBezTo>
                  <a:cubicBezTo>
                    <a:pt x="1" y="168"/>
                    <a:pt x="25" y="287"/>
                    <a:pt x="120" y="335"/>
                  </a:cubicBezTo>
                  <a:cubicBezTo>
                    <a:pt x="263" y="430"/>
                    <a:pt x="429" y="478"/>
                    <a:pt x="572" y="478"/>
                  </a:cubicBezTo>
                  <a:cubicBezTo>
                    <a:pt x="715" y="478"/>
                    <a:pt x="882" y="430"/>
                    <a:pt x="1025" y="335"/>
                  </a:cubicBezTo>
                  <a:cubicBezTo>
                    <a:pt x="1120" y="287"/>
                    <a:pt x="1144" y="168"/>
                    <a:pt x="1096" y="73"/>
                  </a:cubicBezTo>
                  <a:cubicBezTo>
                    <a:pt x="1066" y="27"/>
                    <a:pt x="1005" y="0"/>
                    <a:pt x="940" y="0"/>
                  </a:cubicBezTo>
                  <a:cubicBezTo>
                    <a:pt x="905" y="0"/>
                    <a:pt x="868" y="8"/>
                    <a:pt x="834" y="25"/>
                  </a:cubicBezTo>
                  <a:cubicBezTo>
                    <a:pt x="751" y="85"/>
                    <a:pt x="662" y="114"/>
                    <a:pt x="572" y="114"/>
                  </a:cubicBezTo>
                  <a:cubicBezTo>
                    <a:pt x="483" y="114"/>
                    <a:pt x="394" y="85"/>
                    <a:pt x="310" y="25"/>
                  </a:cubicBezTo>
                  <a:cubicBezTo>
                    <a:pt x="277" y="8"/>
                    <a:pt x="240" y="0"/>
                    <a:pt x="2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17;p74">
              <a:extLst>
                <a:ext uri="{FF2B5EF4-FFF2-40B4-BE49-F238E27FC236}">
                  <a16:creationId xmlns:a16="http://schemas.microsoft.com/office/drawing/2014/main" id="{80CA3443-2E64-AC25-CD11-5C64A23D9D32}"/>
                </a:ext>
              </a:extLst>
            </p:cNvPr>
            <p:cNvSpPr/>
            <p:nvPr/>
          </p:nvSpPr>
          <p:spPr>
            <a:xfrm>
              <a:off x="5572464" y="2846733"/>
              <a:ext cx="12298" cy="18860"/>
            </a:xfrm>
            <a:custGeom>
              <a:avLst/>
              <a:gdLst/>
              <a:ahLst/>
              <a:cxnLst/>
              <a:rect l="l" t="t" r="r" b="b"/>
              <a:pathLst>
                <a:path w="358" h="549" extrusionOk="0">
                  <a:moveTo>
                    <a:pt x="167" y="1"/>
                  </a:moveTo>
                  <a:cubicBezTo>
                    <a:pt x="72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72" y="549"/>
                    <a:pt x="167" y="549"/>
                  </a:cubicBezTo>
                  <a:cubicBezTo>
                    <a:pt x="262" y="549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18;p74">
              <a:extLst>
                <a:ext uri="{FF2B5EF4-FFF2-40B4-BE49-F238E27FC236}">
                  <a16:creationId xmlns:a16="http://schemas.microsoft.com/office/drawing/2014/main" id="{D19F7256-23F3-FCA4-1EB4-702B08F85128}"/>
                </a:ext>
              </a:extLst>
            </p:cNvPr>
            <p:cNvSpPr/>
            <p:nvPr/>
          </p:nvSpPr>
          <p:spPr>
            <a:xfrm>
              <a:off x="5622378" y="2846733"/>
              <a:ext cx="13123" cy="18860"/>
            </a:xfrm>
            <a:custGeom>
              <a:avLst/>
              <a:gdLst/>
              <a:ahLst/>
              <a:cxnLst/>
              <a:rect l="l" t="t" r="r" b="b"/>
              <a:pathLst>
                <a:path w="382" h="549" extrusionOk="0">
                  <a:moveTo>
                    <a:pt x="191" y="1"/>
                  </a:moveTo>
                  <a:cubicBezTo>
                    <a:pt x="95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95" y="549"/>
                    <a:pt x="191" y="549"/>
                  </a:cubicBezTo>
                  <a:cubicBezTo>
                    <a:pt x="286" y="549"/>
                    <a:pt x="381" y="453"/>
                    <a:pt x="381" y="358"/>
                  </a:cubicBezTo>
                  <a:lnTo>
                    <a:pt x="381" y="191"/>
                  </a:lnTo>
                  <a:cubicBezTo>
                    <a:pt x="381" y="72"/>
                    <a:pt x="286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19;p74">
              <a:extLst>
                <a:ext uri="{FF2B5EF4-FFF2-40B4-BE49-F238E27FC236}">
                  <a16:creationId xmlns:a16="http://schemas.microsoft.com/office/drawing/2014/main" id="{C8450EDE-2560-FF87-6A04-74AAA6D5D092}"/>
                </a:ext>
              </a:extLst>
            </p:cNvPr>
            <p:cNvSpPr/>
            <p:nvPr/>
          </p:nvSpPr>
          <p:spPr>
            <a:xfrm>
              <a:off x="5627256" y="3072532"/>
              <a:ext cx="39334" cy="12298"/>
            </a:xfrm>
            <a:custGeom>
              <a:avLst/>
              <a:gdLst/>
              <a:ahLst/>
              <a:cxnLst/>
              <a:rect l="l" t="t" r="r" b="b"/>
              <a:pathLst>
                <a:path w="1145" h="35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954" y="358"/>
                  </a:lnTo>
                  <a:cubicBezTo>
                    <a:pt x="1049" y="358"/>
                    <a:pt x="1144" y="286"/>
                    <a:pt x="1144" y="191"/>
                  </a:cubicBezTo>
                  <a:cubicBezTo>
                    <a:pt x="1144" y="96"/>
                    <a:pt x="1049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3784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Improve Operational Reliability Strategically</a:t>
            </a:r>
            <a:endParaRPr sz="2800"/>
          </a:p>
        </p:txBody>
      </p:sp>
      <p:sp>
        <p:nvSpPr>
          <p:cNvPr id="953" name="Google Shape;953;p66"/>
          <p:cNvSpPr txBox="1">
            <a:spLocks noGrp="1"/>
          </p:cNvSpPr>
          <p:nvPr>
            <p:ph type="title" idx="2"/>
          </p:nvPr>
        </p:nvSpPr>
        <p:spPr>
          <a:xfrm>
            <a:off x="1665433" y="1517171"/>
            <a:ext cx="6420476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Reduce Major Delays to Prevent Dissatisfaction</a:t>
            </a:r>
            <a:endParaRPr/>
          </a:p>
        </p:txBody>
      </p:sp>
      <p:sp>
        <p:nvSpPr>
          <p:cNvPr id="954" name="Google Shape;954;p66"/>
          <p:cNvSpPr txBox="1">
            <a:spLocks noGrp="1"/>
          </p:cNvSpPr>
          <p:nvPr>
            <p:ph type="subTitle" idx="1"/>
          </p:nvPr>
        </p:nvSpPr>
        <p:spPr>
          <a:xfrm>
            <a:off x="1665434" y="1881258"/>
            <a:ext cx="6765466" cy="835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Satisfaction drops from ~47% (no delay) to ~35% (major delay). Delay reduction helps prevent negative experiences.</a:t>
            </a:r>
            <a:endParaRPr/>
          </a:p>
        </p:txBody>
      </p:sp>
      <p:sp>
        <p:nvSpPr>
          <p:cNvPr id="961" name="Google Shape;961;p66"/>
          <p:cNvSpPr txBox="1">
            <a:spLocks noGrp="1"/>
          </p:cNvSpPr>
          <p:nvPr>
            <p:ph type="title" idx="9"/>
          </p:nvPr>
        </p:nvSpPr>
        <p:spPr>
          <a:xfrm>
            <a:off x="1665435" y="2716501"/>
            <a:ext cx="5225223" cy="3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Balance Operational vs Service Investment</a:t>
            </a:r>
            <a:endParaRPr/>
          </a:p>
        </p:txBody>
      </p:sp>
      <p:sp>
        <p:nvSpPr>
          <p:cNvPr id="962" name="Google Shape;962;p66"/>
          <p:cNvSpPr txBox="1">
            <a:spLocks noGrp="1"/>
          </p:cNvSpPr>
          <p:nvPr>
            <p:ph type="subTitle" idx="13"/>
          </p:nvPr>
        </p:nvSpPr>
        <p:spPr>
          <a:xfrm>
            <a:off x="1665435" y="3081160"/>
            <a:ext cx="6765465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Delay impact exists but is smaller than service and segment factors. Prioritize service improvements while maintaining operational efficiency.</a:t>
            </a:r>
            <a:endParaRPr/>
          </a:p>
        </p:txBody>
      </p:sp>
      <p:sp>
        <p:nvSpPr>
          <p:cNvPr id="965" name="Google Shape;965;p66"/>
          <p:cNvSpPr/>
          <p:nvPr/>
        </p:nvSpPr>
        <p:spPr>
          <a:xfrm>
            <a:off x="712374" y="162870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6"/>
          <p:cNvSpPr/>
          <p:nvPr/>
        </p:nvSpPr>
        <p:spPr>
          <a:xfrm>
            <a:off x="712376" y="2829556"/>
            <a:ext cx="727500" cy="727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5" name="Google Shape;995;p66"/>
          <p:cNvGrpSpPr/>
          <p:nvPr/>
        </p:nvGrpSpPr>
        <p:grpSpPr>
          <a:xfrm>
            <a:off x="873633" y="1777958"/>
            <a:ext cx="404982" cy="428994"/>
            <a:chOff x="6761953" y="2720487"/>
            <a:chExt cx="404982" cy="428994"/>
          </a:xfrm>
        </p:grpSpPr>
        <p:sp>
          <p:nvSpPr>
            <p:cNvPr id="996" name="Google Shape;996;p66"/>
            <p:cNvSpPr/>
            <p:nvPr/>
          </p:nvSpPr>
          <p:spPr>
            <a:xfrm>
              <a:off x="7002490" y="2756901"/>
              <a:ext cx="98179" cy="76778"/>
            </a:xfrm>
            <a:custGeom>
              <a:avLst/>
              <a:gdLst/>
              <a:ahLst/>
              <a:cxnLst/>
              <a:rect l="l" t="t" r="r" b="b"/>
              <a:pathLst>
                <a:path w="2858" h="2235" extrusionOk="0">
                  <a:moveTo>
                    <a:pt x="1845" y="1"/>
                  </a:moveTo>
                  <a:cubicBezTo>
                    <a:pt x="1807" y="1"/>
                    <a:pt x="1768" y="14"/>
                    <a:pt x="1739" y="44"/>
                  </a:cubicBezTo>
                  <a:lnTo>
                    <a:pt x="834" y="758"/>
                  </a:lnTo>
                  <a:lnTo>
                    <a:pt x="238" y="639"/>
                  </a:lnTo>
                  <a:cubicBezTo>
                    <a:pt x="143" y="639"/>
                    <a:pt x="48" y="687"/>
                    <a:pt x="24" y="806"/>
                  </a:cubicBezTo>
                  <a:cubicBezTo>
                    <a:pt x="0" y="901"/>
                    <a:pt x="72" y="996"/>
                    <a:pt x="167" y="1020"/>
                  </a:cubicBezTo>
                  <a:lnTo>
                    <a:pt x="762" y="1116"/>
                  </a:lnTo>
                  <a:lnTo>
                    <a:pt x="1334" y="2140"/>
                  </a:lnTo>
                  <a:cubicBezTo>
                    <a:pt x="1358" y="2187"/>
                    <a:pt x="1429" y="2235"/>
                    <a:pt x="1477" y="2235"/>
                  </a:cubicBezTo>
                  <a:cubicBezTo>
                    <a:pt x="1524" y="2235"/>
                    <a:pt x="1548" y="2211"/>
                    <a:pt x="1572" y="2211"/>
                  </a:cubicBezTo>
                  <a:cubicBezTo>
                    <a:pt x="1667" y="2163"/>
                    <a:pt x="1691" y="2044"/>
                    <a:pt x="1643" y="1949"/>
                  </a:cubicBezTo>
                  <a:lnTo>
                    <a:pt x="1238" y="1211"/>
                  </a:lnTo>
                  <a:lnTo>
                    <a:pt x="2001" y="1378"/>
                  </a:lnTo>
                  <a:lnTo>
                    <a:pt x="2334" y="1806"/>
                  </a:lnTo>
                  <a:cubicBezTo>
                    <a:pt x="2358" y="1878"/>
                    <a:pt x="2405" y="1901"/>
                    <a:pt x="2477" y="1901"/>
                  </a:cubicBezTo>
                  <a:cubicBezTo>
                    <a:pt x="2501" y="1901"/>
                    <a:pt x="2548" y="1878"/>
                    <a:pt x="2572" y="1854"/>
                  </a:cubicBezTo>
                  <a:cubicBezTo>
                    <a:pt x="2667" y="1806"/>
                    <a:pt x="2691" y="1687"/>
                    <a:pt x="2620" y="1616"/>
                  </a:cubicBezTo>
                  <a:lnTo>
                    <a:pt x="2382" y="1258"/>
                  </a:lnTo>
                  <a:lnTo>
                    <a:pt x="2739" y="1020"/>
                  </a:lnTo>
                  <a:cubicBezTo>
                    <a:pt x="2834" y="973"/>
                    <a:pt x="2858" y="854"/>
                    <a:pt x="2786" y="758"/>
                  </a:cubicBezTo>
                  <a:cubicBezTo>
                    <a:pt x="2756" y="712"/>
                    <a:pt x="2695" y="686"/>
                    <a:pt x="2637" y="686"/>
                  </a:cubicBezTo>
                  <a:cubicBezTo>
                    <a:pt x="2605" y="686"/>
                    <a:pt x="2574" y="694"/>
                    <a:pt x="2548" y="711"/>
                  </a:cubicBezTo>
                  <a:lnTo>
                    <a:pt x="2072" y="1020"/>
                  </a:lnTo>
                  <a:lnTo>
                    <a:pt x="1310" y="854"/>
                  </a:lnTo>
                  <a:lnTo>
                    <a:pt x="1953" y="330"/>
                  </a:lnTo>
                  <a:cubicBezTo>
                    <a:pt x="2048" y="258"/>
                    <a:pt x="2048" y="139"/>
                    <a:pt x="1977" y="68"/>
                  </a:cubicBezTo>
                  <a:cubicBezTo>
                    <a:pt x="1949" y="26"/>
                    <a:pt x="1897" y="1"/>
                    <a:pt x="18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6"/>
            <p:cNvSpPr/>
            <p:nvPr/>
          </p:nvSpPr>
          <p:spPr>
            <a:xfrm>
              <a:off x="7049930" y="2850821"/>
              <a:ext cx="20474" cy="46685"/>
            </a:xfrm>
            <a:custGeom>
              <a:avLst/>
              <a:gdLst/>
              <a:ahLst/>
              <a:cxnLst/>
              <a:rect l="l" t="t" r="r" b="b"/>
              <a:pathLst>
                <a:path w="596" h="1359" extrusionOk="0">
                  <a:moveTo>
                    <a:pt x="429" y="1"/>
                  </a:moveTo>
                  <a:cubicBezTo>
                    <a:pt x="334" y="1"/>
                    <a:pt x="239" y="49"/>
                    <a:pt x="215" y="144"/>
                  </a:cubicBezTo>
                  <a:lnTo>
                    <a:pt x="24" y="1144"/>
                  </a:lnTo>
                  <a:cubicBezTo>
                    <a:pt x="0" y="1239"/>
                    <a:pt x="72" y="1335"/>
                    <a:pt x="167" y="1358"/>
                  </a:cubicBezTo>
                  <a:lnTo>
                    <a:pt x="215" y="1358"/>
                  </a:lnTo>
                  <a:cubicBezTo>
                    <a:pt x="286" y="1358"/>
                    <a:pt x="381" y="1287"/>
                    <a:pt x="381" y="1215"/>
                  </a:cubicBezTo>
                  <a:lnTo>
                    <a:pt x="572" y="215"/>
                  </a:lnTo>
                  <a:cubicBezTo>
                    <a:pt x="596" y="120"/>
                    <a:pt x="548" y="25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6"/>
            <p:cNvSpPr/>
            <p:nvPr/>
          </p:nvSpPr>
          <p:spPr>
            <a:xfrm>
              <a:off x="7072844" y="2855596"/>
              <a:ext cx="20474" cy="45998"/>
            </a:xfrm>
            <a:custGeom>
              <a:avLst/>
              <a:gdLst/>
              <a:ahLst/>
              <a:cxnLst/>
              <a:rect l="l" t="t" r="r" b="b"/>
              <a:pathLst>
                <a:path w="596" h="1339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24"/>
                  </a:lnTo>
                  <a:cubicBezTo>
                    <a:pt x="0" y="1219"/>
                    <a:pt x="72" y="1315"/>
                    <a:pt x="167" y="1338"/>
                  </a:cubicBezTo>
                  <a:lnTo>
                    <a:pt x="191" y="1338"/>
                  </a:lnTo>
                  <a:cubicBezTo>
                    <a:pt x="286" y="1338"/>
                    <a:pt x="357" y="1291"/>
                    <a:pt x="381" y="1196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6"/>
            <p:cNvSpPr/>
            <p:nvPr/>
          </p:nvSpPr>
          <p:spPr>
            <a:xfrm>
              <a:off x="7094932" y="2859684"/>
              <a:ext cx="20474" cy="46822"/>
            </a:xfrm>
            <a:custGeom>
              <a:avLst/>
              <a:gdLst/>
              <a:ahLst/>
              <a:cxnLst/>
              <a:rect l="l" t="t" r="r" b="b"/>
              <a:pathLst>
                <a:path w="596" h="1363" extrusionOk="0">
                  <a:moveTo>
                    <a:pt x="391" y="0"/>
                  </a:moveTo>
                  <a:cubicBezTo>
                    <a:pt x="310" y="0"/>
                    <a:pt x="235" y="65"/>
                    <a:pt x="214" y="148"/>
                  </a:cubicBezTo>
                  <a:lnTo>
                    <a:pt x="24" y="1148"/>
                  </a:lnTo>
                  <a:cubicBezTo>
                    <a:pt x="0" y="1243"/>
                    <a:pt x="72" y="1338"/>
                    <a:pt x="167" y="1362"/>
                  </a:cubicBezTo>
                  <a:lnTo>
                    <a:pt x="214" y="1362"/>
                  </a:lnTo>
                  <a:cubicBezTo>
                    <a:pt x="286" y="1362"/>
                    <a:pt x="381" y="1291"/>
                    <a:pt x="381" y="1219"/>
                  </a:cubicBezTo>
                  <a:lnTo>
                    <a:pt x="572" y="219"/>
                  </a:lnTo>
                  <a:cubicBezTo>
                    <a:pt x="596" y="124"/>
                    <a:pt x="524" y="29"/>
                    <a:pt x="429" y="5"/>
                  </a:cubicBezTo>
                  <a:cubicBezTo>
                    <a:pt x="416" y="2"/>
                    <a:pt x="404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6"/>
            <p:cNvSpPr/>
            <p:nvPr/>
          </p:nvSpPr>
          <p:spPr>
            <a:xfrm>
              <a:off x="7049106" y="2958653"/>
              <a:ext cx="34387" cy="117176"/>
            </a:xfrm>
            <a:custGeom>
              <a:avLst/>
              <a:gdLst/>
              <a:ahLst/>
              <a:cxnLst/>
              <a:rect l="l" t="t" r="r" b="b"/>
              <a:pathLst>
                <a:path w="1001" h="3411" extrusionOk="0">
                  <a:moveTo>
                    <a:pt x="797" y="1"/>
                  </a:moveTo>
                  <a:cubicBezTo>
                    <a:pt x="715" y="1"/>
                    <a:pt x="640" y="66"/>
                    <a:pt x="620" y="148"/>
                  </a:cubicBezTo>
                  <a:lnTo>
                    <a:pt x="24" y="3197"/>
                  </a:lnTo>
                  <a:cubicBezTo>
                    <a:pt x="1" y="3292"/>
                    <a:pt x="72" y="3387"/>
                    <a:pt x="167" y="3411"/>
                  </a:cubicBezTo>
                  <a:lnTo>
                    <a:pt x="215" y="3411"/>
                  </a:lnTo>
                  <a:cubicBezTo>
                    <a:pt x="286" y="3411"/>
                    <a:pt x="358" y="3363"/>
                    <a:pt x="382" y="3268"/>
                  </a:cubicBezTo>
                  <a:lnTo>
                    <a:pt x="977" y="220"/>
                  </a:lnTo>
                  <a:cubicBezTo>
                    <a:pt x="1001" y="124"/>
                    <a:pt x="929" y="29"/>
                    <a:pt x="834" y="5"/>
                  </a:cubicBezTo>
                  <a:cubicBezTo>
                    <a:pt x="822" y="2"/>
                    <a:pt x="809" y="1"/>
                    <a:pt x="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6"/>
            <p:cNvSpPr/>
            <p:nvPr/>
          </p:nvSpPr>
          <p:spPr>
            <a:xfrm>
              <a:off x="6818395" y="2871295"/>
              <a:ext cx="137479" cy="137479"/>
            </a:xfrm>
            <a:custGeom>
              <a:avLst/>
              <a:gdLst/>
              <a:ahLst/>
              <a:cxnLst/>
              <a:rect l="l" t="t" r="r" b="b"/>
              <a:pathLst>
                <a:path w="4002" h="4002" extrusionOk="0">
                  <a:moveTo>
                    <a:pt x="2001" y="357"/>
                  </a:moveTo>
                  <a:cubicBezTo>
                    <a:pt x="2049" y="357"/>
                    <a:pt x="2168" y="477"/>
                    <a:pt x="2287" y="762"/>
                  </a:cubicBezTo>
                  <a:cubicBezTo>
                    <a:pt x="2335" y="929"/>
                    <a:pt x="2382" y="1096"/>
                    <a:pt x="2406" y="1310"/>
                  </a:cubicBezTo>
                  <a:cubicBezTo>
                    <a:pt x="2263" y="1286"/>
                    <a:pt x="2144" y="1286"/>
                    <a:pt x="2001" y="1286"/>
                  </a:cubicBezTo>
                  <a:cubicBezTo>
                    <a:pt x="1858" y="1286"/>
                    <a:pt x="1715" y="1286"/>
                    <a:pt x="1573" y="1310"/>
                  </a:cubicBezTo>
                  <a:cubicBezTo>
                    <a:pt x="1620" y="1096"/>
                    <a:pt x="1668" y="929"/>
                    <a:pt x="1715" y="762"/>
                  </a:cubicBezTo>
                  <a:cubicBezTo>
                    <a:pt x="1811" y="477"/>
                    <a:pt x="1930" y="357"/>
                    <a:pt x="2001" y="357"/>
                  </a:cubicBezTo>
                  <a:close/>
                  <a:moveTo>
                    <a:pt x="1454" y="453"/>
                  </a:moveTo>
                  <a:lnTo>
                    <a:pt x="1454" y="453"/>
                  </a:lnTo>
                  <a:cubicBezTo>
                    <a:pt x="1334" y="691"/>
                    <a:pt x="1263" y="1000"/>
                    <a:pt x="1215" y="1334"/>
                  </a:cubicBezTo>
                  <a:cubicBezTo>
                    <a:pt x="1001" y="1358"/>
                    <a:pt x="811" y="1405"/>
                    <a:pt x="668" y="1453"/>
                  </a:cubicBezTo>
                  <a:cubicBezTo>
                    <a:pt x="572" y="1477"/>
                    <a:pt x="501" y="1501"/>
                    <a:pt x="430" y="1524"/>
                  </a:cubicBezTo>
                  <a:cubicBezTo>
                    <a:pt x="572" y="1024"/>
                    <a:pt x="953" y="619"/>
                    <a:pt x="1454" y="453"/>
                  </a:cubicBezTo>
                  <a:close/>
                  <a:moveTo>
                    <a:pt x="2549" y="453"/>
                  </a:moveTo>
                  <a:cubicBezTo>
                    <a:pt x="3025" y="619"/>
                    <a:pt x="3406" y="1024"/>
                    <a:pt x="3573" y="1524"/>
                  </a:cubicBezTo>
                  <a:cubicBezTo>
                    <a:pt x="3502" y="1501"/>
                    <a:pt x="3406" y="1477"/>
                    <a:pt x="3335" y="1453"/>
                  </a:cubicBezTo>
                  <a:cubicBezTo>
                    <a:pt x="3168" y="1405"/>
                    <a:pt x="2978" y="1358"/>
                    <a:pt x="2787" y="1334"/>
                  </a:cubicBezTo>
                  <a:cubicBezTo>
                    <a:pt x="2740" y="1000"/>
                    <a:pt x="2668" y="691"/>
                    <a:pt x="2549" y="453"/>
                  </a:cubicBezTo>
                  <a:close/>
                  <a:moveTo>
                    <a:pt x="1168" y="1715"/>
                  </a:moveTo>
                  <a:cubicBezTo>
                    <a:pt x="1168" y="1810"/>
                    <a:pt x="1168" y="1905"/>
                    <a:pt x="1168" y="2001"/>
                  </a:cubicBezTo>
                  <a:cubicBezTo>
                    <a:pt x="1168" y="2096"/>
                    <a:pt x="1168" y="2191"/>
                    <a:pt x="1168" y="2263"/>
                  </a:cubicBezTo>
                  <a:cubicBezTo>
                    <a:pt x="1049" y="2263"/>
                    <a:pt x="930" y="2239"/>
                    <a:pt x="834" y="2191"/>
                  </a:cubicBezTo>
                  <a:cubicBezTo>
                    <a:pt x="501" y="2120"/>
                    <a:pt x="382" y="2025"/>
                    <a:pt x="358" y="2001"/>
                  </a:cubicBezTo>
                  <a:cubicBezTo>
                    <a:pt x="382" y="1953"/>
                    <a:pt x="501" y="1858"/>
                    <a:pt x="834" y="1786"/>
                  </a:cubicBezTo>
                  <a:cubicBezTo>
                    <a:pt x="930" y="1763"/>
                    <a:pt x="1049" y="1739"/>
                    <a:pt x="1168" y="1715"/>
                  </a:cubicBezTo>
                  <a:close/>
                  <a:moveTo>
                    <a:pt x="2811" y="1715"/>
                  </a:moveTo>
                  <a:lnTo>
                    <a:pt x="2811" y="1715"/>
                  </a:lnTo>
                  <a:cubicBezTo>
                    <a:pt x="2930" y="1739"/>
                    <a:pt x="3049" y="1763"/>
                    <a:pt x="3168" y="1786"/>
                  </a:cubicBezTo>
                  <a:cubicBezTo>
                    <a:pt x="3478" y="1858"/>
                    <a:pt x="3597" y="1953"/>
                    <a:pt x="3621" y="2001"/>
                  </a:cubicBezTo>
                  <a:cubicBezTo>
                    <a:pt x="3597" y="2025"/>
                    <a:pt x="3478" y="2120"/>
                    <a:pt x="3168" y="2191"/>
                  </a:cubicBezTo>
                  <a:cubicBezTo>
                    <a:pt x="3049" y="2239"/>
                    <a:pt x="2930" y="2263"/>
                    <a:pt x="2811" y="2263"/>
                  </a:cubicBezTo>
                  <a:cubicBezTo>
                    <a:pt x="2811" y="2191"/>
                    <a:pt x="2835" y="2096"/>
                    <a:pt x="2835" y="2001"/>
                  </a:cubicBezTo>
                  <a:cubicBezTo>
                    <a:pt x="2835" y="1905"/>
                    <a:pt x="2811" y="1810"/>
                    <a:pt x="2811" y="1715"/>
                  </a:cubicBezTo>
                  <a:close/>
                  <a:moveTo>
                    <a:pt x="2001" y="1643"/>
                  </a:moveTo>
                  <a:cubicBezTo>
                    <a:pt x="2144" y="1643"/>
                    <a:pt x="2311" y="1667"/>
                    <a:pt x="2454" y="1667"/>
                  </a:cubicBezTo>
                  <a:cubicBezTo>
                    <a:pt x="2454" y="1786"/>
                    <a:pt x="2454" y="1882"/>
                    <a:pt x="2454" y="2001"/>
                  </a:cubicBezTo>
                  <a:cubicBezTo>
                    <a:pt x="2454" y="2096"/>
                    <a:pt x="2454" y="2215"/>
                    <a:pt x="2454" y="2310"/>
                  </a:cubicBezTo>
                  <a:cubicBezTo>
                    <a:pt x="2311" y="2334"/>
                    <a:pt x="2144" y="2334"/>
                    <a:pt x="2001" y="2334"/>
                  </a:cubicBezTo>
                  <a:cubicBezTo>
                    <a:pt x="1835" y="2334"/>
                    <a:pt x="1692" y="2334"/>
                    <a:pt x="1549" y="2310"/>
                  </a:cubicBezTo>
                  <a:cubicBezTo>
                    <a:pt x="1549" y="2215"/>
                    <a:pt x="1525" y="2096"/>
                    <a:pt x="1525" y="2001"/>
                  </a:cubicBezTo>
                  <a:cubicBezTo>
                    <a:pt x="1525" y="1882"/>
                    <a:pt x="1549" y="1786"/>
                    <a:pt x="1549" y="1667"/>
                  </a:cubicBezTo>
                  <a:cubicBezTo>
                    <a:pt x="1692" y="1667"/>
                    <a:pt x="1835" y="1643"/>
                    <a:pt x="2001" y="1643"/>
                  </a:cubicBezTo>
                  <a:close/>
                  <a:moveTo>
                    <a:pt x="430" y="2453"/>
                  </a:moveTo>
                  <a:lnTo>
                    <a:pt x="430" y="2453"/>
                  </a:lnTo>
                  <a:cubicBezTo>
                    <a:pt x="501" y="2477"/>
                    <a:pt x="572" y="2525"/>
                    <a:pt x="668" y="2548"/>
                  </a:cubicBezTo>
                  <a:cubicBezTo>
                    <a:pt x="834" y="2572"/>
                    <a:pt x="1001" y="2620"/>
                    <a:pt x="1215" y="2644"/>
                  </a:cubicBezTo>
                  <a:cubicBezTo>
                    <a:pt x="1263" y="2977"/>
                    <a:pt x="1334" y="3287"/>
                    <a:pt x="1454" y="3525"/>
                  </a:cubicBezTo>
                  <a:cubicBezTo>
                    <a:pt x="953" y="3358"/>
                    <a:pt x="572" y="2953"/>
                    <a:pt x="430" y="2453"/>
                  </a:cubicBezTo>
                  <a:close/>
                  <a:moveTo>
                    <a:pt x="3573" y="2453"/>
                  </a:moveTo>
                  <a:cubicBezTo>
                    <a:pt x="3406" y="2953"/>
                    <a:pt x="3025" y="3358"/>
                    <a:pt x="2549" y="3525"/>
                  </a:cubicBezTo>
                  <a:cubicBezTo>
                    <a:pt x="2668" y="3287"/>
                    <a:pt x="2740" y="2977"/>
                    <a:pt x="2787" y="2644"/>
                  </a:cubicBezTo>
                  <a:cubicBezTo>
                    <a:pt x="2978" y="2620"/>
                    <a:pt x="3168" y="2572"/>
                    <a:pt x="3335" y="2548"/>
                  </a:cubicBezTo>
                  <a:cubicBezTo>
                    <a:pt x="3406" y="2501"/>
                    <a:pt x="3502" y="2477"/>
                    <a:pt x="3573" y="2453"/>
                  </a:cubicBezTo>
                  <a:close/>
                  <a:moveTo>
                    <a:pt x="2406" y="2691"/>
                  </a:moveTo>
                  <a:cubicBezTo>
                    <a:pt x="2382" y="2882"/>
                    <a:pt x="2335" y="3072"/>
                    <a:pt x="2287" y="3215"/>
                  </a:cubicBezTo>
                  <a:cubicBezTo>
                    <a:pt x="2168" y="3525"/>
                    <a:pt x="2049" y="3620"/>
                    <a:pt x="2001" y="3620"/>
                  </a:cubicBezTo>
                  <a:cubicBezTo>
                    <a:pt x="1930" y="3620"/>
                    <a:pt x="1811" y="3525"/>
                    <a:pt x="1715" y="3215"/>
                  </a:cubicBezTo>
                  <a:cubicBezTo>
                    <a:pt x="1668" y="3072"/>
                    <a:pt x="1620" y="2882"/>
                    <a:pt x="1573" y="2691"/>
                  </a:cubicBezTo>
                  <a:close/>
                  <a:moveTo>
                    <a:pt x="2001" y="0"/>
                  </a:moveTo>
                  <a:cubicBezTo>
                    <a:pt x="882" y="0"/>
                    <a:pt x="1" y="881"/>
                    <a:pt x="1" y="2001"/>
                  </a:cubicBezTo>
                  <a:cubicBezTo>
                    <a:pt x="1" y="3096"/>
                    <a:pt x="882" y="4001"/>
                    <a:pt x="2001" y="4001"/>
                  </a:cubicBezTo>
                  <a:cubicBezTo>
                    <a:pt x="3097" y="4001"/>
                    <a:pt x="4002" y="3096"/>
                    <a:pt x="4002" y="2001"/>
                  </a:cubicBezTo>
                  <a:cubicBezTo>
                    <a:pt x="4002" y="881"/>
                    <a:pt x="3097" y="0"/>
                    <a:pt x="2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6"/>
            <p:cNvSpPr/>
            <p:nvPr/>
          </p:nvSpPr>
          <p:spPr>
            <a:xfrm>
              <a:off x="6820044" y="3018530"/>
              <a:ext cx="133391" cy="48403"/>
            </a:xfrm>
            <a:custGeom>
              <a:avLst/>
              <a:gdLst/>
              <a:ahLst/>
              <a:cxnLst/>
              <a:rect l="l" t="t" r="r" b="b"/>
              <a:pathLst>
                <a:path w="3883" h="1409" extrusionOk="0">
                  <a:moveTo>
                    <a:pt x="3525" y="382"/>
                  </a:moveTo>
                  <a:lnTo>
                    <a:pt x="3525" y="1049"/>
                  </a:lnTo>
                  <a:lnTo>
                    <a:pt x="382" y="1049"/>
                  </a:lnTo>
                  <a:lnTo>
                    <a:pt x="382" y="382"/>
                  </a:lnTo>
                  <a:close/>
                  <a:moveTo>
                    <a:pt x="382" y="1"/>
                  </a:moveTo>
                  <a:cubicBezTo>
                    <a:pt x="167" y="1"/>
                    <a:pt x="0" y="168"/>
                    <a:pt x="0" y="382"/>
                  </a:cubicBezTo>
                  <a:lnTo>
                    <a:pt x="0" y="1049"/>
                  </a:lnTo>
                  <a:cubicBezTo>
                    <a:pt x="0" y="1263"/>
                    <a:pt x="167" y="1406"/>
                    <a:pt x="382" y="1406"/>
                  </a:cubicBezTo>
                  <a:lnTo>
                    <a:pt x="3525" y="1406"/>
                  </a:lnTo>
                  <a:cubicBezTo>
                    <a:pt x="3537" y="1407"/>
                    <a:pt x="3549" y="1408"/>
                    <a:pt x="3561" y="1408"/>
                  </a:cubicBezTo>
                  <a:cubicBezTo>
                    <a:pt x="3736" y="1408"/>
                    <a:pt x="3882" y="1249"/>
                    <a:pt x="3882" y="1049"/>
                  </a:cubicBezTo>
                  <a:lnTo>
                    <a:pt x="3882" y="382"/>
                  </a:lnTo>
                  <a:cubicBezTo>
                    <a:pt x="3882" y="168"/>
                    <a:pt x="3716" y="1"/>
                    <a:pt x="35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6"/>
            <p:cNvSpPr/>
            <p:nvPr/>
          </p:nvSpPr>
          <p:spPr>
            <a:xfrm>
              <a:off x="6836395" y="3081532"/>
              <a:ext cx="101477" cy="12298"/>
            </a:xfrm>
            <a:custGeom>
              <a:avLst/>
              <a:gdLst/>
              <a:ahLst/>
              <a:cxnLst/>
              <a:rect l="l" t="t" r="r" b="b"/>
              <a:pathLst>
                <a:path w="2954" h="358" extrusionOk="0">
                  <a:moveTo>
                    <a:pt x="191" y="1"/>
                  </a:moveTo>
                  <a:cubicBezTo>
                    <a:pt x="96" y="1"/>
                    <a:pt x="1" y="72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2763" y="358"/>
                  </a:lnTo>
                  <a:cubicBezTo>
                    <a:pt x="2859" y="358"/>
                    <a:pt x="2954" y="286"/>
                    <a:pt x="2954" y="191"/>
                  </a:cubicBezTo>
                  <a:cubicBezTo>
                    <a:pt x="2954" y="72"/>
                    <a:pt x="2859" y="1"/>
                    <a:pt x="2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6"/>
            <p:cNvSpPr/>
            <p:nvPr/>
          </p:nvSpPr>
          <p:spPr>
            <a:xfrm>
              <a:off x="6861782" y="3108533"/>
              <a:ext cx="50739" cy="12298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91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62"/>
                    <a:pt x="71" y="358"/>
                    <a:pt x="191" y="358"/>
                  </a:cubicBezTo>
                  <a:lnTo>
                    <a:pt x="1286" y="358"/>
                  </a:lnTo>
                  <a:cubicBezTo>
                    <a:pt x="1381" y="358"/>
                    <a:pt x="1477" y="262"/>
                    <a:pt x="1477" y="167"/>
                  </a:cubicBezTo>
                  <a:cubicBezTo>
                    <a:pt x="1477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6"/>
            <p:cNvSpPr/>
            <p:nvPr/>
          </p:nvSpPr>
          <p:spPr>
            <a:xfrm>
              <a:off x="6761953" y="2720487"/>
              <a:ext cx="404982" cy="428994"/>
            </a:xfrm>
            <a:custGeom>
              <a:avLst/>
              <a:gdLst/>
              <a:ahLst/>
              <a:cxnLst/>
              <a:rect l="l" t="t" r="r" b="b"/>
              <a:pathLst>
                <a:path w="11789" h="12488" extrusionOk="0">
                  <a:moveTo>
                    <a:pt x="6818" y="0"/>
                  </a:moveTo>
                  <a:cubicBezTo>
                    <a:pt x="6588" y="0"/>
                    <a:pt x="6375" y="160"/>
                    <a:pt x="6311" y="413"/>
                  </a:cubicBezTo>
                  <a:lnTo>
                    <a:pt x="5716" y="3438"/>
                  </a:lnTo>
                  <a:lnTo>
                    <a:pt x="834" y="3438"/>
                  </a:lnTo>
                  <a:cubicBezTo>
                    <a:pt x="382" y="3438"/>
                    <a:pt x="1" y="3819"/>
                    <a:pt x="1" y="4271"/>
                  </a:cubicBezTo>
                  <a:lnTo>
                    <a:pt x="1" y="10320"/>
                  </a:lnTo>
                  <a:cubicBezTo>
                    <a:pt x="1" y="10415"/>
                    <a:pt x="72" y="10511"/>
                    <a:pt x="191" y="10511"/>
                  </a:cubicBezTo>
                  <a:cubicBezTo>
                    <a:pt x="286" y="10511"/>
                    <a:pt x="358" y="10415"/>
                    <a:pt x="358" y="10320"/>
                  </a:cubicBezTo>
                  <a:lnTo>
                    <a:pt x="358" y="4271"/>
                  </a:lnTo>
                  <a:cubicBezTo>
                    <a:pt x="358" y="4009"/>
                    <a:pt x="572" y="3819"/>
                    <a:pt x="834" y="3819"/>
                  </a:cubicBezTo>
                  <a:lnTo>
                    <a:pt x="6907" y="3819"/>
                  </a:lnTo>
                  <a:lnTo>
                    <a:pt x="6907" y="12130"/>
                  </a:lnTo>
                  <a:lnTo>
                    <a:pt x="834" y="12130"/>
                  </a:lnTo>
                  <a:cubicBezTo>
                    <a:pt x="572" y="12130"/>
                    <a:pt x="358" y="11916"/>
                    <a:pt x="358" y="11677"/>
                  </a:cubicBezTo>
                  <a:lnTo>
                    <a:pt x="358" y="11058"/>
                  </a:lnTo>
                  <a:cubicBezTo>
                    <a:pt x="358" y="10963"/>
                    <a:pt x="286" y="10868"/>
                    <a:pt x="191" y="10868"/>
                  </a:cubicBezTo>
                  <a:cubicBezTo>
                    <a:pt x="72" y="10868"/>
                    <a:pt x="1" y="10963"/>
                    <a:pt x="1" y="11058"/>
                  </a:cubicBezTo>
                  <a:lnTo>
                    <a:pt x="1" y="11677"/>
                  </a:lnTo>
                  <a:cubicBezTo>
                    <a:pt x="1" y="12130"/>
                    <a:pt x="382" y="12487"/>
                    <a:pt x="834" y="12487"/>
                  </a:cubicBezTo>
                  <a:lnTo>
                    <a:pt x="7097" y="12487"/>
                  </a:lnTo>
                  <a:cubicBezTo>
                    <a:pt x="7193" y="12487"/>
                    <a:pt x="7288" y="12416"/>
                    <a:pt x="7288" y="12320"/>
                  </a:cubicBezTo>
                  <a:lnTo>
                    <a:pt x="7288" y="12130"/>
                  </a:lnTo>
                  <a:lnTo>
                    <a:pt x="9074" y="12487"/>
                  </a:lnTo>
                  <a:lnTo>
                    <a:pt x="9169" y="12487"/>
                  </a:lnTo>
                  <a:cubicBezTo>
                    <a:pt x="9407" y="12487"/>
                    <a:pt x="9622" y="12320"/>
                    <a:pt x="9669" y="12082"/>
                  </a:cubicBezTo>
                  <a:lnTo>
                    <a:pt x="11741" y="1461"/>
                  </a:lnTo>
                  <a:cubicBezTo>
                    <a:pt x="11789" y="1199"/>
                    <a:pt x="11598" y="913"/>
                    <a:pt x="11336" y="866"/>
                  </a:cubicBezTo>
                  <a:lnTo>
                    <a:pt x="10836" y="770"/>
                  </a:lnTo>
                  <a:cubicBezTo>
                    <a:pt x="10824" y="767"/>
                    <a:pt x="10811" y="766"/>
                    <a:pt x="10799" y="766"/>
                  </a:cubicBezTo>
                  <a:cubicBezTo>
                    <a:pt x="10717" y="766"/>
                    <a:pt x="10643" y="831"/>
                    <a:pt x="10622" y="913"/>
                  </a:cubicBezTo>
                  <a:cubicBezTo>
                    <a:pt x="10598" y="1009"/>
                    <a:pt x="10670" y="1104"/>
                    <a:pt x="10765" y="1128"/>
                  </a:cubicBezTo>
                  <a:lnTo>
                    <a:pt x="11265" y="1223"/>
                  </a:lnTo>
                  <a:cubicBezTo>
                    <a:pt x="11336" y="1247"/>
                    <a:pt x="11384" y="1318"/>
                    <a:pt x="11384" y="1390"/>
                  </a:cubicBezTo>
                  <a:lnTo>
                    <a:pt x="9312" y="12011"/>
                  </a:lnTo>
                  <a:cubicBezTo>
                    <a:pt x="9293" y="12070"/>
                    <a:pt x="9241" y="12112"/>
                    <a:pt x="9183" y="12112"/>
                  </a:cubicBezTo>
                  <a:cubicBezTo>
                    <a:pt x="9171" y="12112"/>
                    <a:pt x="9158" y="12110"/>
                    <a:pt x="9145" y="12106"/>
                  </a:cubicBezTo>
                  <a:lnTo>
                    <a:pt x="7288" y="11749"/>
                  </a:lnTo>
                  <a:lnTo>
                    <a:pt x="7288" y="11130"/>
                  </a:lnTo>
                  <a:lnTo>
                    <a:pt x="7717" y="11225"/>
                  </a:lnTo>
                  <a:cubicBezTo>
                    <a:pt x="7764" y="11225"/>
                    <a:pt x="7812" y="11225"/>
                    <a:pt x="7859" y="11177"/>
                  </a:cubicBezTo>
                  <a:cubicBezTo>
                    <a:pt x="7883" y="11154"/>
                    <a:pt x="7907" y="11106"/>
                    <a:pt x="7931" y="11058"/>
                  </a:cubicBezTo>
                  <a:lnTo>
                    <a:pt x="8645" y="7319"/>
                  </a:lnTo>
                  <a:cubicBezTo>
                    <a:pt x="8669" y="7224"/>
                    <a:pt x="8622" y="7129"/>
                    <a:pt x="8502" y="7105"/>
                  </a:cubicBezTo>
                  <a:cubicBezTo>
                    <a:pt x="8490" y="7102"/>
                    <a:pt x="8477" y="7101"/>
                    <a:pt x="8465" y="7101"/>
                  </a:cubicBezTo>
                  <a:cubicBezTo>
                    <a:pt x="8383" y="7101"/>
                    <a:pt x="8309" y="7165"/>
                    <a:pt x="8288" y="7248"/>
                  </a:cubicBezTo>
                  <a:lnTo>
                    <a:pt x="7597" y="10820"/>
                  </a:lnTo>
                  <a:lnTo>
                    <a:pt x="7288" y="10749"/>
                  </a:lnTo>
                  <a:lnTo>
                    <a:pt x="7288" y="5914"/>
                  </a:lnTo>
                  <a:lnTo>
                    <a:pt x="8502" y="6153"/>
                  </a:lnTo>
                  <a:lnTo>
                    <a:pt x="8431" y="6534"/>
                  </a:lnTo>
                  <a:cubicBezTo>
                    <a:pt x="8407" y="6629"/>
                    <a:pt x="8479" y="6724"/>
                    <a:pt x="8574" y="6748"/>
                  </a:cubicBezTo>
                  <a:lnTo>
                    <a:pt x="8622" y="6748"/>
                  </a:lnTo>
                  <a:cubicBezTo>
                    <a:pt x="8693" y="6748"/>
                    <a:pt x="8788" y="6700"/>
                    <a:pt x="8788" y="6605"/>
                  </a:cubicBezTo>
                  <a:lnTo>
                    <a:pt x="8907" y="6057"/>
                  </a:lnTo>
                  <a:cubicBezTo>
                    <a:pt x="8931" y="5938"/>
                    <a:pt x="8860" y="5843"/>
                    <a:pt x="8764" y="5843"/>
                  </a:cubicBezTo>
                  <a:lnTo>
                    <a:pt x="7288" y="5557"/>
                  </a:lnTo>
                  <a:lnTo>
                    <a:pt x="7288" y="3628"/>
                  </a:lnTo>
                  <a:cubicBezTo>
                    <a:pt x="7288" y="3533"/>
                    <a:pt x="7193" y="3438"/>
                    <a:pt x="7097" y="3438"/>
                  </a:cubicBezTo>
                  <a:lnTo>
                    <a:pt x="6097" y="3438"/>
                  </a:lnTo>
                  <a:lnTo>
                    <a:pt x="6669" y="485"/>
                  </a:lnTo>
                  <a:cubicBezTo>
                    <a:pt x="6688" y="406"/>
                    <a:pt x="6741" y="360"/>
                    <a:pt x="6799" y="360"/>
                  </a:cubicBezTo>
                  <a:cubicBezTo>
                    <a:pt x="6811" y="360"/>
                    <a:pt x="6823" y="362"/>
                    <a:pt x="6835" y="366"/>
                  </a:cubicBezTo>
                  <a:lnTo>
                    <a:pt x="10050" y="985"/>
                  </a:lnTo>
                  <a:cubicBezTo>
                    <a:pt x="10063" y="988"/>
                    <a:pt x="10075" y="989"/>
                    <a:pt x="10088" y="989"/>
                  </a:cubicBezTo>
                  <a:cubicBezTo>
                    <a:pt x="10169" y="989"/>
                    <a:pt x="10244" y="925"/>
                    <a:pt x="10265" y="842"/>
                  </a:cubicBezTo>
                  <a:cubicBezTo>
                    <a:pt x="10289" y="747"/>
                    <a:pt x="10217" y="651"/>
                    <a:pt x="10122" y="628"/>
                  </a:cubicBezTo>
                  <a:lnTo>
                    <a:pt x="6907" y="8"/>
                  </a:lnTo>
                  <a:cubicBezTo>
                    <a:pt x="6877" y="3"/>
                    <a:pt x="6847" y="0"/>
                    <a:pt x="68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1514;p74">
            <a:extLst>
              <a:ext uri="{FF2B5EF4-FFF2-40B4-BE49-F238E27FC236}">
                <a16:creationId xmlns:a16="http://schemas.microsoft.com/office/drawing/2014/main" id="{63A07B2A-0BBD-117B-75AC-04E381576495}"/>
              </a:ext>
            </a:extLst>
          </p:cNvPr>
          <p:cNvGrpSpPr/>
          <p:nvPr/>
        </p:nvGrpSpPr>
        <p:grpSpPr>
          <a:xfrm>
            <a:off x="973462" y="2963652"/>
            <a:ext cx="198008" cy="429956"/>
            <a:chOff x="5504549" y="2720316"/>
            <a:chExt cx="198008" cy="429956"/>
          </a:xfrm>
          <a:solidFill>
            <a:schemeClr val="bg1"/>
          </a:solidFill>
        </p:grpSpPr>
        <p:sp>
          <p:nvSpPr>
            <p:cNvPr id="40" name="Google Shape;1515;p74">
              <a:extLst>
                <a:ext uri="{FF2B5EF4-FFF2-40B4-BE49-F238E27FC236}">
                  <a16:creationId xmlns:a16="http://schemas.microsoft.com/office/drawing/2014/main" id="{0B5886EA-1B28-6B5B-704F-4B0E9033BD91}"/>
                </a:ext>
              </a:extLst>
            </p:cNvPr>
            <p:cNvSpPr/>
            <p:nvPr/>
          </p:nvSpPr>
          <p:spPr>
            <a:xfrm>
              <a:off x="5504549" y="2720316"/>
              <a:ext cx="198008" cy="429956"/>
            </a:xfrm>
            <a:custGeom>
              <a:avLst/>
              <a:gdLst/>
              <a:ahLst/>
              <a:cxnLst/>
              <a:rect l="l" t="t" r="r" b="b"/>
              <a:pathLst>
                <a:path w="5764" h="12516" extrusionOk="0">
                  <a:moveTo>
                    <a:pt x="3417" y="367"/>
                  </a:moveTo>
                  <a:cubicBezTo>
                    <a:pt x="3458" y="367"/>
                    <a:pt x="3488" y="381"/>
                    <a:pt x="3502" y="394"/>
                  </a:cubicBezTo>
                  <a:cubicBezTo>
                    <a:pt x="3549" y="418"/>
                    <a:pt x="3621" y="466"/>
                    <a:pt x="3621" y="585"/>
                  </a:cubicBezTo>
                  <a:lnTo>
                    <a:pt x="3621" y="1014"/>
                  </a:lnTo>
                  <a:cubicBezTo>
                    <a:pt x="3621" y="1061"/>
                    <a:pt x="3573" y="1109"/>
                    <a:pt x="3525" y="1133"/>
                  </a:cubicBezTo>
                  <a:lnTo>
                    <a:pt x="2906" y="1276"/>
                  </a:lnTo>
                  <a:cubicBezTo>
                    <a:pt x="2894" y="1288"/>
                    <a:pt x="2888" y="1293"/>
                    <a:pt x="2882" y="1293"/>
                  </a:cubicBezTo>
                  <a:cubicBezTo>
                    <a:pt x="2876" y="1293"/>
                    <a:pt x="2870" y="1288"/>
                    <a:pt x="2859" y="1276"/>
                  </a:cubicBezTo>
                  <a:lnTo>
                    <a:pt x="2239" y="1133"/>
                  </a:lnTo>
                  <a:cubicBezTo>
                    <a:pt x="2192" y="1109"/>
                    <a:pt x="2144" y="1061"/>
                    <a:pt x="2144" y="1014"/>
                  </a:cubicBezTo>
                  <a:lnTo>
                    <a:pt x="2144" y="585"/>
                  </a:lnTo>
                  <a:cubicBezTo>
                    <a:pt x="2144" y="466"/>
                    <a:pt x="2216" y="418"/>
                    <a:pt x="2263" y="394"/>
                  </a:cubicBezTo>
                  <a:cubicBezTo>
                    <a:pt x="2263" y="394"/>
                    <a:pt x="2311" y="371"/>
                    <a:pt x="2358" y="371"/>
                  </a:cubicBezTo>
                  <a:cubicBezTo>
                    <a:pt x="2382" y="371"/>
                    <a:pt x="2430" y="371"/>
                    <a:pt x="2454" y="394"/>
                  </a:cubicBezTo>
                  <a:lnTo>
                    <a:pt x="2739" y="537"/>
                  </a:lnTo>
                  <a:cubicBezTo>
                    <a:pt x="2787" y="561"/>
                    <a:pt x="2835" y="573"/>
                    <a:pt x="2882" y="573"/>
                  </a:cubicBezTo>
                  <a:cubicBezTo>
                    <a:pt x="2930" y="573"/>
                    <a:pt x="2978" y="561"/>
                    <a:pt x="3025" y="537"/>
                  </a:cubicBezTo>
                  <a:lnTo>
                    <a:pt x="3311" y="394"/>
                  </a:lnTo>
                  <a:cubicBezTo>
                    <a:pt x="3351" y="374"/>
                    <a:pt x="3387" y="367"/>
                    <a:pt x="3417" y="367"/>
                  </a:cubicBezTo>
                  <a:close/>
                  <a:moveTo>
                    <a:pt x="3454" y="6205"/>
                  </a:moveTo>
                  <a:lnTo>
                    <a:pt x="3454" y="6443"/>
                  </a:lnTo>
                  <a:lnTo>
                    <a:pt x="2311" y="6443"/>
                  </a:lnTo>
                  <a:lnTo>
                    <a:pt x="2311" y="6205"/>
                  </a:lnTo>
                  <a:cubicBezTo>
                    <a:pt x="2501" y="6253"/>
                    <a:pt x="2692" y="6300"/>
                    <a:pt x="2882" y="6300"/>
                  </a:cubicBezTo>
                  <a:cubicBezTo>
                    <a:pt x="3073" y="6300"/>
                    <a:pt x="3263" y="6253"/>
                    <a:pt x="3454" y="6205"/>
                  </a:cubicBezTo>
                  <a:close/>
                  <a:moveTo>
                    <a:pt x="3811" y="6801"/>
                  </a:moveTo>
                  <a:cubicBezTo>
                    <a:pt x="3835" y="6801"/>
                    <a:pt x="3835" y="6824"/>
                    <a:pt x="3835" y="6824"/>
                  </a:cubicBezTo>
                  <a:lnTo>
                    <a:pt x="3835" y="7039"/>
                  </a:lnTo>
                  <a:cubicBezTo>
                    <a:pt x="3835" y="7062"/>
                    <a:pt x="3835" y="7062"/>
                    <a:pt x="3811" y="7062"/>
                  </a:cubicBezTo>
                  <a:lnTo>
                    <a:pt x="1954" y="7062"/>
                  </a:lnTo>
                  <a:cubicBezTo>
                    <a:pt x="1930" y="7062"/>
                    <a:pt x="1930" y="7062"/>
                    <a:pt x="1930" y="7039"/>
                  </a:cubicBezTo>
                  <a:lnTo>
                    <a:pt x="1930" y="6824"/>
                  </a:lnTo>
                  <a:cubicBezTo>
                    <a:pt x="1930" y="6824"/>
                    <a:pt x="1930" y="6801"/>
                    <a:pt x="1954" y="6801"/>
                  </a:cubicBezTo>
                  <a:close/>
                  <a:moveTo>
                    <a:pt x="3668" y="7420"/>
                  </a:moveTo>
                  <a:lnTo>
                    <a:pt x="2882" y="8920"/>
                  </a:lnTo>
                  <a:lnTo>
                    <a:pt x="2096" y="7420"/>
                  </a:lnTo>
                  <a:close/>
                  <a:moveTo>
                    <a:pt x="1811" y="7682"/>
                  </a:moveTo>
                  <a:lnTo>
                    <a:pt x="2644" y="9253"/>
                  </a:lnTo>
                  <a:lnTo>
                    <a:pt x="2263" y="9492"/>
                  </a:lnTo>
                  <a:lnTo>
                    <a:pt x="2263" y="9063"/>
                  </a:lnTo>
                  <a:cubicBezTo>
                    <a:pt x="2263" y="8991"/>
                    <a:pt x="2216" y="8944"/>
                    <a:pt x="2168" y="8896"/>
                  </a:cubicBezTo>
                  <a:cubicBezTo>
                    <a:pt x="2144" y="8884"/>
                    <a:pt x="2114" y="8878"/>
                    <a:pt x="2085" y="8878"/>
                  </a:cubicBezTo>
                  <a:cubicBezTo>
                    <a:pt x="2055" y="8878"/>
                    <a:pt x="2025" y="8884"/>
                    <a:pt x="2001" y="8896"/>
                  </a:cubicBezTo>
                  <a:lnTo>
                    <a:pt x="1573" y="9063"/>
                  </a:lnTo>
                  <a:lnTo>
                    <a:pt x="1311" y="7991"/>
                  </a:lnTo>
                  <a:lnTo>
                    <a:pt x="1715" y="7753"/>
                  </a:lnTo>
                  <a:cubicBezTo>
                    <a:pt x="1739" y="7729"/>
                    <a:pt x="1787" y="7705"/>
                    <a:pt x="1811" y="7682"/>
                  </a:cubicBezTo>
                  <a:close/>
                  <a:moveTo>
                    <a:pt x="3954" y="7682"/>
                  </a:moveTo>
                  <a:cubicBezTo>
                    <a:pt x="3978" y="7705"/>
                    <a:pt x="4025" y="7729"/>
                    <a:pt x="4049" y="7753"/>
                  </a:cubicBezTo>
                  <a:lnTo>
                    <a:pt x="4454" y="7991"/>
                  </a:lnTo>
                  <a:lnTo>
                    <a:pt x="4192" y="9063"/>
                  </a:lnTo>
                  <a:lnTo>
                    <a:pt x="3763" y="8896"/>
                  </a:lnTo>
                  <a:cubicBezTo>
                    <a:pt x="3728" y="8884"/>
                    <a:pt x="3698" y="8878"/>
                    <a:pt x="3668" y="8878"/>
                  </a:cubicBezTo>
                  <a:cubicBezTo>
                    <a:pt x="3638" y="8878"/>
                    <a:pt x="3609" y="8884"/>
                    <a:pt x="3573" y="8896"/>
                  </a:cubicBezTo>
                  <a:cubicBezTo>
                    <a:pt x="3525" y="8944"/>
                    <a:pt x="3502" y="8991"/>
                    <a:pt x="3502" y="9063"/>
                  </a:cubicBezTo>
                  <a:lnTo>
                    <a:pt x="3502" y="9492"/>
                  </a:lnTo>
                  <a:lnTo>
                    <a:pt x="3120" y="9253"/>
                  </a:lnTo>
                  <a:lnTo>
                    <a:pt x="3954" y="7682"/>
                  </a:lnTo>
                  <a:close/>
                  <a:moveTo>
                    <a:pt x="4788" y="8206"/>
                  </a:moveTo>
                  <a:cubicBezTo>
                    <a:pt x="5169" y="8468"/>
                    <a:pt x="5383" y="8896"/>
                    <a:pt x="5383" y="9372"/>
                  </a:cubicBezTo>
                  <a:lnTo>
                    <a:pt x="5383" y="11778"/>
                  </a:lnTo>
                  <a:cubicBezTo>
                    <a:pt x="5383" y="11992"/>
                    <a:pt x="5240" y="12135"/>
                    <a:pt x="5049" y="12135"/>
                  </a:cubicBezTo>
                  <a:lnTo>
                    <a:pt x="3073" y="12135"/>
                  </a:lnTo>
                  <a:lnTo>
                    <a:pt x="3073" y="9658"/>
                  </a:lnTo>
                  <a:lnTo>
                    <a:pt x="3597" y="9968"/>
                  </a:lnTo>
                  <a:cubicBezTo>
                    <a:pt x="3621" y="9980"/>
                    <a:pt x="3650" y="9986"/>
                    <a:pt x="3680" y="9986"/>
                  </a:cubicBezTo>
                  <a:cubicBezTo>
                    <a:pt x="3710" y="9986"/>
                    <a:pt x="3740" y="9980"/>
                    <a:pt x="3763" y="9968"/>
                  </a:cubicBezTo>
                  <a:cubicBezTo>
                    <a:pt x="3835" y="9944"/>
                    <a:pt x="3859" y="9873"/>
                    <a:pt x="3859" y="9801"/>
                  </a:cubicBezTo>
                  <a:lnTo>
                    <a:pt x="3859" y="9325"/>
                  </a:lnTo>
                  <a:lnTo>
                    <a:pt x="4240" y="9492"/>
                  </a:lnTo>
                  <a:cubicBezTo>
                    <a:pt x="4264" y="9503"/>
                    <a:pt x="4287" y="9509"/>
                    <a:pt x="4311" y="9509"/>
                  </a:cubicBezTo>
                  <a:cubicBezTo>
                    <a:pt x="4335" y="9509"/>
                    <a:pt x="4359" y="9503"/>
                    <a:pt x="4383" y="9492"/>
                  </a:cubicBezTo>
                  <a:cubicBezTo>
                    <a:pt x="4430" y="9468"/>
                    <a:pt x="4478" y="9420"/>
                    <a:pt x="4478" y="9372"/>
                  </a:cubicBezTo>
                  <a:lnTo>
                    <a:pt x="4788" y="8206"/>
                  </a:lnTo>
                  <a:close/>
                  <a:moveTo>
                    <a:pt x="2386" y="0"/>
                  </a:moveTo>
                  <a:cubicBezTo>
                    <a:pt x="2275" y="0"/>
                    <a:pt x="2166" y="31"/>
                    <a:pt x="2073" y="85"/>
                  </a:cubicBezTo>
                  <a:cubicBezTo>
                    <a:pt x="1882" y="180"/>
                    <a:pt x="1787" y="371"/>
                    <a:pt x="1787" y="585"/>
                  </a:cubicBezTo>
                  <a:lnTo>
                    <a:pt x="1787" y="871"/>
                  </a:lnTo>
                  <a:cubicBezTo>
                    <a:pt x="1596" y="942"/>
                    <a:pt x="1430" y="1037"/>
                    <a:pt x="1263" y="1180"/>
                  </a:cubicBezTo>
                  <a:cubicBezTo>
                    <a:pt x="1192" y="1252"/>
                    <a:pt x="1192" y="1371"/>
                    <a:pt x="1263" y="1442"/>
                  </a:cubicBezTo>
                  <a:cubicBezTo>
                    <a:pt x="1311" y="1466"/>
                    <a:pt x="1358" y="1490"/>
                    <a:pt x="1406" y="1490"/>
                  </a:cubicBezTo>
                  <a:cubicBezTo>
                    <a:pt x="1453" y="1490"/>
                    <a:pt x="1477" y="1466"/>
                    <a:pt x="1525" y="1442"/>
                  </a:cubicBezTo>
                  <a:cubicBezTo>
                    <a:pt x="1620" y="1347"/>
                    <a:pt x="1715" y="1276"/>
                    <a:pt x="1835" y="1228"/>
                  </a:cubicBezTo>
                  <a:cubicBezTo>
                    <a:pt x="1906" y="1347"/>
                    <a:pt x="2001" y="1442"/>
                    <a:pt x="2144" y="1466"/>
                  </a:cubicBezTo>
                  <a:lnTo>
                    <a:pt x="2763" y="1633"/>
                  </a:lnTo>
                  <a:cubicBezTo>
                    <a:pt x="2811" y="1657"/>
                    <a:pt x="2835" y="1657"/>
                    <a:pt x="2882" y="1657"/>
                  </a:cubicBezTo>
                  <a:cubicBezTo>
                    <a:pt x="2930" y="1657"/>
                    <a:pt x="2978" y="1657"/>
                    <a:pt x="3001" y="1633"/>
                  </a:cubicBezTo>
                  <a:lnTo>
                    <a:pt x="3621" y="1466"/>
                  </a:lnTo>
                  <a:cubicBezTo>
                    <a:pt x="3763" y="1442"/>
                    <a:pt x="3859" y="1347"/>
                    <a:pt x="3930" y="1228"/>
                  </a:cubicBezTo>
                  <a:cubicBezTo>
                    <a:pt x="4359" y="1418"/>
                    <a:pt x="4621" y="1871"/>
                    <a:pt x="4549" y="2347"/>
                  </a:cubicBezTo>
                  <a:cubicBezTo>
                    <a:pt x="4526" y="2514"/>
                    <a:pt x="4478" y="2681"/>
                    <a:pt x="4406" y="2824"/>
                  </a:cubicBezTo>
                  <a:cubicBezTo>
                    <a:pt x="4306" y="2829"/>
                    <a:pt x="4209" y="2832"/>
                    <a:pt x="4115" y="2832"/>
                  </a:cubicBezTo>
                  <a:cubicBezTo>
                    <a:pt x="3452" y="2832"/>
                    <a:pt x="2951" y="2684"/>
                    <a:pt x="2597" y="2371"/>
                  </a:cubicBezTo>
                  <a:cubicBezTo>
                    <a:pt x="2525" y="2300"/>
                    <a:pt x="2454" y="2300"/>
                    <a:pt x="2382" y="2300"/>
                  </a:cubicBezTo>
                  <a:cubicBezTo>
                    <a:pt x="2311" y="2300"/>
                    <a:pt x="2239" y="2347"/>
                    <a:pt x="2216" y="2419"/>
                  </a:cubicBezTo>
                  <a:cubicBezTo>
                    <a:pt x="2049" y="2633"/>
                    <a:pt x="1787" y="2776"/>
                    <a:pt x="1358" y="2824"/>
                  </a:cubicBezTo>
                  <a:cubicBezTo>
                    <a:pt x="1287" y="2657"/>
                    <a:pt x="1239" y="2514"/>
                    <a:pt x="1215" y="2371"/>
                  </a:cubicBezTo>
                  <a:cubicBezTo>
                    <a:pt x="1192" y="2252"/>
                    <a:pt x="1192" y="2109"/>
                    <a:pt x="1215" y="1990"/>
                  </a:cubicBezTo>
                  <a:cubicBezTo>
                    <a:pt x="1239" y="1895"/>
                    <a:pt x="1168" y="1800"/>
                    <a:pt x="1072" y="1776"/>
                  </a:cubicBezTo>
                  <a:cubicBezTo>
                    <a:pt x="1060" y="1773"/>
                    <a:pt x="1047" y="1771"/>
                    <a:pt x="1035" y="1771"/>
                  </a:cubicBezTo>
                  <a:cubicBezTo>
                    <a:pt x="953" y="1771"/>
                    <a:pt x="879" y="1836"/>
                    <a:pt x="858" y="1919"/>
                  </a:cubicBezTo>
                  <a:cubicBezTo>
                    <a:pt x="834" y="2085"/>
                    <a:pt x="834" y="2276"/>
                    <a:pt x="858" y="2443"/>
                  </a:cubicBezTo>
                  <a:cubicBezTo>
                    <a:pt x="906" y="2633"/>
                    <a:pt x="953" y="2847"/>
                    <a:pt x="1049" y="3038"/>
                  </a:cubicBezTo>
                  <a:lnTo>
                    <a:pt x="1049" y="4467"/>
                  </a:lnTo>
                  <a:cubicBezTo>
                    <a:pt x="1049" y="5134"/>
                    <a:pt x="1406" y="5705"/>
                    <a:pt x="1954" y="6038"/>
                  </a:cubicBezTo>
                  <a:lnTo>
                    <a:pt x="1954" y="6443"/>
                  </a:lnTo>
                  <a:cubicBezTo>
                    <a:pt x="1739" y="6443"/>
                    <a:pt x="1573" y="6610"/>
                    <a:pt x="1573" y="6824"/>
                  </a:cubicBezTo>
                  <a:lnTo>
                    <a:pt x="1573" y="7062"/>
                  </a:lnTo>
                  <a:cubicBezTo>
                    <a:pt x="1573" y="7158"/>
                    <a:pt x="1620" y="7253"/>
                    <a:pt x="1692" y="7324"/>
                  </a:cubicBezTo>
                  <a:cubicBezTo>
                    <a:pt x="1620" y="7372"/>
                    <a:pt x="1573" y="7420"/>
                    <a:pt x="1525" y="7444"/>
                  </a:cubicBezTo>
                  <a:cubicBezTo>
                    <a:pt x="1430" y="7515"/>
                    <a:pt x="1144" y="7682"/>
                    <a:pt x="858" y="7848"/>
                  </a:cubicBezTo>
                  <a:cubicBezTo>
                    <a:pt x="334" y="8158"/>
                    <a:pt x="1" y="8753"/>
                    <a:pt x="1" y="9372"/>
                  </a:cubicBezTo>
                  <a:lnTo>
                    <a:pt x="1" y="11778"/>
                  </a:lnTo>
                  <a:cubicBezTo>
                    <a:pt x="1" y="12183"/>
                    <a:pt x="334" y="12492"/>
                    <a:pt x="715" y="12492"/>
                  </a:cubicBezTo>
                  <a:lnTo>
                    <a:pt x="1644" y="12492"/>
                  </a:lnTo>
                  <a:cubicBezTo>
                    <a:pt x="1739" y="12492"/>
                    <a:pt x="1811" y="12421"/>
                    <a:pt x="1811" y="12325"/>
                  </a:cubicBezTo>
                  <a:cubicBezTo>
                    <a:pt x="1811" y="12230"/>
                    <a:pt x="1739" y="12135"/>
                    <a:pt x="1644" y="12135"/>
                  </a:cubicBezTo>
                  <a:lnTo>
                    <a:pt x="715" y="12135"/>
                  </a:lnTo>
                  <a:cubicBezTo>
                    <a:pt x="525" y="12135"/>
                    <a:pt x="382" y="11992"/>
                    <a:pt x="382" y="11778"/>
                  </a:cubicBezTo>
                  <a:lnTo>
                    <a:pt x="382" y="9372"/>
                  </a:lnTo>
                  <a:cubicBezTo>
                    <a:pt x="382" y="8896"/>
                    <a:pt x="596" y="8468"/>
                    <a:pt x="977" y="8206"/>
                  </a:cubicBezTo>
                  <a:lnTo>
                    <a:pt x="1263" y="9372"/>
                  </a:lnTo>
                  <a:cubicBezTo>
                    <a:pt x="1287" y="9420"/>
                    <a:pt x="1311" y="9468"/>
                    <a:pt x="1358" y="9492"/>
                  </a:cubicBezTo>
                  <a:cubicBezTo>
                    <a:pt x="1382" y="9503"/>
                    <a:pt x="1412" y="9509"/>
                    <a:pt x="1442" y="9509"/>
                  </a:cubicBezTo>
                  <a:cubicBezTo>
                    <a:pt x="1471" y="9509"/>
                    <a:pt x="1501" y="9503"/>
                    <a:pt x="1525" y="9492"/>
                  </a:cubicBezTo>
                  <a:lnTo>
                    <a:pt x="1882" y="9325"/>
                  </a:lnTo>
                  <a:lnTo>
                    <a:pt x="1882" y="9801"/>
                  </a:lnTo>
                  <a:cubicBezTo>
                    <a:pt x="1882" y="9873"/>
                    <a:pt x="1930" y="9944"/>
                    <a:pt x="1977" y="9968"/>
                  </a:cubicBezTo>
                  <a:cubicBezTo>
                    <a:pt x="2013" y="9980"/>
                    <a:pt x="2049" y="9986"/>
                    <a:pt x="2082" y="9986"/>
                  </a:cubicBezTo>
                  <a:cubicBezTo>
                    <a:pt x="2114" y="9986"/>
                    <a:pt x="2144" y="9980"/>
                    <a:pt x="2168" y="9968"/>
                  </a:cubicBezTo>
                  <a:lnTo>
                    <a:pt x="2692" y="9634"/>
                  </a:lnTo>
                  <a:lnTo>
                    <a:pt x="2692" y="12135"/>
                  </a:lnTo>
                  <a:lnTo>
                    <a:pt x="2358" y="12135"/>
                  </a:lnTo>
                  <a:cubicBezTo>
                    <a:pt x="2263" y="12135"/>
                    <a:pt x="2192" y="12230"/>
                    <a:pt x="2192" y="12325"/>
                  </a:cubicBezTo>
                  <a:cubicBezTo>
                    <a:pt x="2192" y="12421"/>
                    <a:pt x="2263" y="12516"/>
                    <a:pt x="2358" y="12516"/>
                  </a:cubicBezTo>
                  <a:lnTo>
                    <a:pt x="5049" y="12516"/>
                  </a:lnTo>
                  <a:cubicBezTo>
                    <a:pt x="5430" y="12516"/>
                    <a:pt x="5764" y="12183"/>
                    <a:pt x="5764" y="11802"/>
                  </a:cubicBezTo>
                  <a:lnTo>
                    <a:pt x="5764" y="9372"/>
                  </a:lnTo>
                  <a:cubicBezTo>
                    <a:pt x="5764" y="8753"/>
                    <a:pt x="5430" y="8158"/>
                    <a:pt x="4907" y="7848"/>
                  </a:cubicBezTo>
                  <a:cubicBezTo>
                    <a:pt x="4716" y="7729"/>
                    <a:pt x="4478" y="7586"/>
                    <a:pt x="4240" y="7444"/>
                  </a:cubicBezTo>
                  <a:cubicBezTo>
                    <a:pt x="4192" y="7420"/>
                    <a:pt x="4145" y="7372"/>
                    <a:pt x="4073" y="7324"/>
                  </a:cubicBezTo>
                  <a:cubicBezTo>
                    <a:pt x="4145" y="7253"/>
                    <a:pt x="4192" y="7158"/>
                    <a:pt x="4192" y="7062"/>
                  </a:cubicBezTo>
                  <a:lnTo>
                    <a:pt x="4192" y="7039"/>
                  </a:lnTo>
                  <a:lnTo>
                    <a:pt x="4907" y="7158"/>
                  </a:lnTo>
                  <a:lnTo>
                    <a:pt x="4930" y="7158"/>
                  </a:lnTo>
                  <a:cubicBezTo>
                    <a:pt x="5026" y="7158"/>
                    <a:pt x="5097" y="7086"/>
                    <a:pt x="5121" y="6991"/>
                  </a:cubicBezTo>
                  <a:cubicBezTo>
                    <a:pt x="5121" y="6896"/>
                    <a:pt x="5049" y="6801"/>
                    <a:pt x="4954" y="6777"/>
                  </a:cubicBezTo>
                  <a:lnTo>
                    <a:pt x="4478" y="6705"/>
                  </a:lnTo>
                  <a:lnTo>
                    <a:pt x="4502" y="6681"/>
                  </a:lnTo>
                  <a:cubicBezTo>
                    <a:pt x="4573" y="6634"/>
                    <a:pt x="4597" y="6515"/>
                    <a:pt x="4549" y="6420"/>
                  </a:cubicBezTo>
                  <a:cubicBezTo>
                    <a:pt x="4508" y="6378"/>
                    <a:pt x="4450" y="6353"/>
                    <a:pt x="4395" y="6353"/>
                  </a:cubicBezTo>
                  <a:cubicBezTo>
                    <a:pt x="4356" y="6353"/>
                    <a:pt x="4317" y="6366"/>
                    <a:pt x="4287" y="6396"/>
                  </a:cubicBezTo>
                  <a:lnTo>
                    <a:pt x="4073" y="6539"/>
                  </a:lnTo>
                  <a:cubicBezTo>
                    <a:pt x="4002" y="6491"/>
                    <a:pt x="3930" y="6443"/>
                    <a:pt x="3811" y="6443"/>
                  </a:cubicBezTo>
                  <a:lnTo>
                    <a:pt x="3811" y="6038"/>
                  </a:lnTo>
                  <a:cubicBezTo>
                    <a:pt x="4049" y="5896"/>
                    <a:pt x="4264" y="5705"/>
                    <a:pt x="4406" y="5467"/>
                  </a:cubicBezTo>
                  <a:cubicBezTo>
                    <a:pt x="4478" y="5372"/>
                    <a:pt x="4454" y="5253"/>
                    <a:pt x="4359" y="5205"/>
                  </a:cubicBezTo>
                  <a:cubicBezTo>
                    <a:pt x="4334" y="5188"/>
                    <a:pt x="4302" y="5180"/>
                    <a:pt x="4269" y="5180"/>
                  </a:cubicBezTo>
                  <a:cubicBezTo>
                    <a:pt x="4209" y="5180"/>
                    <a:pt x="4143" y="5206"/>
                    <a:pt x="4097" y="5253"/>
                  </a:cubicBezTo>
                  <a:cubicBezTo>
                    <a:pt x="3835" y="5681"/>
                    <a:pt x="3382" y="5919"/>
                    <a:pt x="2882" y="5919"/>
                  </a:cubicBezTo>
                  <a:cubicBezTo>
                    <a:pt x="2073" y="5919"/>
                    <a:pt x="1430" y="5276"/>
                    <a:pt x="1430" y="4467"/>
                  </a:cubicBezTo>
                  <a:lnTo>
                    <a:pt x="1430" y="3181"/>
                  </a:lnTo>
                  <a:cubicBezTo>
                    <a:pt x="1882" y="3109"/>
                    <a:pt x="2216" y="2966"/>
                    <a:pt x="2430" y="2704"/>
                  </a:cubicBezTo>
                  <a:cubicBezTo>
                    <a:pt x="2859" y="3038"/>
                    <a:pt x="3406" y="3205"/>
                    <a:pt x="4145" y="3205"/>
                  </a:cubicBezTo>
                  <a:lnTo>
                    <a:pt x="4335" y="3205"/>
                  </a:lnTo>
                  <a:lnTo>
                    <a:pt x="4335" y="4467"/>
                  </a:lnTo>
                  <a:cubicBezTo>
                    <a:pt x="4335" y="4514"/>
                    <a:pt x="4335" y="4586"/>
                    <a:pt x="4335" y="4657"/>
                  </a:cubicBezTo>
                  <a:cubicBezTo>
                    <a:pt x="4311" y="4752"/>
                    <a:pt x="4383" y="4848"/>
                    <a:pt x="4502" y="4848"/>
                  </a:cubicBezTo>
                  <a:lnTo>
                    <a:pt x="4526" y="4848"/>
                  </a:lnTo>
                  <a:cubicBezTo>
                    <a:pt x="4597" y="4848"/>
                    <a:pt x="4692" y="4776"/>
                    <a:pt x="4692" y="4705"/>
                  </a:cubicBezTo>
                  <a:cubicBezTo>
                    <a:pt x="4716" y="4610"/>
                    <a:pt x="4716" y="4538"/>
                    <a:pt x="4716" y="4467"/>
                  </a:cubicBezTo>
                  <a:lnTo>
                    <a:pt x="4716" y="3038"/>
                  </a:lnTo>
                  <a:cubicBezTo>
                    <a:pt x="4811" y="2847"/>
                    <a:pt x="4883" y="2609"/>
                    <a:pt x="4907" y="2395"/>
                  </a:cubicBezTo>
                  <a:cubicBezTo>
                    <a:pt x="5026" y="1728"/>
                    <a:pt x="4621" y="1085"/>
                    <a:pt x="3978" y="871"/>
                  </a:cubicBezTo>
                  <a:lnTo>
                    <a:pt x="3978" y="585"/>
                  </a:lnTo>
                  <a:cubicBezTo>
                    <a:pt x="3978" y="371"/>
                    <a:pt x="3883" y="180"/>
                    <a:pt x="3692" y="85"/>
                  </a:cubicBezTo>
                  <a:cubicBezTo>
                    <a:pt x="3598" y="31"/>
                    <a:pt x="3490" y="0"/>
                    <a:pt x="3379" y="0"/>
                  </a:cubicBezTo>
                  <a:cubicBezTo>
                    <a:pt x="3292" y="0"/>
                    <a:pt x="3204" y="19"/>
                    <a:pt x="3120" y="61"/>
                  </a:cubicBezTo>
                  <a:lnTo>
                    <a:pt x="2882" y="204"/>
                  </a:lnTo>
                  <a:lnTo>
                    <a:pt x="2644" y="61"/>
                  </a:lnTo>
                  <a:cubicBezTo>
                    <a:pt x="2561" y="19"/>
                    <a:pt x="2473" y="0"/>
                    <a:pt x="23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16;p74">
              <a:extLst>
                <a:ext uri="{FF2B5EF4-FFF2-40B4-BE49-F238E27FC236}">
                  <a16:creationId xmlns:a16="http://schemas.microsoft.com/office/drawing/2014/main" id="{B49AF5AC-36AE-CA1A-9D35-C78904292D32}"/>
                </a:ext>
              </a:extLst>
            </p:cNvPr>
            <p:cNvSpPr/>
            <p:nvPr/>
          </p:nvSpPr>
          <p:spPr>
            <a:xfrm>
              <a:off x="5583903" y="2884349"/>
              <a:ext cx="39299" cy="16420"/>
            </a:xfrm>
            <a:custGeom>
              <a:avLst/>
              <a:gdLst/>
              <a:ahLst/>
              <a:cxnLst/>
              <a:rect l="l" t="t" r="r" b="b"/>
              <a:pathLst>
                <a:path w="1144" h="478" extrusionOk="0">
                  <a:moveTo>
                    <a:pt x="204" y="0"/>
                  </a:moveTo>
                  <a:cubicBezTo>
                    <a:pt x="140" y="0"/>
                    <a:pt x="79" y="27"/>
                    <a:pt x="48" y="73"/>
                  </a:cubicBezTo>
                  <a:cubicBezTo>
                    <a:pt x="1" y="168"/>
                    <a:pt x="25" y="287"/>
                    <a:pt x="120" y="335"/>
                  </a:cubicBezTo>
                  <a:cubicBezTo>
                    <a:pt x="263" y="430"/>
                    <a:pt x="429" y="478"/>
                    <a:pt x="572" y="478"/>
                  </a:cubicBezTo>
                  <a:cubicBezTo>
                    <a:pt x="715" y="478"/>
                    <a:pt x="882" y="430"/>
                    <a:pt x="1025" y="335"/>
                  </a:cubicBezTo>
                  <a:cubicBezTo>
                    <a:pt x="1120" y="287"/>
                    <a:pt x="1144" y="168"/>
                    <a:pt x="1096" y="73"/>
                  </a:cubicBezTo>
                  <a:cubicBezTo>
                    <a:pt x="1066" y="27"/>
                    <a:pt x="1005" y="0"/>
                    <a:pt x="940" y="0"/>
                  </a:cubicBezTo>
                  <a:cubicBezTo>
                    <a:pt x="905" y="0"/>
                    <a:pt x="868" y="8"/>
                    <a:pt x="834" y="25"/>
                  </a:cubicBezTo>
                  <a:cubicBezTo>
                    <a:pt x="751" y="85"/>
                    <a:pt x="662" y="114"/>
                    <a:pt x="572" y="114"/>
                  </a:cubicBezTo>
                  <a:cubicBezTo>
                    <a:pt x="483" y="114"/>
                    <a:pt x="394" y="85"/>
                    <a:pt x="310" y="25"/>
                  </a:cubicBezTo>
                  <a:cubicBezTo>
                    <a:pt x="277" y="8"/>
                    <a:pt x="240" y="0"/>
                    <a:pt x="2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17;p74">
              <a:extLst>
                <a:ext uri="{FF2B5EF4-FFF2-40B4-BE49-F238E27FC236}">
                  <a16:creationId xmlns:a16="http://schemas.microsoft.com/office/drawing/2014/main" id="{80CA3443-2E64-AC25-CD11-5C64A23D9D32}"/>
                </a:ext>
              </a:extLst>
            </p:cNvPr>
            <p:cNvSpPr/>
            <p:nvPr/>
          </p:nvSpPr>
          <p:spPr>
            <a:xfrm>
              <a:off x="5572464" y="2846733"/>
              <a:ext cx="12298" cy="18860"/>
            </a:xfrm>
            <a:custGeom>
              <a:avLst/>
              <a:gdLst/>
              <a:ahLst/>
              <a:cxnLst/>
              <a:rect l="l" t="t" r="r" b="b"/>
              <a:pathLst>
                <a:path w="358" h="549" extrusionOk="0">
                  <a:moveTo>
                    <a:pt x="167" y="1"/>
                  </a:moveTo>
                  <a:cubicBezTo>
                    <a:pt x="72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72" y="549"/>
                    <a:pt x="167" y="549"/>
                  </a:cubicBezTo>
                  <a:cubicBezTo>
                    <a:pt x="262" y="549"/>
                    <a:pt x="358" y="453"/>
                    <a:pt x="358" y="358"/>
                  </a:cubicBezTo>
                  <a:lnTo>
                    <a:pt x="358" y="191"/>
                  </a:lnTo>
                  <a:cubicBezTo>
                    <a:pt x="358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18;p74">
              <a:extLst>
                <a:ext uri="{FF2B5EF4-FFF2-40B4-BE49-F238E27FC236}">
                  <a16:creationId xmlns:a16="http://schemas.microsoft.com/office/drawing/2014/main" id="{D19F7256-23F3-FCA4-1EB4-702B08F85128}"/>
                </a:ext>
              </a:extLst>
            </p:cNvPr>
            <p:cNvSpPr/>
            <p:nvPr/>
          </p:nvSpPr>
          <p:spPr>
            <a:xfrm>
              <a:off x="5622378" y="2846733"/>
              <a:ext cx="13123" cy="18860"/>
            </a:xfrm>
            <a:custGeom>
              <a:avLst/>
              <a:gdLst/>
              <a:ahLst/>
              <a:cxnLst/>
              <a:rect l="l" t="t" r="r" b="b"/>
              <a:pathLst>
                <a:path w="382" h="549" extrusionOk="0">
                  <a:moveTo>
                    <a:pt x="191" y="1"/>
                  </a:moveTo>
                  <a:cubicBezTo>
                    <a:pt x="95" y="1"/>
                    <a:pt x="0" y="72"/>
                    <a:pt x="0" y="191"/>
                  </a:cubicBezTo>
                  <a:lnTo>
                    <a:pt x="0" y="358"/>
                  </a:lnTo>
                  <a:cubicBezTo>
                    <a:pt x="0" y="453"/>
                    <a:pt x="95" y="549"/>
                    <a:pt x="191" y="549"/>
                  </a:cubicBezTo>
                  <a:cubicBezTo>
                    <a:pt x="286" y="549"/>
                    <a:pt x="381" y="453"/>
                    <a:pt x="381" y="358"/>
                  </a:cubicBezTo>
                  <a:lnTo>
                    <a:pt x="381" y="191"/>
                  </a:lnTo>
                  <a:cubicBezTo>
                    <a:pt x="381" y="72"/>
                    <a:pt x="286" y="1"/>
                    <a:pt x="1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19;p74">
              <a:extLst>
                <a:ext uri="{FF2B5EF4-FFF2-40B4-BE49-F238E27FC236}">
                  <a16:creationId xmlns:a16="http://schemas.microsoft.com/office/drawing/2014/main" id="{C8450EDE-2560-FF87-6A04-74AAA6D5D092}"/>
                </a:ext>
              </a:extLst>
            </p:cNvPr>
            <p:cNvSpPr/>
            <p:nvPr/>
          </p:nvSpPr>
          <p:spPr>
            <a:xfrm>
              <a:off x="5627256" y="3072532"/>
              <a:ext cx="39334" cy="12298"/>
            </a:xfrm>
            <a:custGeom>
              <a:avLst/>
              <a:gdLst/>
              <a:ahLst/>
              <a:cxnLst/>
              <a:rect l="l" t="t" r="r" b="b"/>
              <a:pathLst>
                <a:path w="1145" h="35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58"/>
                    <a:pt x="191" y="358"/>
                  </a:cubicBezTo>
                  <a:lnTo>
                    <a:pt x="954" y="358"/>
                  </a:lnTo>
                  <a:cubicBezTo>
                    <a:pt x="1049" y="358"/>
                    <a:pt x="1144" y="286"/>
                    <a:pt x="1144" y="191"/>
                  </a:cubicBezTo>
                  <a:cubicBezTo>
                    <a:pt x="1144" y="96"/>
                    <a:pt x="1049" y="1"/>
                    <a:pt x="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37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52;p73">
            <a:extLst>
              <a:ext uri="{FF2B5EF4-FFF2-40B4-BE49-F238E27FC236}">
                <a16:creationId xmlns:a16="http://schemas.microsoft.com/office/drawing/2014/main" id="{D550064A-88BF-A3D1-2001-63765B43104F}"/>
              </a:ext>
            </a:extLst>
          </p:cNvPr>
          <p:cNvSpPr txBox="1">
            <a:spLocks/>
          </p:cNvSpPr>
          <p:nvPr/>
        </p:nvSpPr>
        <p:spPr>
          <a:xfrm>
            <a:off x="937471" y="2094000"/>
            <a:ext cx="3000981" cy="9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60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3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3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3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3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3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3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3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nrope"/>
              <a:buNone/>
              <a:defRPr sz="3200" b="0" i="0" u="none" strike="noStrike" cap="none">
                <a:solidFill>
                  <a:schemeClr val="lt1"/>
                </a:solidFill>
                <a:highlight>
                  <a:schemeClr val="dk2"/>
                </a:highlight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algn="ctr"/>
            <a:r>
              <a:rPr lang="en-US"/>
              <a:t>Thanks!</a:t>
            </a:r>
          </a:p>
        </p:txBody>
      </p:sp>
      <p:pic>
        <p:nvPicPr>
          <p:cNvPr id="7" name="Google Shape;1155;p73">
            <a:extLst>
              <a:ext uri="{FF2B5EF4-FFF2-40B4-BE49-F238E27FC236}">
                <a16:creationId xmlns:a16="http://schemas.microsoft.com/office/drawing/2014/main" id="{1308886A-9EFF-2758-6930-6E97C5D33F3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338" y="687750"/>
            <a:ext cx="3600031" cy="40687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463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Airline Business Plan by Slidesgo">
  <a:themeElements>
    <a:clrScheme name="Simple Light">
      <a:dk1>
        <a:srgbClr val="302C3E"/>
      </a:dk1>
      <a:lt1>
        <a:srgbClr val="F6F6F6"/>
      </a:lt1>
      <a:dk2>
        <a:srgbClr val="157DD9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C3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895</Words>
  <Application>Microsoft Office PowerPoint</Application>
  <PresentationFormat>On-screen Show (16:9)</PresentationFormat>
  <Paragraphs>166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Staatliches</vt:lpstr>
      <vt:lpstr>Manrope</vt:lpstr>
      <vt:lpstr>Source Sans Pro</vt:lpstr>
      <vt:lpstr>Airline Business Plan by Slidesgo</vt:lpstr>
      <vt:lpstr>Passenger Satisfaction Analysis</vt:lpstr>
      <vt:lpstr>Contents</vt:lpstr>
      <vt:lpstr>Dataset Overview</vt:lpstr>
      <vt:lpstr>Dataset Acquisition</vt:lpstr>
      <vt:lpstr>Dataset Profiling</vt:lpstr>
      <vt:lpstr>Analysis Method</vt:lpstr>
      <vt:lpstr>Business Problem</vt:lpstr>
      <vt:lpstr>Business Objectives</vt:lpstr>
      <vt:lpstr>Analytical Approach</vt:lpstr>
      <vt:lpstr>Data Preparation</vt:lpstr>
      <vt:lpstr>Missing Value Handling</vt:lpstr>
      <vt:lpstr>Feature Engineering</vt:lpstr>
      <vt:lpstr>EDA</vt:lpstr>
      <vt:lpstr>Satisfaction Overview</vt:lpstr>
      <vt:lpstr>Customer Satisfaction Varies Significantly Across Segments</vt:lpstr>
      <vt:lpstr>Travel Type and Class Strongly Influence Satisfaction</vt:lpstr>
      <vt:lpstr>Service Quality Strongly Influences Customer Satisfaction</vt:lpstr>
      <vt:lpstr>Different Customer Segments Value Different Services</vt:lpstr>
      <vt:lpstr>Flight Delays Affect Satisfaction, But Are Not the Primary Driver</vt:lpstr>
      <vt:lpstr>BUSINESS INSIGHT SUMMARY</vt:lpstr>
      <vt:lpstr>Key Business Insights</vt:lpstr>
      <vt:lpstr>Key Business Insights</vt:lpstr>
      <vt:lpstr>BUSINESS RECOMMENDATION</vt:lpstr>
      <vt:lpstr>Prioritize High-Impact Segments</vt:lpstr>
      <vt:lpstr>Focus on High-Impact Service Attributes</vt:lpstr>
      <vt:lpstr>Apply Segment-Specific Service Strategy</vt:lpstr>
      <vt:lpstr>Improve Operational Reliability Strategically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Akmal Zuhdy Prasetya</cp:lastModifiedBy>
  <cp:revision>206</cp:revision>
  <dcterms:modified xsi:type="dcterms:W3CDTF">2026-05-05T10:47:02Z</dcterms:modified>
</cp:coreProperties>
</file>